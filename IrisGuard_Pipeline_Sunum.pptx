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E1B"/>
        </a:solidFill>
      </p:bgPr>
    </p:bg>
    <p:spTree>
      <p:nvGrpSpPr>
        <p:cNvPr id="1" name=""/>
        <p:cNvGrpSpPr/>
        <p:nvPr/>
      </p:nvGrpSpPr>
      <p:grpSpPr>
        <a:xfrm>
          <a:off x="0" y="0"/>
          <a:ext cx="0" cy="0"/>
          <a:chOff x="0" y="0"/>
          <a:chExt cx="0" cy="0"/>
        </a:xfrm>
      </p:grpSpPr>
      <p:sp>
        <p:nvSpPr>
          <p:cNvPr id="2" name="Shape 0"/>
          <p:cNvSpPr/>
          <p:nvPr/>
        </p:nvSpPr>
        <p:spPr>
          <a:xfrm>
            <a:off x="6583680" y="457200"/>
            <a:ext cx="2560320" cy="2560320"/>
          </a:xfrm>
          <a:prstGeom prst="ellipse">
            <a:avLst/>
          </a:prstGeom>
          <a:solidFill>
            <a:srgbClr val="0A1525"/>
          </a:solidFill>
          <a:ln w="25400">
            <a:solidFill>
              <a:srgbClr val="38BDF8"/>
            </a:solidFill>
            <a:prstDash val="solid"/>
          </a:ln>
        </p:spPr>
      </p:sp>
      <p:sp>
        <p:nvSpPr>
          <p:cNvPr id="3" name="Shape 1"/>
          <p:cNvSpPr/>
          <p:nvPr/>
        </p:nvSpPr>
        <p:spPr>
          <a:xfrm>
            <a:off x="7040880" y="914400"/>
            <a:ext cx="1645920" cy="1645920"/>
          </a:xfrm>
          <a:prstGeom prst="ellipse">
            <a:avLst/>
          </a:prstGeom>
          <a:solidFill>
            <a:srgbClr val="0F2040"/>
          </a:solidFill>
          <a:ln w="19050">
            <a:solidFill>
              <a:srgbClr val="818CF8"/>
            </a:solidFill>
            <a:prstDash val="solid"/>
          </a:ln>
        </p:spPr>
      </p:sp>
      <p:sp>
        <p:nvSpPr>
          <p:cNvPr id="4" name="Shape 2"/>
          <p:cNvSpPr/>
          <p:nvPr/>
        </p:nvSpPr>
        <p:spPr>
          <a:xfrm>
            <a:off x="7406640" y="1280160"/>
            <a:ext cx="914400" cy="914400"/>
          </a:xfrm>
          <a:prstGeom prst="ellipse">
            <a:avLst/>
          </a:prstGeom>
          <a:solidFill>
            <a:srgbClr val="030810"/>
          </a:solidFill>
          <a:ln w="12700">
            <a:solidFill>
              <a:srgbClr val="64748B"/>
            </a:solidFill>
            <a:prstDash val="solid"/>
          </a:ln>
        </p:spPr>
      </p:sp>
      <p:sp>
        <p:nvSpPr>
          <p:cNvPr id="5" name="Shape 3"/>
          <p:cNvSpPr/>
          <p:nvPr/>
        </p:nvSpPr>
        <p:spPr>
          <a:xfrm>
            <a:off x="8321040" y="1737360"/>
            <a:ext cx="365760" cy="0"/>
          </a:xfrm>
          <a:prstGeom prst="line">
            <a:avLst/>
          </a:prstGeom>
          <a:noFill/>
          <a:ln w="10160">
            <a:solidFill>
              <a:srgbClr val="1E3A5F"/>
            </a:solidFill>
            <a:prstDash val="solid"/>
          </a:ln>
        </p:spPr>
      </p:sp>
      <p:sp>
        <p:nvSpPr>
          <p:cNvPr id="6" name="Shape 4"/>
          <p:cNvSpPr/>
          <p:nvPr/>
        </p:nvSpPr>
        <p:spPr>
          <a:xfrm>
            <a:off x="8187129" y="1963662"/>
            <a:ext cx="258631" cy="181042"/>
          </a:xfrm>
          <a:prstGeom prst="line">
            <a:avLst/>
          </a:prstGeom>
          <a:noFill/>
          <a:ln w="10160">
            <a:solidFill>
              <a:srgbClr val="1E3A5F"/>
            </a:solidFill>
            <a:prstDash val="solid"/>
          </a:ln>
        </p:spPr>
      </p:sp>
      <p:sp>
        <p:nvSpPr>
          <p:cNvPr id="7" name="Shape 5"/>
          <p:cNvSpPr/>
          <p:nvPr/>
        </p:nvSpPr>
        <p:spPr>
          <a:xfrm>
            <a:off x="7863840" y="2057400"/>
            <a:ext cx="0" cy="256032"/>
          </a:xfrm>
          <a:prstGeom prst="line">
            <a:avLst/>
          </a:prstGeom>
          <a:noFill/>
          <a:ln w="10160">
            <a:solidFill>
              <a:srgbClr val="1E3A5F"/>
            </a:solidFill>
            <a:prstDash val="solid"/>
          </a:ln>
        </p:spPr>
      </p:sp>
      <p:sp>
        <p:nvSpPr>
          <p:cNvPr id="8" name="Shape 6"/>
          <p:cNvSpPr/>
          <p:nvPr/>
        </p:nvSpPr>
        <p:spPr>
          <a:xfrm>
            <a:off x="7540551" y="1963662"/>
            <a:ext cx="-258631" cy="181042"/>
          </a:xfrm>
          <a:prstGeom prst="line">
            <a:avLst/>
          </a:prstGeom>
          <a:noFill/>
          <a:ln w="10160">
            <a:solidFill>
              <a:srgbClr val="1E3A5F"/>
            </a:solidFill>
            <a:prstDash val="solid"/>
          </a:ln>
        </p:spPr>
      </p:sp>
      <p:sp>
        <p:nvSpPr>
          <p:cNvPr id="9" name="Shape 7"/>
          <p:cNvSpPr/>
          <p:nvPr/>
        </p:nvSpPr>
        <p:spPr>
          <a:xfrm>
            <a:off x="7406640" y="1737360"/>
            <a:ext cx="-365760" cy="0"/>
          </a:xfrm>
          <a:prstGeom prst="line">
            <a:avLst/>
          </a:prstGeom>
          <a:noFill/>
          <a:ln w="10160">
            <a:solidFill>
              <a:srgbClr val="1E3A5F"/>
            </a:solidFill>
            <a:prstDash val="solid"/>
          </a:ln>
        </p:spPr>
      </p:sp>
      <p:sp>
        <p:nvSpPr>
          <p:cNvPr id="10" name="Shape 8"/>
          <p:cNvSpPr/>
          <p:nvPr/>
        </p:nvSpPr>
        <p:spPr>
          <a:xfrm>
            <a:off x="7540551" y="1511058"/>
            <a:ext cx="-258631" cy="-181042"/>
          </a:xfrm>
          <a:prstGeom prst="line">
            <a:avLst/>
          </a:prstGeom>
          <a:noFill/>
          <a:ln w="10160">
            <a:solidFill>
              <a:srgbClr val="1E3A5F"/>
            </a:solidFill>
            <a:prstDash val="solid"/>
          </a:ln>
        </p:spPr>
      </p:sp>
      <p:sp>
        <p:nvSpPr>
          <p:cNvPr id="11" name="Shape 9"/>
          <p:cNvSpPr/>
          <p:nvPr/>
        </p:nvSpPr>
        <p:spPr>
          <a:xfrm>
            <a:off x="7863840" y="1417320"/>
            <a:ext cx="0" cy="-256032"/>
          </a:xfrm>
          <a:prstGeom prst="line">
            <a:avLst/>
          </a:prstGeom>
          <a:noFill/>
          <a:ln w="10160">
            <a:solidFill>
              <a:srgbClr val="1E3A5F"/>
            </a:solidFill>
            <a:prstDash val="solid"/>
          </a:ln>
        </p:spPr>
      </p:sp>
      <p:sp>
        <p:nvSpPr>
          <p:cNvPr id="12" name="Shape 10"/>
          <p:cNvSpPr/>
          <p:nvPr/>
        </p:nvSpPr>
        <p:spPr>
          <a:xfrm>
            <a:off x="8187129" y="1511058"/>
            <a:ext cx="258631" cy="-181042"/>
          </a:xfrm>
          <a:prstGeom prst="line">
            <a:avLst/>
          </a:prstGeom>
          <a:noFill/>
          <a:ln w="10160">
            <a:solidFill>
              <a:srgbClr val="1E3A5F"/>
            </a:solidFill>
            <a:prstDash val="solid"/>
          </a:ln>
        </p:spPr>
      </p:sp>
      <p:sp>
        <p:nvSpPr>
          <p:cNvPr id="13" name="Text 11"/>
          <p:cNvSpPr/>
          <p:nvPr/>
        </p:nvSpPr>
        <p:spPr>
          <a:xfrm>
            <a:off x="457200" y="640080"/>
            <a:ext cx="5852160" cy="1097280"/>
          </a:xfrm>
          <a:prstGeom prst="rect">
            <a:avLst/>
          </a:prstGeom>
          <a:noFill/>
          <a:ln/>
        </p:spPr>
        <p:txBody>
          <a:bodyPr wrap="square" rtlCol="0" anchor="ctr"/>
          <a:lstStyle/>
          <a:p>
            <a:pPr indent="0" marL="0">
              <a:buNone/>
            </a:pPr>
            <a:r>
              <a:rPr lang="en-US" sz="5600" b="1" dirty="0">
                <a:solidFill>
                  <a:srgbClr val="F1F5F9"/>
                </a:solidFill>
                <a:latin typeface="Calibri" pitchFamily="34" charset="0"/>
                <a:ea typeface="Calibri" pitchFamily="34" charset="-122"/>
                <a:cs typeface="Calibri" pitchFamily="34" charset="-120"/>
              </a:rPr>
              <a:t>IrisGuard</a:t>
            </a:r>
            <a:endParaRPr lang="en-US" sz="5600" dirty="0"/>
          </a:p>
        </p:txBody>
      </p:sp>
      <p:sp>
        <p:nvSpPr>
          <p:cNvPr id="14" name="Text 12"/>
          <p:cNvSpPr/>
          <p:nvPr/>
        </p:nvSpPr>
        <p:spPr>
          <a:xfrm>
            <a:off x="457200" y="1691640"/>
            <a:ext cx="5669280" cy="548640"/>
          </a:xfrm>
          <a:prstGeom prst="rect">
            <a:avLst/>
          </a:prstGeom>
          <a:noFill/>
          <a:ln/>
        </p:spPr>
        <p:txBody>
          <a:bodyPr wrap="square" rtlCol="0" anchor="ctr"/>
          <a:lstStyle/>
          <a:p>
            <a:pPr indent="0" marL="0">
              <a:buNone/>
            </a:pPr>
            <a:r>
              <a:rPr lang="en-US" sz="1700" dirty="0">
                <a:solidFill>
                  <a:srgbClr val="38BDF8"/>
                </a:solidFill>
                <a:latin typeface="Calibri" pitchFamily="34" charset="0"/>
                <a:ea typeface="Calibri" pitchFamily="34" charset="-122"/>
                <a:cs typeface="Calibri" pitchFamily="34" charset="-120"/>
              </a:rPr>
              <a:t>Biyometrik İris Tanıma &amp; Kimlik Doğrulama Sistemi</a:t>
            </a:r>
            <a:endParaRPr lang="en-US" sz="1700" dirty="0"/>
          </a:p>
        </p:txBody>
      </p:sp>
      <p:sp>
        <p:nvSpPr>
          <p:cNvPr id="15" name="Text 13"/>
          <p:cNvSpPr/>
          <p:nvPr/>
        </p:nvSpPr>
        <p:spPr>
          <a:xfrm>
            <a:off x="457200" y="2331720"/>
            <a:ext cx="5669280" cy="365760"/>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Biyometri ve Kimliklendirme Dersi  —  Proje Sunumu</a:t>
            </a:r>
            <a:endParaRPr lang="en-US" sz="1200" dirty="0"/>
          </a:p>
        </p:txBody>
      </p:sp>
      <p:sp>
        <p:nvSpPr>
          <p:cNvPr id="16" name="Shape 14"/>
          <p:cNvSpPr/>
          <p:nvPr/>
        </p:nvSpPr>
        <p:spPr>
          <a:xfrm>
            <a:off x="320040" y="3291840"/>
            <a:ext cx="1143000" cy="438912"/>
          </a:xfrm>
          <a:prstGeom prst="roundRect">
            <a:avLst>
              <a:gd name="adj" fmla="val 10417"/>
            </a:avLst>
          </a:prstGeom>
          <a:solidFill>
            <a:srgbClr val="0A1525"/>
          </a:solidFill>
          <a:ln w="15240">
            <a:solidFill>
              <a:srgbClr val="1E3A5F"/>
            </a:solidFill>
            <a:prstDash val="solid"/>
          </a:ln>
        </p:spPr>
      </p:sp>
      <p:sp>
        <p:nvSpPr>
          <p:cNvPr id="17" name="Text 15"/>
          <p:cNvSpPr/>
          <p:nvPr/>
        </p:nvSpPr>
        <p:spPr>
          <a:xfrm>
            <a:off x="320040" y="3291840"/>
            <a:ext cx="1143000" cy="438912"/>
          </a:xfrm>
          <a:prstGeom prst="rect">
            <a:avLst/>
          </a:prstGeom>
          <a:noFill/>
          <a:ln/>
        </p:spPr>
        <p:txBody>
          <a:bodyPr wrap="square" rtlCol="0" anchor="ctr"/>
          <a:lstStyle/>
          <a:p>
            <a:pPr algn="ctr" indent="0" marL="0">
              <a:buNone/>
            </a:pPr>
            <a:r>
              <a:rPr lang="en-US" sz="850" dirty="0">
                <a:solidFill>
                  <a:srgbClr val="F1F5F9"/>
                </a:solidFill>
                <a:latin typeface="Calibri" pitchFamily="34" charset="0"/>
                <a:ea typeface="Calibri" pitchFamily="34" charset="-122"/>
                <a:cs typeface="Calibri" pitchFamily="34" charset="-120"/>
              </a:rPr>
              <a:t>Ham Görüntü</a:t>
            </a:r>
            <a:endParaRPr lang="en-US" sz="850" dirty="0"/>
          </a:p>
        </p:txBody>
      </p:sp>
      <p:sp>
        <p:nvSpPr>
          <p:cNvPr id="18" name="Text 16"/>
          <p:cNvSpPr/>
          <p:nvPr/>
        </p:nvSpPr>
        <p:spPr>
          <a:xfrm>
            <a:off x="1463040" y="3364992"/>
            <a:ext cx="109728" cy="292608"/>
          </a:xfrm>
          <a:prstGeom prst="rect">
            <a:avLst/>
          </a:prstGeom>
          <a:noFill/>
          <a:ln/>
        </p:spPr>
        <p:txBody>
          <a:bodyPr wrap="square" rtlCol="0" anchor="ctr"/>
          <a:lstStyle/>
          <a:p>
            <a:pPr algn="ctr" indent="0" marL="0">
              <a:buNone/>
            </a:pPr>
            <a:r>
              <a:rPr lang="en-US" sz="1400" dirty="0">
                <a:solidFill>
                  <a:srgbClr val="1E3A5F"/>
                </a:solidFill>
              </a:rPr>
              <a:t>›</a:t>
            </a:r>
            <a:endParaRPr lang="en-US" sz="1400" dirty="0"/>
          </a:p>
        </p:txBody>
      </p:sp>
      <p:sp>
        <p:nvSpPr>
          <p:cNvPr id="19" name="Shape 17"/>
          <p:cNvSpPr/>
          <p:nvPr/>
        </p:nvSpPr>
        <p:spPr>
          <a:xfrm>
            <a:off x="1572768" y="3291840"/>
            <a:ext cx="1143000" cy="438912"/>
          </a:xfrm>
          <a:prstGeom prst="roundRect">
            <a:avLst>
              <a:gd name="adj" fmla="val 10417"/>
            </a:avLst>
          </a:prstGeom>
          <a:solidFill>
            <a:srgbClr val="0A1525"/>
          </a:solidFill>
          <a:ln w="15240">
            <a:solidFill>
              <a:srgbClr val="1E3A5F"/>
            </a:solidFill>
            <a:prstDash val="solid"/>
          </a:ln>
        </p:spPr>
      </p:sp>
      <p:sp>
        <p:nvSpPr>
          <p:cNvPr id="20" name="Text 18"/>
          <p:cNvSpPr/>
          <p:nvPr/>
        </p:nvSpPr>
        <p:spPr>
          <a:xfrm>
            <a:off x="1572768" y="3291840"/>
            <a:ext cx="1143000" cy="438912"/>
          </a:xfrm>
          <a:prstGeom prst="rect">
            <a:avLst/>
          </a:prstGeom>
          <a:noFill/>
          <a:ln/>
        </p:spPr>
        <p:txBody>
          <a:bodyPr wrap="square" rtlCol="0" anchor="ctr"/>
          <a:lstStyle/>
          <a:p>
            <a:pPr algn="ctr" indent="0" marL="0">
              <a:buNone/>
            </a:pPr>
            <a:r>
              <a:rPr lang="en-US" sz="850" dirty="0">
                <a:solidFill>
                  <a:srgbClr val="F1F5F9"/>
                </a:solidFill>
                <a:latin typeface="Calibri" pitchFamily="34" charset="0"/>
                <a:ea typeface="Calibri" pitchFamily="34" charset="-122"/>
                <a:cs typeface="Calibri" pitchFamily="34" charset="-120"/>
              </a:rPr>
              <a:t>Ön İşleme</a:t>
            </a:r>
            <a:endParaRPr lang="en-US" sz="850" dirty="0"/>
          </a:p>
        </p:txBody>
      </p:sp>
      <p:sp>
        <p:nvSpPr>
          <p:cNvPr id="21" name="Text 19"/>
          <p:cNvSpPr/>
          <p:nvPr/>
        </p:nvSpPr>
        <p:spPr>
          <a:xfrm>
            <a:off x="2715768" y="3364992"/>
            <a:ext cx="109728" cy="292608"/>
          </a:xfrm>
          <a:prstGeom prst="rect">
            <a:avLst/>
          </a:prstGeom>
          <a:noFill/>
          <a:ln/>
        </p:spPr>
        <p:txBody>
          <a:bodyPr wrap="square" rtlCol="0" anchor="ctr"/>
          <a:lstStyle/>
          <a:p>
            <a:pPr algn="ctr" indent="0" marL="0">
              <a:buNone/>
            </a:pPr>
            <a:r>
              <a:rPr lang="en-US" sz="1400" dirty="0">
                <a:solidFill>
                  <a:srgbClr val="1E3A5F"/>
                </a:solidFill>
              </a:rPr>
              <a:t>›</a:t>
            </a:r>
            <a:endParaRPr lang="en-US" sz="1400" dirty="0"/>
          </a:p>
        </p:txBody>
      </p:sp>
      <p:sp>
        <p:nvSpPr>
          <p:cNvPr id="22" name="Shape 20"/>
          <p:cNvSpPr/>
          <p:nvPr/>
        </p:nvSpPr>
        <p:spPr>
          <a:xfrm>
            <a:off x="2825496" y="3291840"/>
            <a:ext cx="1143000" cy="438912"/>
          </a:xfrm>
          <a:prstGeom prst="roundRect">
            <a:avLst>
              <a:gd name="adj" fmla="val 10417"/>
            </a:avLst>
          </a:prstGeom>
          <a:solidFill>
            <a:srgbClr val="0A1525"/>
          </a:solidFill>
          <a:ln w="15240">
            <a:solidFill>
              <a:srgbClr val="7F1D1D"/>
            </a:solidFill>
            <a:prstDash val="solid"/>
          </a:ln>
        </p:spPr>
      </p:sp>
      <p:sp>
        <p:nvSpPr>
          <p:cNvPr id="23" name="Text 21"/>
          <p:cNvSpPr/>
          <p:nvPr/>
        </p:nvSpPr>
        <p:spPr>
          <a:xfrm>
            <a:off x="2825496" y="3291840"/>
            <a:ext cx="1143000" cy="438912"/>
          </a:xfrm>
          <a:prstGeom prst="rect">
            <a:avLst/>
          </a:prstGeom>
          <a:noFill/>
          <a:ln/>
        </p:spPr>
        <p:txBody>
          <a:bodyPr wrap="square" rtlCol="0" anchor="ctr"/>
          <a:lstStyle/>
          <a:p>
            <a:pPr algn="ctr" indent="0" marL="0">
              <a:buNone/>
            </a:pPr>
            <a:r>
              <a:rPr lang="en-US" sz="850" dirty="0">
                <a:solidFill>
                  <a:srgbClr val="F1F5F9"/>
                </a:solidFill>
                <a:latin typeface="Calibri" pitchFamily="34" charset="0"/>
                <a:ea typeface="Calibri" pitchFamily="34" charset="-122"/>
                <a:cs typeface="Calibri" pitchFamily="34" charset="-120"/>
              </a:rPr>
              <a:t>Pupil Tespiti</a:t>
            </a:r>
            <a:endParaRPr lang="en-US" sz="850" dirty="0"/>
          </a:p>
        </p:txBody>
      </p:sp>
      <p:sp>
        <p:nvSpPr>
          <p:cNvPr id="24" name="Text 22"/>
          <p:cNvSpPr/>
          <p:nvPr/>
        </p:nvSpPr>
        <p:spPr>
          <a:xfrm>
            <a:off x="3968496" y="3364992"/>
            <a:ext cx="109728" cy="292608"/>
          </a:xfrm>
          <a:prstGeom prst="rect">
            <a:avLst/>
          </a:prstGeom>
          <a:noFill/>
          <a:ln/>
        </p:spPr>
        <p:txBody>
          <a:bodyPr wrap="square" rtlCol="0" anchor="ctr"/>
          <a:lstStyle/>
          <a:p>
            <a:pPr algn="ctr" indent="0" marL="0">
              <a:buNone/>
            </a:pPr>
            <a:r>
              <a:rPr lang="en-US" sz="1400" dirty="0">
                <a:solidFill>
                  <a:srgbClr val="1E3A5F"/>
                </a:solidFill>
              </a:rPr>
              <a:t>›</a:t>
            </a:r>
            <a:endParaRPr lang="en-US" sz="1400" dirty="0"/>
          </a:p>
        </p:txBody>
      </p:sp>
      <p:sp>
        <p:nvSpPr>
          <p:cNvPr id="25" name="Shape 23"/>
          <p:cNvSpPr/>
          <p:nvPr/>
        </p:nvSpPr>
        <p:spPr>
          <a:xfrm>
            <a:off x="4078224" y="3291840"/>
            <a:ext cx="1143000" cy="438912"/>
          </a:xfrm>
          <a:prstGeom prst="roundRect">
            <a:avLst>
              <a:gd name="adj" fmla="val 10417"/>
            </a:avLst>
          </a:prstGeom>
          <a:solidFill>
            <a:srgbClr val="0A1525"/>
          </a:solidFill>
          <a:ln w="15240">
            <a:solidFill>
              <a:srgbClr val="166534"/>
            </a:solidFill>
            <a:prstDash val="solid"/>
          </a:ln>
        </p:spPr>
      </p:sp>
      <p:sp>
        <p:nvSpPr>
          <p:cNvPr id="26" name="Text 24"/>
          <p:cNvSpPr/>
          <p:nvPr/>
        </p:nvSpPr>
        <p:spPr>
          <a:xfrm>
            <a:off x="4078224" y="3291840"/>
            <a:ext cx="1143000" cy="438912"/>
          </a:xfrm>
          <a:prstGeom prst="rect">
            <a:avLst/>
          </a:prstGeom>
          <a:noFill/>
          <a:ln/>
        </p:spPr>
        <p:txBody>
          <a:bodyPr wrap="square" rtlCol="0" anchor="ctr"/>
          <a:lstStyle/>
          <a:p>
            <a:pPr algn="ctr" indent="0" marL="0">
              <a:buNone/>
            </a:pPr>
            <a:r>
              <a:rPr lang="en-US" sz="850" dirty="0">
                <a:solidFill>
                  <a:srgbClr val="F1F5F9"/>
                </a:solidFill>
                <a:latin typeface="Calibri" pitchFamily="34" charset="0"/>
                <a:ea typeface="Calibri" pitchFamily="34" charset="-122"/>
                <a:cs typeface="Calibri" pitchFamily="34" charset="-120"/>
              </a:rPr>
              <a:t>İris Segm.</a:t>
            </a:r>
            <a:endParaRPr lang="en-US" sz="850" dirty="0"/>
          </a:p>
        </p:txBody>
      </p:sp>
      <p:sp>
        <p:nvSpPr>
          <p:cNvPr id="27" name="Text 25"/>
          <p:cNvSpPr/>
          <p:nvPr/>
        </p:nvSpPr>
        <p:spPr>
          <a:xfrm>
            <a:off x="5221224" y="3364992"/>
            <a:ext cx="109728" cy="292608"/>
          </a:xfrm>
          <a:prstGeom prst="rect">
            <a:avLst/>
          </a:prstGeom>
          <a:noFill/>
          <a:ln/>
        </p:spPr>
        <p:txBody>
          <a:bodyPr wrap="square" rtlCol="0" anchor="ctr"/>
          <a:lstStyle/>
          <a:p>
            <a:pPr algn="ctr" indent="0" marL="0">
              <a:buNone/>
            </a:pPr>
            <a:r>
              <a:rPr lang="en-US" sz="1400" dirty="0">
                <a:solidFill>
                  <a:srgbClr val="1E3A5F"/>
                </a:solidFill>
              </a:rPr>
              <a:t>›</a:t>
            </a:r>
            <a:endParaRPr lang="en-US" sz="1400" dirty="0"/>
          </a:p>
        </p:txBody>
      </p:sp>
      <p:sp>
        <p:nvSpPr>
          <p:cNvPr id="28" name="Shape 26"/>
          <p:cNvSpPr/>
          <p:nvPr/>
        </p:nvSpPr>
        <p:spPr>
          <a:xfrm>
            <a:off x="5330952" y="3291840"/>
            <a:ext cx="1143000" cy="438912"/>
          </a:xfrm>
          <a:prstGeom prst="roundRect">
            <a:avLst>
              <a:gd name="adj" fmla="val 10417"/>
            </a:avLst>
          </a:prstGeom>
          <a:solidFill>
            <a:srgbClr val="0A1525"/>
          </a:solidFill>
          <a:ln w="15240">
            <a:solidFill>
              <a:srgbClr val="1D4ED8"/>
            </a:solidFill>
            <a:prstDash val="solid"/>
          </a:ln>
        </p:spPr>
      </p:sp>
      <p:sp>
        <p:nvSpPr>
          <p:cNvPr id="29" name="Text 27"/>
          <p:cNvSpPr/>
          <p:nvPr/>
        </p:nvSpPr>
        <p:spPr>
          <a:xfrm>
            <a:off x="5330952" y="3291840"/>
            <a:ext cx="1143000" cy="438912"/>
          </a:xfrm>
          <a:prstGeom prst="rect">
            <a:avLst/>
          </a:prstGeom>
          <a:noFill/>
          <a:ln/>
        </p:spPr>
        <p:txBody>
          <a:bodyPr wrap="square" rtlCol="0" anchor="ctr"/>
          <a:lstStyle/>
          <a:p>
            <a:pPr algn="ctr" indent="0" marL="0">
              <a:buNone/>
            </a:pPr>
            <a:r>
              <a:rPr lang="en-US" sz="850" dirty="0">
                <a:solidFill>
                  <a:srgbClr val="F1F5F9"/>
                </a:solidFill>
                <a:latin typeface="Calibri" pitchFamily="34" charset="0"/>
                <a:ea typeface="Calibri" pitchFamily="34" charset="-122"/>
                <a:cs typeface="Calibri" pitchFamily="34" charset="-120"/>
              </a:rPr>
              <a:t>Polar Norm.</a:t>
            </a:r>
            <a:endParaRPr lang="en-US" sz="850" dirty="0"/>
          </a:p>
        </p:txBody>
      </p:sp>
      <p:sp>
        <p:nvSpPr>
          <p:cNvPr id="30" name="Text 28"/>
          <p:cNvSpPr/>
          <p:nvPr/>
        </p:nvSpPr>
        <p:spPr>
          <a:xfrm>
            <a:off x="6473952" y="3364992"/>
            <a:ext cx="109728" cy="292608"/>
          </a:xfrm>
          <a:prstGeom prst="rect">
            <a:avLst/>
          </a:prstGeom>
          <a:noFill/>
          <a:ln/>
        </p:spPr>
        <p:txBody>
          <a:bodyPr wrap="square" rtlCol="0" anchor="ctr"/>
          <a:lstStyle/>
          <a:p>
            <a:pPr algn="ctr" indent="0" marL="0">
              <a:buNone/>
            </a:pPr>
            <a:r>
              <a:rPr lang="en-US" sz="1400" dirty="0">
                <a:solidFill>
                  <a:srgbClr val="1E3A5F"/>
                </a:solidFill>
              </a:rPr>
              <a:t>›</a:t>
            </a:r>
            <a:endParaRPr lang="en-US" sz="1400" dirty="0"/>
          </a:p>
        </p:txBody>
      </p:sp>
      <p:sp>
        <p:nvSpPr>
          <p:cNvPr id="31" name="Shape 29"/>
          <p:cNvSpPr/>
          <p:nvPr/>
        </p:nvSpPr>
        <p:spPr>
          <a:xfrm>
            <a:off x="6583680" y="3291840"/>
            <a:ext cx="1143000" cy="438912"/>
          </a:xfrm>
          <a:prstGeom prst="roundRect">
            <a:avLst>
              <a:gd name="adj" fmla="val 10417"/>
            </a:avLst>
          </a:prstGeom>
          <a:solidFill>
            <a:srgbClr val="0A1525"/>
          </a:solidFill>
          <a:ln w="15240">
            <a:solidFill>
              <a:srgbClr val="6D28D9"/>
            </a:solidFill>
            <a:prstDash val="solid"/>
          </a:ln>
        </p:spPr>
      </p:sp>
      <p:sp>
        <p:nvSpPr>
          <p:cNvPr id="32" name="Text 30"/>
          <p:cNvSpPr/>
          <p:nvPr/>
        </p:nvSpPr>
        <p:spPr>
          <a:xfrm>
            <a:off x="6583680" y="3291840"/>
            <a:ext cx="1143000" cy="438912"/>
          </a:xfrm>
          <a:prstGeom prst="rect">
            <a:avLst/>
          </a:prstGeom>
          <a:noFill/>
          <a:ln/>
        </p:spPr>
        <p:txBody>
          <a:bodyPr wrap="square" rtlCol="0" anchor="ctr"/>
          <a:lstStyle/>
          <a:p>
            <a:pPr algn="ctr" indent="0" marL="0">
              <a:buNone/>
            </a:pPr>
            <a:r>
              <a:rPr lang="en-US" sz="850" dirty="0">
                <a:solidFill>
                  <a:srgbClr val="F1F5F9"/>
                </a:solidFill>
                <a:latin typeface="Calibri" pitchFamily="34" charset="0"/>
                <a:ea typeface="Calibri" pitchFamily="34" charset="-122"/>
                <a:cs typeface="Calibri" pitchFamily="34" charset="-120"/>
              </a:rPr>
              <a:t>ResNet18</a:t>
            </a:r>
            <a:endParaRPr lang="en-US" sz="850" dirty="0"/>
          </a:p>
        </p:txBody>
      </p:sp>
      <p:sp>
        <p:nvSpPr>
          <p:cNvPr id="33" name="Text 31"/>
          <p:cNvSpPr/>
          <p:nvPr/>
        </p:nvSpPr>
        <p:spPr>
          <a:xfrm>
            <a:off x="7726680" y="3364992"/>
            <a:ext cx="109728" cy="292608"/>
          </a:xfrm>
          <a:prstGeom prst="rect">
            <a:avLst/>
          </a:prstGeom>
          <a:noFill/>
          <a:ln/>
        </p:spPr>
        <p:txBody>
          <a:bodyPr wrap="square" rtlCol="0" anchor="ctr"/>
          <a:lstStyle/>
          <a:p>
            <a:pPr algn="ctr" indent="0" marL="0">
              <a:buNone/>
            </a:pPr>
            <a:r>
              <a:rPr lang="en-US" sz="1400" dirty="0">
                <a:solidFill>
                  <a:srgbClr val="1E3A5F"/>
                </a:solidFill>
              </a:rPr>
              <a:t>›</a:t>
            </a:r>
            <a:endParaRPr lang="en-US" sz="1400" dirty="0"/>
          </a:p>
        </p:txBody>
      </p:sp>
      <p:sp>
        <p:nvSpPr>
          <p:cNvPr id="34" name="Shape 32"/>
          <p:cNvSpPr/>
          <p:nvPr/>
        </p:nvSpPr>
        <p:spPr>
          <a:xfrm>
            <a:off x="7836408" y="3291840"/>
            <a:ext cx="1143000" cy="438912"/>
          </a:xfrm>
          <a:prstGeom prst="roundRect">
            <a:avLst>
              <a:gd name="adj" fmla="val 10417"/>
            </a:avLst>
          </a:prstGeom>
          <a:solidFill>
            <a:srgbClr val="0A1525"/>
          </a:solidFill>
          <a:ln w="15240">
            <a:solidFill>
              <a:srgbClr val="065F46"/>
            </a:solidFill>
            <a:prstDash val="solid"/>
          </a:ln>
        </p:spPr>
      </p:sp>
      <p:sp>
        <p:nvSpPr>
          <p:cNvPr id="35" name="Text 33"/>
          <p:cNvSpPr/>
          <p:nvPr/>
        </p:nvSpPr>
        <p:spPr>
          <a:xfrm>
            <a:off x="7836408" y="3291840"/>
            <a:ext cx="1143000" cy="438912"/>
          </a:xfrm>
          <a:prstGeom prst="rect">
            <a:avLst/>
          </a:prstGeom>
          <a:noFill/>
          <a:ln/>
        </p:spPr>
        <p:txBody>
          <a:bodyPr wrap="square" rtlCol="0" anchor="ctr"/>
          <a:lstStyle/>
          <a:p>
            <a:pPr algn="ctr" indent="0" marL="0">
              <a:buNone/>
            </a:pPr>
            <a:r>
              <a:rPr lang="en-US" sz="850" dirty="0">
                <a:solidFill>
                  <a:srgbClr val="F1F5F9"/>
                </a:solidFill>
                <a:latin typeface="Calibri" pitchFamily="34" charset="0"/>
                <a:ea typeface="Calibri" pitchFamily="34" charset="-122"/>
                <a:cs typeface="Calibri" pitchFamily="34" charset="-120"/>
              </a:rPr>
              <a:t>Karar</a:t>
            </a:r>
            <a:endParaRPr lang="en-US" sz="850" dirty="0"/>
          </a:p>
        </p:txBody>
      </p:sp>
      <p:sp>
        <p:nvSpPr>
          <p:cNvPr id="36" name="Text 34"/>
          <p:cNvSpPr/>
          <p:nvPr/>
        </p:nvSpPr>
        <p:spPr>
          <a:xfrm>
            <a:off x="365760" y="3017520"/>
            <a:ext cx="8229600" cy="256032"/>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8 Adımlı Pipeline</a:t>
            </a:r>
            <a:endParaRPr lang="en-US" sz="1000" dirty="0"/>
          </a:p>
        </p:txBody>
      </p:sp>
      <p:sp>
        <p:nvSpPr>
          <p:cNvPr id="37" name="Shape 35"/>
          <p:cNvSpPr/>
          <p:nvPr/>
        </p:nvSpPr>
        <p:spPr>
          <a:xfrm>
            <a:off x="274320" y="4023360"/>
            <a:ext cx="1335024" cy="365760"/>
          </a:xfrm>
          <a:prstGeom prst="roundRect">
            <a:avLst>
              <a:gd name="adj" fmla="val 17500"/>
            </a:avLst>
          </a:prstGeom>
          <a:solidFill>
            <a:srgbClr val="0F2040"/>
          </a:solidFill>
          <a:ln w="10160">
            <a:solidFill>
              <a:srgbClr val="1E3A5F"/>
            </a:solidFill>
            <a:prstDash val="solid"/>
          </a:ln>
        </p:spPr>
      </p:sp>
      <p:sp>
        <p:nvSpPr>
          <p:cNvPr id="38" name="Text 36"/>
          <p:cNvSpPr/>
          <p:nvPr/>
        </p:nvSpPr>
        <p:spPr>
          <a:xfrm>
            <a:off x="274320" y="4023360"/>
            <a:ext cx="1335024" cy="365760"/>
          </a:xfrm>
          <a:prstGeom prst="rect">
            <a:avLst/>
          </a:prstGeom>
          <a:noFill/>
          <a:ln/>
        </p:spPr>
        <p:txBody>
          <a:bodyPr wrap="square" rtlCol="0" anchor="ctr"/>
          <a:lstStyle/>
          <a:p>
            <a:pPr algn="ctr" indent="0" marL="0">
              <a:buNone/>
            </a:pPr>
            <a:r>
              <a:rPr lang="en-US" sz="900" b="1" dirty="0">
                <a:solidFill>
                  <a:srgbClr val="818CF8"/>
                </a:solidFill>
                <a:latin typeface="Calibri" pitchFamily="34" charset="0"/>
                <a:ea typeface="Calibri" pitchFamily="34" charset="-122"/>
                <a:cs typeface="Calibri" pitchFamily="34" charset="-120"/>
              </a:rPr>
              <a:t>Python 3</a:t>
            </a:r>
            <a:endParaRPr lang="en-US" sz="900" dirty="0"/>
          </a:p>
        </p:txBody>
      </p:sp>
      <p:sp>
        <p:nvSpPr>
          <p:cNvPr id="39" name="Shape 37"/>
          <p:cNvSpPr/>
          <p:nvPr/>
        </p:nvSpPr>
        <p:spPr>
          <a:xfrm>
            <a:off x="1719072" y="4023360"/>
            <a:ext cx="1335024" cy="365760"/>
          </a:xfrm>
          <a:prstGeom prst="roundRect">
            <a:avLst>
              <a:gd name="adj" fmla="val 17500"/>
            </a:avLst>
          </a:prstGeom>
          <a:solidFill>
            <a:srgbClr val="0F2040"/>
          </a:solidFill>
          <a:ln w="10160">
            <a:solidFill>
              <a:srgbClr val="1E3A5F"/>
            </a:solidFill>
            <a:prstDash val="solid"/>
          </a:ln>
        </p:spPr>
      </p:sp>
      <p:sp>
        <p:nvSpPr>
          <p:cNvPr id="40" name="Text 38"/>
          <p:cNvSpPr/>
          <p:nvPr/>
        </p:nvSpPr>
        <p:spPr>
          <a:xfrm>
            <a:off x="1719072" y="4023360"/>
            <a:ext cx="1335024" cy="365760"/>
          </a:xfrm>
          <a:prstGeom prst="rect">
            <a:avLst/>
          </a:prstGeom>
          <a:noFill/>
          <a:ln/>
        </p:spPr>
        <p:txBody>
          <a:bodyPr wrap="square" rtlCol="0" anchor="ctr"/>
          <a:lstStyle/>
          <a:p>
            <a:pPr algn="ctr" indent="0" marL="0">
              <a:buNone/>
            </a:pPr>
            <a:r>
              <a:rPr lang="en-US" sz="900" b="1" dirty="0">
                <a:solidFill>
                  <a:srgbClr val="818CF8"/>
                </a:solidFill>
                <a:latin typeface="Calibri" pitchFamily="34" charset="0"/>
                <a:ea typeface="Calibri" pitchFamily="34" charset="-122"/>
                <a:cs typeface="Calibri" pitchFamily="34" charset="-120"/>
              </a:rPr>
              <a:t>OpenCV</a:t>
            </a:r>
            <a:endParaRPr lang="en-US" sz="900" dirty="0"/>
          </a:p>
        </p:txBody>
      </p:sp>
      <p:sp>
        <p:nvSpPr>
          <p:cNvPr id="41" name="Shape 39"/>
          <p:cNvSpPr/>
          <p:nvPr/>
        </p:nvSpPr>
        <p:spPr>
          <a:xfrm>
            <a:off x="3163824" y="4023360"/>
            <a:ext cx="1335024" cy="365760"/>
          </a:xfrm>
          <a:prstGeom prst="roundRect">
            <a:avLst>
              <a:gd name="adj" fmla="val 17500"/>
            </a:avLst>
          </a:prstGeom>
          <a:solidFill>
            <a:srgbClr val="0F2040"/>
          </a:solidFill>
          <a:ln w="10160">
            <a:solidFill>
              <a:srgbClr val="1E3A5F"/>
            </a:solidFill>
            <a:prstDash val="solid"/>
          </a:ln>
        </p:spPr>
      </p:sp>
      <p:sp>
        <p:nvSpPr>
          <p:cNvPr id="42" name="Text 40"/>
          <p:cNvSpPr/>
          <p:nvPr/>
        </p:nvSpPr>
        <p:spPr>
          <a:xfrm>
            <a:off x="3163824" y="4023360"/>
            <a:ext cx="1335024" cy="365760"/>
          </a:xfrm>
          <a:prstGeom prst="rect">
            <a:avLst/>
          </a:prstGeom>
          <a:noFill/>
          <a:ln/>
        </p:spPr>
        <p:txBody>
          <a:bodyPr wrap="square" rtlCol="0" anchor="ctr"/>
          <a:lstStyle/>
          <a:p>
            <a:pPr algn="ctr" indent="0" marL="0">
              <a:buNone/>
            </a:pPr>
            <a:r>
              <a:rPr lang="en-US" sz="900" b="1" dirty="0">
                <a:solidFill>
                  <a:srgbClr val="818CF8"/>
                </a:solidFill>
                <a:latin typeface="Calibri" pitchFamily="34" charset="0"/>
                <a:ea typeface="Calibri" pitchFamily="34" charset="-122"/>
                <a:cs typeface="Calibri" pitchFamily="34" charset="-120"/>
              </a:rPr>
              <a:t>PyTorch / ResNet18</a:t>
            </a:r>
            <a:endParaRPr lang="en-US" sz="900" dirty="0"/>
          </a:p>
        </p:txBody>
      </p:sp>
      <p:sp>
        <p:nvSpPr>
          <p:cNvPr id="43" name="Shape 41"/>
          <p:cNvSpPr/>
          <p:nvPr/>
        </p:nvSpPr>
        <p:spPr>
          <a:xfrm>
            <a:off x="4608576" y="4023360"/>
            <a:ext cx="1335024" cy="365760"/>
          </a:xfrm>
          <a:prstGeom prst="roundRect">
            <a:avLst>
              <a:gd name="adj" fmla="val 17500"/>
            </a:avLst>
          </a:prstGeom>
          <a:solidFill>
            <a:srgbClr val="0F2040"/>
          </a:solidFill>
          <a:ln w="10160">
            <a:solidFill>
              <a:srgbClr val="1E3A5F"/>
            </a:solidFill>
            <a:prstDash val="solid"/>
          </a:ln>
        </p:spPr>
      </p:sp>
      <p:sp>
        <p:nvSpPr>
          <p:cNvPr id="44" name="Text 42"/>
          <p:cNvSpPr/>
          <p:nvPr/>
        </p:nvSpPr>
        <p:spPr>
          <a:xfrm>
            <a:off x="4608576" y="4023360"/>
            <a:ext cx="1335024" cy="365760"/>
          </a:xfrm>
          <a:prstGeom prst="rect">
            <a:avLst/>
          </a:prstGeom>
          <a:noFill/>
          <a:ln/>
        </p:spPr>
        <p:txBody>
          <a:bodyPr wrap="square" rtlCol="0" anchor="ctr"/>
          <a:lstStyle/>
          <a:p>
            <a:pPr algn="ctr" indent="0" marL="0">
              <a:buNone/>
            </a:pPr>
            <a:r>
              <a:rPr lang="en-US" sz="900" b="1" dirty="0">
                <a:solidFill>
                  <a:srgbClr val="818CF8"/>
                </a:solidFill>
                <a:latin typeface="Calibri" pitchFamily="34" charset="0"/>
                <a:ea typeface="Calibri" pitchFamily="34" charset="-122"/>
                <a:cs typeface="Calibri" pitchFamily="34" charset="-120"/>
              </a:rPr>
              <a:t>scikit-learn</a:t>
            </a:r>
            <a:endParaRPr lang="en-US" sz="900" dirty="0"/>
          </a:p>
        </p:txBody>
      </p:sp>
      <p:sp>
        <p:nvSpPr>
          <p:cNvPr id="45" name="Shape 43"/>
          <p:cNvSpPr/>
          <p:nvPr/>
        </p:nvSpPr>
        <p:spPr>
          <a:xfrm>
            <a:off x="6053328" y="4023360"/>
            <a:ext cx="1335024" cy="365760"/>
          </a:xfrm>
          <a:prstGeom prst="roundRect">
            <a:avLst>
              <a:gd name="adj" fmla="val 17500"/>
            </a:avLst>
          </a:prstGeom>
          <a:solidFill>
            <a:srgbClr val="0F2040"/>
          </a:solidFill>
          <a:ln w="10160">
            <a:solidFill>
              <a:srgbClr val="1E3A5F"/>
            </a:solidFill>
            <a:prstDash val="solid"/>
          </a:ln>
        </p:spPr>
      </p:sp>
      <p:sp>
        <p:nvSpPr>
          <p:cNvPr id="46" name="Text 44"/>
          <p:cNvSpPr/>
          <p:nvPr/>
        </p:nvSpPr>
        <p:spPr>
          <a:xfrm>
            <a:off x="6053328" y="4023360"/>
            <a:ext cx="1335024" cy="365760"/>
          </a:xfrm>
          <a:prstGeom prst="rect">
            <a:avLst/>
          </a:prstGeom>
          <a:noFill/>
          <a:ln/>
        </p:spPr>
        <p:txBody>
          <a:bodyPr wrap="square" rtlCol="0" anchor="ctr"/>
          <a:lstStyle/>
          <a:p>
            <a:pPr algn="ctr" indent="0" marL="0">
              <a:buNone/>
            </a:pPr>
            <a:r>
              <a:rPr lang="en-US" sz="900" b="1" dirty="0">
                <a:solidFill>
                  <a:srgbClr val="818CF8"/>
                </a:solidFill>
                <a:latin typeface="Calibri" pitchFamily="34" charset="0"/>
                <a:ea typeface="Calibri" pitchFamily="34" charset="-122"/>
                <a:cs typeface="Calibri" pitchFamily="34" charset="-120"/>
              </a:rPr>
              <a:t>PyQt5</a:t>
            </a:r>
            <a:endParaRPr lang="en-US" sz="900" dirty="0"/>
          </a:p>
        </p:txBody>
      </p:sp>
      <p:sp>
        <p:nvSpPr>
          <p:cNvPr id="47" name="Shape 45"/>
          <p:cNvSpPr/>
          <p:nvPr/>
        </p:nvSpPr>
        <p:spPr>
          <a:xfrm>
            <a:off x="7498080" y="4023360"/>
            <a:ext cx="1335024" cy="365760"/>
          </a:xfrm>
          <a:prstGeom prst="roundRect">
            <a:avLst>
              <a:gd name="adj" fmla="val 17500"/>
            </a:avLst>
          </a:prstGeom>
          <a:solidFill>
            <a:srgbClr val="0F2040"/>
          </a:solidFill>
          <a:ln w="10160">
            <a:solidFill>
              <a:srgbClr val="1E3A5F"/>
            </a:solidFill>
            <a:prstDash val="solid"/>
          </a:ln>
        </p:spPr>
      </p:sp>
      <p:sp>
        <p:nvSpPr>
          <p:cNvPr id="48" name="Text 46"/>
          <p:cNvSpPr/>
          <p:nvPr/>
        </p:nvSpPr>
        <p:spPr>
          <a:xfrm>
            <a:off x="7498080" y="4023360"/>
            <a:ext cx="1335024" cy="365760"/>
          </a:xfrm>
          <a:prstGeom prst="rect">
            <a:avLst/>
          </a:prstGeom>
          <a:noFill/>
          <a:ln/>
        </p:spPr>
        <p:txBody>
          <a:bodyPr wrap="square" rtlCol="0" anchor="ctr"/>
          <a:lstStyle/>
          <a:p>
            <a:pPr algn="ctr" indent="0" marL="0">
              <a:buNone/>
            </a:pPr>
            <a:r>
              <a:rPr lang="en-US" sz="900" b="1" dirty="0">
                <a:solidFill>
                  <a:srgbClr val="818CF8"/>
                </a:solidFill>
                <a:latin typeface="Calibri" pitchFamily="34" charset="0"/>
                <a:ea typeface="Calibri" pitchFamily="34" charset="-122"/>
                <a:cs typeface="Calibri" pitchFamily="34" charset="-120"/>
              </a:rPr>
              <a:t>HOG + LinearSVC</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70E1B"/>
        </a:solidFill>
      </p:bgPr>
    </p:bg>
    <p:spTree>
      <p:nvGrpSpPr>
        <p:cNvPr id="1" name=""/>
        <p:cNvGrpSpPr/>
        <p:nvPr/>
      </p:nvGrpSpPr>
      <p:grpSpPr>
        <a:xfrm>
          <a:off x="0" y="0"/>
          <a:ext cx="0" cy="0"/>
          <a:chOff x="0" y="0"/>
          <a:chExt cx="0" cy="0"/>
        </a:xfrm>
      </p:grpSpPr>
      <p:sp>
        <p:nvSpPr>
          <p:cNvPr id="2" name="Text 0"/>
          <p:cNvSpPr/>
          <p:nvPr/>
        </p:nvSpPr>
        <p:spPr>
          <a:xfrm>
            <a:off x="457200" y="228600"/>
            <a:ext cx="8229600" cy="640080"/>
          </a:xfrm>
          <a:prstGeom prst="rect">
            <a:avLst/>
          </a:prstGeom>
          <a:noFill/>
          <a:ln/>
        </p:spPr>
        <p:txBody>
          <a:bodyPr wrap="square" rtlCol="0" anchor="ctr"/>
          <a:lstStyle/>
          <a:p>
            <a:pPr indent="0" marL="0">
              <a:buNone/>
            </a:pPr>
            <a:r>
              <a:rPr lang="en-US" sz="3400" b="1" dirty="0">
                <a:solidFill>
                  <a:srgbClr val="F1F5F9"/>
                </a:solidFill>
                <a:latin typeface="Calibri" pitchFamily="34" charset="0"/>
                <a:ea typeface="Calibri" pitchFamily="34" charset="-122"/>
                <a:cs typeface="Calibri" pitchFamily="34" charset="-120"/>
              </a:rPr>
              <a:t>Bu Proje Nedir ve Neden İris?</a:t>
            </a:r>
            <a:endParaRPr lang="en-US" sz="3400" dirty="0"/>
          </a:p>
        </p:txBody>
      </p:sp>
      <p:sp>
        <p:nvSpPr>
          <p:cNvPr id="3" name="Shape 1"/>
          <p:cNvSpPr/>
          <p:nvPr/>
        </p:nvSpPr>
        <p:spPr>
          <a:xfrm>
            <a:off x="365760" y="1005840"/>
            <a:ext cx="4937760" cy="3749040"/>
          </a:xfrm>
          <a:prstGeom prst="rect">
            <a:avLst/>
          </a:prstGeom>
          <a:solidFill>
            <a:srgbClr val="0C1829"/>
          </a:solidFill>
          <a:ln w="12700">
            <a:solidFill>
              <a:srgbClr val="1E3A5F"/>
            </a:solidFill>
            <a:prstDash val="solid"/>
          </a:ln>
        </p:spPr>
      </p:sp>
      <p:sp>
        <p:nvSpPr>
          <p:cNvPr id="4" name="Text 2"/>
          <p:cNvSpPr/>
          <p:nvPr/>
        </p:nvSpPr>
        <p:spPr>
          <a:xfrm>
            <a:off x="502920" y="1097280"/>
            <a:ext cx="4663440" cy="3566160"/>
          </a:xfrm>
          <a:prstGeom prst="rect">
            <a:avLst/>
          </a:prstGeom>
          <a:noFill/>
          <a:ln/>
        </p:spPr>
        <p:txBody>
          <a:bodyPr wrap="square"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Projenin Amacı
</a:t>
            </a:r>
            <a:pPr indent="0" marL="0">
              <a:buNone/>
            </a:pPr>
            <a:r>
              <a:rPr lang="en-US" sz="1150" dirty="0">
                <a:solidFill>
                  <a:srgbClr val="F1F5F9"/>
                </a:solidFill>
                <a:latin typeface="Calibri" pitchFamily="34" charset="0"/>
                <a:ea typeface="Calibri" pitchFamily="34" charset="-122"/>
                <a:cs typeface="Calibri" pitchFamily="34" charset="-120"/>
              </a:rPr>
              <a:t>Kullanıcıları sağ ve sol iris görüntüsüyle sisteme kaydeden, giriş yaparken çift göz karşılaştırması yapan uçtan uca bir biyometrik kimlik doğrulama sistemi.
</a:t>
            </a:r>
            <a:pPr indent="0" marL="0">
              <a:buNone/>
            </a:pPr>
            <a:r>
              <a:rPr lang="en-US" sz="1300" b="1" dirty="0">
                <a:solidFill>
                  <a:srgbClr val="818CF8"/>
                </a:solidFill>
                <a:latin typeface="Calibri" pitchFamily="34" charset="0"/>
                <a:ea typeface="Calibri" pitchFamily="34" charset="-122"/>
                <a:cs typeface="Calibri" pitchFamily="34" charset="-120"/>
              </a:rPr>
              <a:t>Neden İris Seçildi?
</a:t>
            </a:r>
            <a:pPr indent="0" marL="0">
              <a:buNone/>
            </a:pPr>
            <a:r>
              <a:rPr lang="en-US" sz="1150" dirty="0">
                <a:solidFill>
                  <a:srgbClr val="F1F5F9"/>
                </a:solidFill>
                <a:latin typeface="Calibri" pitchFamily="34" charset="0"/>
                <a:ea typeface="Calibri" pitchFamily="34" charset="-122"/>
                <a:cs typeface="Calibri" pitchFamily="34" charset="-120"/>
              </a:rPr>
              <a:t>• Temazsız çalışır — parmak izi gibi dokunma gerektirmez
• Her insanda benzersiz yapı — ikiz gözleri bile farklıdır
• Değişmez — yaşla birlikte parmak izi değişir, iris değişmez
• Gözlük ve renkli lens altında da çalışır
• Aldatması çok daha zordur
</a:t>
            </a:r>
            <a:pPr indent="0" marL="0">
              <a:buNone/>
            </a:pPr>
            <a:r>
              <a:rPr lang="en-US" sz="1300" b="1" dirty="0">
                <a:solidFill>
                  <a:srgbClr val="34D399"/>
                </a:solidFill>
                <a:latin typeface="Calibri" pitchFamily="34" charset="0"/>
                <a:ea typeface="Calibri" pitchFamily="34" charset="-122"/>
                <a:cs typeface="Calibri" pitchFamily="34" charset="-120"/>
              </a:rPr>
              <a:t>Özgün Katkı
</a:t>
            </a:r>
            <a:pPr indent="0" marL="0">
              <a:buNone/>
            </a:pPr>
            <a:r>
              <a:rPr lang="en-US" sz="1150" dirty="0">
                <a:solidFill>
                  <a:srgbClr val="F1F5F9"/>
                </a:solidFill>
                <a:latin typeface="Calibri" pitchFamily="34" charset="0"/>
                <a:ea typeface="Calibri" pitchFamily="34" charset="-122"/>
                <a:cs typeface="Calibri" pitchFamily="34" charset="-120"/>
              </a:rPr>
              <a:t>Standart sistemler tek göz kullanır. Bu projede sağ VE sol göz birlikte doğrulanıyor. Çapraz kontrol mekanizmasıyla göz karışıklığı ve kandırma girişimleri tespit ediliyor.</a:t>
            </a:r>
            <a:endParaRPr lang="en-US" sz="1300" dirty="0"/>
          </a:p>
        </p:txBody>
      </p:sp>
      <p:sp>
        <p:nvSpPr>
          <p:cNvPr id="5" name="Shape 3"/>
          <p:cNvSpPr/>
          <p:nvPr/>
        </p:nvSpPr>
        <p:spPr>
          <a:xfrm>
            <a:off x="5577840" y="1005840"/>
            <a:ext cx="3291840" cy="1691640"/>
          </a:xfrm>
          <a:prstGeom prst="rect">
            <a:avLst/>
          </a:prstGeom>
          <a:solidFill>
            <a:srgbClr val="0F2040"/>
          </a:solidFill>
          <a:ln w="19050">
            <a:solidFill>
              <a:srgbClr val="38BDF8"/>
            </a:solidFill>
            <a:prstDash val="solid"/>
          </a:ln>
        </p:spPr>
      </p:sp>
      <p:sp>
        <p:nvSpPr>
          <p:cNvPr id="6" name="Text 4"/>
          <p:cNvSpPr/>
          <p:nvPr/>
        </p:nvSpPr>
        <p:spPr>
          <a:xfrm>
            <a:off x="5669280" y="1051560"/>
            <a:ext cx="3108960" cy="411480"/>
          </a:xfrm>
          <a:prstGeom prst="rect">
            <a:avLst/>
          </a:prstGeom>
          <a:noFill/>
          <a:ln/>
        </p:spPr>
        <p:txBody>
          <a:bodyPr wrap="square" rtlCol="0" anchor="ctr"/>
          <a:lstStyle/>
          <a:p>
            <a:pPr indent="0" marL="0">
              <a:buNone/>
            </a:pPr>
            <a:r>
              <a:rPr lang="en-US" sz="1300" b="1" dirty="0">
                <a:solidFill>
                  <a:srgbClr val="38BDF8"/>
                </a:solidFill>
                <a:latin typeface="Calibri" pitchFamily="34" charset="0"/>
                <a:ea typeface="Calibri" pitchFamily="34" charset="-122"/>
                <a:cs typeface="Calibri" pitchFamily="34" charset="-120"/>
              </a:rPr>
              <a:t>📋  KAYIT MODU</a:t>
            </a:r>
            <a:endParaRPr lang="en-US" sz="1300" dirty="0"/>
          </a:p>
        </p:txBody>
      </p:sp>
      <p:sp>
        <p:nvSpPr>
          <p:cNvPr id="7" name="Text 5"/>
          <p:cNvSpPr/>
          <p:nvPr/>
        </p:nvSpPr>
        <p:spPr>
          <a:xfrm>
            <a:off x="5669280" y="1481328"/>
            <a:ext cx="3108960" cy="1097280"/>
          </a:xfrm>
          <a:prstGeom prst="rect">
            <a:avLst/>
          </a:prstGeom>
          <a:noFill/>
          <a:ln/>
        </p:spPr>
        <p:txBody>
          <a:bodyPr wrap="square" rtlCol="0" anchor="ctr"/>
          <a:lstStyle/>
          <a:p>
            <a:pPr indent="0" marL="0">
              <a:buNone/>
            </a:pPr>
            <a:r>
              <a:rPr lang="en-US" sz="1050" dirty="0">
                <a:solidFill>
                  <a:srgbClr val="F1F5F9"/>
                </a:solidFill>
                <a:latin typeface="Calibri" pitchFamily="34" charset="0"/>
                <a:ea typeface="Calibri" pitchFamily="34" charset="-122"/>
                <a:cs typeface="Calibri" pitchFamily="34" charset="-120"/>
              </a:rPr>
              <a:t>Kullanıcı adı + sağ göz + sol göz görüntüsü girilir. Sistem her iki gözün profilini çıkarır ve JSON veritabanına kaydeder.</a:t>
            </a:r>
            <a:endParaRPr lang="en-US" sz="1050" dirty="0"/>
          </a:p>
        </p:txBody>
      </p:sp>
      <p:sp>
        <p:nvSpPr>
          <p:cNvPr id="8" name="Shape 6"/>
          <p:cNvSpPr/>
          <p:nvPr/>
        </p:nvSpPr>
        <p:spPr>
          <a:xfrm>
            <a:off x="5577840" y="2880360"/>
            <a:ext cx="3291840" cy="1691640"/>
          </a:xfrm>
          <a:prstGeom prst="rect">
            <a:avLst/>
          </a:prstGeom>
          <a:solidFill>
            <a:srgbClr val="0F2040"/>
          </a:solidFill>
          <a:ln w="19050">
            <a:solidFill>
              <a:srgbClr val="34D399"/>
            </a:solidFill>
            <a:prstDash val="solid"/>
          </a:ln>
        </p:spPr>
      </p:sp>
      <p:sp>
        <p:nvSpPr>
          <p:cNvPr id="9" name="Text 7"/>
          <p:cNvSpPr/>
          <p:nvPr/>
        </p:nvSpPr>
        <p:spPr>
          <a:xfrm>
            <a:off x="5669280" y="2926080"/>
            <a:ext cx="3108960" cy="411480"/>
          </a:xfrm>
          <a:prstGeom prst="rect">
            <a:avLst/>
          </a:prstGeom>
          <a:noFill/>
          <a:ln/>
        </p:spPr>
        <p:txBody>
          <a:bodyPr wrap="square" rtlCol="0" anchor="ctr"/>
          <a:lstStyle/>
          <a:p>
            <a:pPr indent="0" marL="0">
              <a:buNone/>
            </a:pPr>
            <a:r>
              <a:rPr lang="en-US" sz="1300" b="1" dirty="0">
                <a:solidFill>
                  <a:srgbClr val="34D399"/>
                </a:solidFill>
                <a:latin typeface="Calibri" pitchFamily="34" charset="0"/>
                <a:ea typeface="Calibri" pitchFamily="34" charset="-122"/>
                <a:cs typeface="Calibri" pitchFamily="34" charset="-120"/>
              </a:rPr>
              <a:t>🔐  DOĞRULAMA MODU</a:t>
            </a:r>
            <a:endParaRPr lang="en-US" sz="1300" dirty="0"/>
          </a:p>
        </p:txBody>
      </p:sp>
      <p:sp>
        <p:nvSpPr>
          <p:cNvPr id="10" name="Text 8"/>
          <p:cNvSpPr/>
          <p:nvPr/>
        </p:nvSpPr>
        <p:spPr>
          <a:xfrm>
            <a:off x="5669280" y="3355848"/>
            <a:ext cx="3108960" cy="1097280"/>
          </a:xfrm>
          <a:prstGeom prst="rect">
            <a:avLst/>
          </a:prstGeom>
          <a:noFill/>
          <a:ln/>
        </p:spPr>
        <p:txBody>
          <a:bodyPr wrap="square" rtlCol="0" anchor="ctr"/>
          <a:lstStyle/>
          <a:p>
            <a:pPr indent="0" marL="0">
              <a:buNone/>
            </a:pPr>
            <a:r>
              <a:rPr lang="en-US" sz="1050" dirty="0">
                <a:solidFill>
                  <a:srgbClr val="F1F5F9"/>
                </a:solidFill>
                <a:latin typeface="Calibri" pitchFamily="34" charset="0"/>
                <a:ea typeface="Calibri" pitchFamily="34" charset="-122"/>
                <a:cs typeface="Calibri" pitchFamily="34" charset="-120"/>
              </a:rPr>
              <a:t>Kullanıcı adı + iki göz görüntüsü girilir. Kayıtlı profille karşılaştırılır, çapraz kontrol yapılır, KABUL veya RED kararı verilir.</a:t>
            </a:r>
            <a:endParaRPr lang="en-US" sz="1050" dirty="0"/>
          </a:p>
        </p:txBody>
      </p:sp>
      <p:sp>
        <p:nvSpPr>
          <p:cNvPr id="11" name="Shape 9"/>
          <p:cNvSpPr/>
          <p:nvPr/>
        </p:nvSpPr>
        <p:spPr>
          <a:xfrm>
            <a:off x="5577840" y="4663440"/>
            <a:ext cx="3291840" cy="411480"/>
          </a:xfrm>
          <a:prstGeom prst="rect">
            <a:avLst/>
          </a:prstGeom>
          <a:solidFill>
            <a:srgbClr val="050C18"/>
          </a:solidFill>
          <a:ln w="10160">
            <a:solidFill>
              <a:srgbClr val="1E3A5F"/>
            </a:solidFill>
            <a:prstDash val="solid"/>
          </a:ln>
        </p:spPr>
      </p:sp>
      <p:sp>
        <p:nvSpPr>
          <p:cNvPr id="12" name="Text 10"/>
          <p:cNvSpPr/>
          <p:nvPr/>
        </p:nvSpPr>
        <p:spPr>
          <a:xfrm>
            <a:off x="5577840" y="4663440"/>
            <a:ext cx="3291840" cy="411480"/>
          </a:xfrm>
          <a:prstGeom prst="rect">
            <a:avLst/>
          </a:prstGeom>
          <a:noFill/>
          <a:ln/>
        </p:spPr>
        <p:txBody>
          <a:bodyPr wrap="square" rtlCol="0" anchor="ctr"/>
          <a:lstStyle/>
          <a:p>
            <a:pPr algn="ctr" indent="0" marL="0">
              <a:buNone/>
            </a:pPr>
            <a:r>
              <a:rPr lang="en-US" sz="850" dirty="0">
                <a:solidFill>
                  <a:srgbClr val="64748B"/>
                </a:solidFill>
                <a:latin typeface="Consolas" pitchFamily="34" charset="0"/>
                <a:ea typeface="Consolas" pitchFamily="34" charset="-122"/>
                <a:cs typeface="Consolas" pitchFamily="34" charset="-120"/>
              </a:rPr>
              <a:t>ana.py → AnaPencere → IrisIsleyici + VeriTabani</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70E1B"/>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Adım 1  —  Ham Görüntü &amp; Ön İşleme</a:t>
            </a:r>
            <a:endParaRPr lang="en-US" sz="3200" dirty="0"/>
          </a:p>
        </p:txBody>
      </p:sp>
      <p:sp>
        <p:nvSpPr>
          <p:cNvPr id="3" name="Text 1"/>
          <p:cNvSpPr/>
          <p:nvPr/>
        </p:nvSpPr>
        <p:spPr>
          <a:xfrm>
            <a:off x="457200" y="749808"/>
            <a:ext cx="8229600" cy="292608"/>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on_isle() fonksiyonu — 5 basamaklı temizleme pipeline'ı</a:t>
            </a:r>
            <a:endParaRPr lang="en-US" sz="1300" dirty="0"/>
          </a:p>
        </p:txBody>
      </p:sp>
      <p:sp>
        <p:nvSpPr>
          <p:cNvPr id="4" name="Shape 2"/>
          <p:cNvSpPr/>
          <p:nvPr/>
        </p:nvSpPr>
        <p:spPr>
          <a:xfrm>
            <a:off x="365760" y="1188720"/>
            <a:ext cx="502920" cy="640080"/>
          </a:xfrm>
          <a:prstGeom prst="rect">
            <a:avLst/>
          </a:prstGeom>
          <a:solidFill>
            <a:srgbClr val="6366F1"/>
          </a:solidFill>
          <a:ln w="12700">
            <a:solidFill>
              <a:srgbClr val="6366F1"/>
            </a:solidFill>
            <a:prstDash val="solid"/>
          </a:ln>
        </p:spPr>
      </p:sp>
      <p:sp>
        <p:nvSpPr>
          <p:cNvPr id="5" name="Text 3"/>
          <p:cNvSpPr/>
          <p:nvPr/>
        </p:nvSpPr>
        <p:spPr>
          <a:xfrm>
            <a:off x="365760" y="1188720"/>
            <a:ext cx="502920" cy="640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6" name="Shape 4"/>
          <p:cNvSpPr/>
          <p:nvPr/>
        </p:nvSpPr>
        <p:spPr>
          <a:xfrm>
            <a:off x="896112" y="1188720"/>
            <a:ext cx="8229600" cy="640080"/>
          </a:xfrm>
          <a:prstGeom prst="rect">
            <a:avLst/>
          </a:prstGeom>
          <a:solidFill>
            <a:srgbClr val="0C1829"/>
          </a:solidFill>
          <a:ln w="12700">
            <a:solidFill>
              <a:srgbClr val="6366F1"/>
            </a:solidFill>
            <a:prstDash val="solid"/>
          </a:ln>
        </p:spPr>
      </p:sp>
      <p:sp>
        <p:nvSpPr>
          <p:cNvPr id="7" name="Text 5"/>
          <p:cNvSpPr/>
          <p:nvPr/>
        </p:nvSpPr>
        <p:spPr>
          <a:xfrm>
            <a:off x="1024128" y="1225296"/>
            <a:ext cx="1828800" cy="274320"/>
          </a:xfrm>
          <a:prstGeom prst="rect">
            <a:avLst/>
          </a:prstGeom>
          <a:noFill/>
          <a:ln/>
        </p:spPr>
        <p:txBody>
          <a:bodyPr wrap="square"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Gri Tonlama</a:t>
            </a:r>
            <a:endParaRPr lang="en-US" sz="1200" dirty="0"/>
          </a:p>
        </p:txBody>
      </p:sp>
      <p:sp>
        <p:nvSpPr>
          <p:cNvPr id="8" name="Shape 6"/>
          <p:cNvSpPr/>
          <p:nvPr/>
        </p:nvSpPr>
        <p:spPr>
          <a:xfrm>
            <a:off x="1024128" y="1508760"/>
            <a:ext cx="1828800" cy="228600"/>
          </a:xfrm>
          <a:prstGeom prst="rect">
            <a:avLst/>
          </a:prstGeom>
          <a:solidFill>
            <a:srgbClr val="040A14"/>
          </a:solidFill>
          <a:ln w="12700">
            <a:solidFill>
              <a:srgbClr val="1E3A5F"/>
            </a:solidFill>
            <a:prstDash val="solid"/>
          </a:ln>
        </p:spPr>
      </p:sp>
      <p:sp>
        <p:nvSpPr>
          <p:cNvPr id="9" name="Text 7"/>
          <p:cNvSpPr/>
          <p:nvPr/>
        </p:nvSpPr>
        <p:spPr>
          <a:xfrm>
            <a:off x="1024128" y="1508760"/>
            <a:ext cx="1828800" cy="228600"/>
          </a:xfrm>
          <a:prstGeom prst="rect">
            <a:avLst/>
          </a:prstGeom>
          <a:noFill/>
          <a:ln/>
        </p:spPr>
        <p:txBody>
          <a:bodyPr wrap="square" rtlCol="0" anchor="ctr"/>
          <a:lstStyle/>
          <a:p>
            <a:pPr indent="0" marL="0">
              <a:buNone/>
            </a:pPr>
            <a:r>
              <a:rPr lang="en-US" sz="850" dirty="0">
                <a:solidFill>
                  <a:srgbClr val="6366F1"/>
                </a:solidFill>
                <a:latin typeface="Consolas" pitchFamily="34" charset="0"/>
                <a:ea typeface="Consolas" pitchFamily="34" charset="-122"/>
                <a:cs typeface="Consolas" pitchFamily="34" charset="-120"/>
              </a:rPr>
              <a:t>cv2.IMREAD_GRAYSCALE</a:t>
            </a:r>
            <a:endParaRPr lang="en-US" sz="850" dirty="0"/>
          </a:p>
        </p:txBody>
      </p:sp>
      <p:sp>
        <p:nvSpPr>
          <p:cNvPr id="10" name="Text 8"/>
          <p:cNvSpPr/>
          <p:nvPr/>
        </p:nvSpPr>
        <p:spPr>
          <a:xfrm>
            <a:off x="3017520" y="1225296"/>
            <a:ext cx="5943600" cy="566928"/>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İriste renk bilgisi anlamsız — doku ve kenar bilgisi önemli. Gri tonlama hem işlem hızını artırır hem de gereksiz kanalları atar.</a:t>
            </a:r>
            <a:endParaRPr lang="en-US" sz="1050" dirty="0"/>
          </a:p>
        </p:txBody>
      </p:sp>
      <p:sp>
        <p:nvSpPr>
          <p:cNvPr id="11" name="Shape 9"/>
          <p:cNvSpPr/>
          <p:nvPr/>
        </p:nvSpPr>
        <p:spPr>
          <a:xfrm>
            <a:off x="2971800" y="1261872"/>
            <a:ext cx="0" cy="493776"/>
          </a:xfrm>
          <a:prstGeom prst="line">
            <a:avLst/>
          </a:prstGeom>
          <a:noFill/>
          <a:ln w="10160">
            <a:solidFill>
              <a:srgbClr val="1E3A5F"/>
            </a:solidFill>
            <a:prstDash val="solid"/>
          </a:ln>
        </p:spPr>
      </p:sp>
      <p:sp>
        <p:nvSpPr>
          <p:cNvPr id="12" name="Shape 10"/>
          <p:cNvSpPr/>
          <p:nvPr/>
        </p:nvSpPr>
        <p:spPr>
          <a:xfrm>
            <a:off x="365760" y="1956816"/>
            <a:ext cx="502920" cy="640080"/>
          </a:xfrm>
          <a:prstGeom prst="rect">
            <a:avLst/>
          </a:prstGeom>
          <a:solidFill>
            <a:srgbClr val="8B5CF6"/>
          </a:solidFill>
          <a:ln w="12700">
            <a:solidFill>
              <a:srgbClr val="8B5CF6"/>
            </a:solidFill>
            <a:prstDash val="solid"/>
          </a:ln>
        </p:spPr>
      </p:sp>
      <p:sp>
        <p:nvSpPr>
          <p:cNvPr id="13" name="Text 11"/>
          <p:cNvSpPr/>
          <p:nvPr/>
        </p:nvSpPr>
        <p:spPr>
          <a:xfrm>
            <a:off x="365760" y="1956816"/>
            <a:ext cx="502920" cy="640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2</a:t>
            </a:r>
            <a:endParaRPr lang="en-US" sz="2000" dirty="0"/>
          </a:p>
        </p:txBody>
      </p:sp>
      <p:sp>
        <p:nvSpPr>
          <p:cNvPr id="14" name="Shape 12"/>
          <p:cNvSpPr/>
          <p:nvPr/>
        </p:nvSpPr>
        <p:spPr>
          <a:xfrm>
            <a:off x="896112" y="1956816"/>
            <a:ext cx="8229600" cy="640080"/>
          </a:xfrm>
          <a:prstGeom prst="rect">
            <a:avLst/>
          </a:prstGeom>
          <a:solidFill>
            <a:srgbClr val="0C1829"/>
          </a:solidFill>
          <a:ln w="12700">
            <a:solidFill>
              <a:srgbClr val="8B5CF6"/>
            </a:solidFill>
            <a:prstDash val="solid"/>
          </a:ln>
        </p:spPr>
      </p:sp>
      <p:sp>
        <p:nvSpPr>
          <p:cNvPr id="15" name="Text 13"/>
          <p:cNvSpPr/>
          <p:nvPr/>
        </p:nvSpPr>
        <p:spPr>
          <a:xfrm>
            <a:off x="1024128" y="1993392"/>
            <a:ext cx="1828800" cy="274320"/>
          </a:xfrm>
          <a:prstGeom prst="rect">
            <a:avLst/>
          </a:prstGeom>
          <a:noFill/>
          <a:ln/>
        </p:spPr>
        <p:txBody>
          <a:bodyPr wrap="square"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Boyut Normalize</a:t>
            </a:r>
            <a:endParaRPr lang="en-US" sz="1200" dirty="0"/>
          </a:p>
        </p:txBody>
      </p:sp>
      <p:sp>
        <p:nvSpPr>
          <p:cNvPr id="16" name="Shape 14"/>
          <p:cNvSpPr/>
          <p:nvPr/>
        </p:nvSpPr>
        <p:spPr>
          <a:xfrm>
            <a:off x="1024128" y="2276856"/>
            <a:ext cx="1828800" cy="228600"/>
          </a:xfrm>
          <a:prstGeom prst="rect">
            <a:avLst/>
          </a:prstGeom>
          <a:solidFill>
            <a:srgbClr val="040A14"/>
          </a:solidFill>
          <a:ln w="12700">
            <a:solidFill>
              <a:srgbClr val="1E3A5F"/>
            </a:solidFill>
            <a:prstDash val="solid"/>
          </a:ln>
        </p:spPr>
      </p:sp>
      <p:sp>
        <p:nvSpPr>
          <p:cNvPr id="17" name="Text 15"/>
          <p:cNvSpPr/>
          <p:nvPr/>
        </p:nvSpPr>
        <p:spPr>
          <a:xfrm>
            <a:off x="1024128" y="2276856"/>
            <a:ext cx="1828800" cy="228600"/>
          </a:xfrm>
          <a:prstGeom prst="rect">
            <a:avLst/>
          </a:prstGeom>
          <a:noFill/>
          <a:ln/>
        </p:spPr>
        <p:txBody>
          <a:bodyPr wrap="square" rtlCol="0" anchor="ctr"/>
          <a:lstStyle/>
          <a:p>
            <a:pPr indent="0" marL="0">
              <a:buNone/>
            </a:pPr>
            <a:r>
              <a:rPr lang="en-US" sz="850" dirty="0">
                <a:solidFill>
                  <a:srgbClr val="8B5CF6"/>
                </a:solidFill>
                <a:latin typeface="Consolas" pitchFamily="34" charset="0"/>
                <a:ea typeface="Consolas" pitchFamily="34" charset="-122"/>
                <a:cs typeface="Consolas" pitchFamily="34" charset="-120"/>
              </a:rPr>
              <a:t>cv2.resize(640×480)</a:t>
            </a:r>
            <a:endParaRPr lang="en-US" sz="850" dirty="0"/>
          </a:p>
        </p:txBody>
      </p:sp>
      <p:sp>
        <p:nvSpPr>
          <p:cNvPr id="18" name="Text 16"/>
          <p:cNvSpPr/>
          <p:nvPr/>
        </p:nvSpPr>
        <p:spPr>
          <a:xfrm>
            <a:off x="3017520" y="1993392"/>
            <a:ext cx="5943600" cy="566928"/>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Tüm giriş görüntüleri farklı boyutlarda gelebilir. Sabit boyut, pipeline'ın geri kalanında tutarlı koordinat hesabı sağlar.</a:t>
            </a:r>
            <a:endParaRPr lang="en-US" sz="1050" dirty="0"/>
          </a:p>
        </p:txBody>
      </p:sp>
      <p:sp>
        <p:nvSpPr>
          <p:cNvPr id="19" name="Shape 17"/>
          <p:cNvSpPr/>
          <p:nvPr/>
        </p:nvSpPr>
        <p:spPr>
          <a:xfrm>
            <a:off x="2971800" y="2029968"/>
            <a:ext cx="0" cy="493776"/>
          </a:xfrm>
          <a:prstGeom prst="line">
            <a:avLst/>
          </a:prstGeom>
          <a:noFill/>
          <a:ln w="10160">
            <a:solidFill>
              <a:srgbClr val="1E3A5F"/>
            </a:solidFill>
            <a:prstDash val="solid"/>
          </a:ln>
        </p:spPr>
      </p:sp>
      <p:sp>
        <p:nvSpPr>
          <p:cNvPr id="20" name="Shape 18"/>
          <p:cNvSpPr/>
          <p:nvPr/>
        </p:nvSpPr>
        <p:spPr>
          <a:xfrm>
            <a:off x="365760" y="2724912"/>
            <a:ext cx="502920" cy="640080"/>
          </a:xfrm>
          <a:prstGeom prst="rect">
            <a:avLst/>
          </a:prstGeom>
          <a:solidFill>
            <a:srgbClr val="818CF8"/>
          </a:solidFill>
          <a:ln w="12700">
            <a:solidFill>
              <a:srgbClr val="818CF8"/>
            </a:solidFill>
            <a:prstDash val="solid"/>
          </a:ln>
        </p:spPr>
      </p:sp>
      <p:sp>
        <p:nvSpPr>
          <p:cNvPr id="21" name="Text 19"/>
          <p:cNvSpPr/>
          <p:nvPr/>
        </p:nvSpPr>
        <p:spPr>
          <a:xfrm>
            <a:off x="365760" y="2724912"/>
            <a:ext cx="502920" cy="640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3</a:t>
            </a:r>
            <a:endParaRPr lang="en-US" sz="2000" dirty="0"/>
          </a:p>
        </p:txBody>
      </p:sp>
      <p:sp>
        <p:nvSpPr>
          <p:cNvPr id="22" name="Shape 20"/>
          <p:cNvSpPr/>
          <p:nvPr/>
        </p:nvSpPr>
        <p:spPr>
          <a:xfrm>
            <a:off x="896112" y="2724912"/>
            <a:ext cx="8229600" cy="640080"/>
          </a:xfrm>
          <a:prstGeom prst="rect">
            <a:avLst/>
          </a:prstGeom>
          <a:solidFill>
            <a:srgbClr val="0C1829"/>
          </a:solidFill>
          <a:ln w="12700">
            <a:solidFill>
              <a:srgbClr val="818CF8"/>
            </a:solidFill>
            <a:prstDash val="solid"/>
          </a:ln>
        </p:spPr>
      </p:sp>
      <p:sp>
        <p:nvSpPr>
          <p:cNvPr id="23" name="Text 21"/>
          <p:cNvSpPr/>
          <p:nvPr/>
        </p:nvSpPr>
        <p:spPr>
          <a:xfrm>
            <a:off x="1024128" y="2761488"/>
            <a:ext cx="1828800" cy="274320"/>
          </a:xfrm>
          <a:prstGeom prst="rect">
            <a:avLst/>
          </a:prstGeom>
          <a:noFill/>
          <a:ln/>
        </p:spPr>
        <p:txBody>
          <a:bodyPr wrap="square"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Bilateral Filtre</a:t>
            </a:r>
            <a:endParaRPr lang="en-US" sz="1200" dirty="0"/>
          </a:p>
        </p:txBody>
      </p:sp>
      <p:sp>
        <p:nvSpPr>
          <p:cNvPr id="24" name="Shape 22"/>
          <p:cNvSpPr/>
          <p:nvPr/>
        </p:nvSpPr>
        <p:spPr>
          <a:xfrm>
            <a:off x="1024128" y="3044952"/>
            <a:ext cx="1828800" cy="228600"/>
          </a:xfrm>
          <a:prstGeom prst="rect">
            <a:avLst/>
          </a:prstGeom>
          <a:solidFill>
            <a:srgbClr val="040A14"/>
          </a:solidFill>
          <a:ln w="12700">
            <a:solidFill>
              <a:srgbClr val="1E3A5F"/>
            </a:solidFill>
            <a:prstDash val="solid"/>
          </a:ln>
        </p:spPr>
      </p:sp>
      <p:sp>
        <p:nvSpPr>
          <p:cNvPr id="25" name="Text 23"/>
          <p:cNvSpPr/>
          <p:nvPr/>
        </p:nvSpPr>
        <p:spPr>
          <a:xfrm>
            <a:off x="1024128" y="3044952"/>
            <a:ext cx="1828800" cy="228600"/>
          </a:xfrm>
          <a:prstGeom prst="rect">
            <a:avLst/>
          </a:prstGeom>
          <a:noFill/>
          <a:ln/>
        </p:spPr>
        <p:txBody>
          <a:bodyPr wrap="square" rtlCol="0" anchor="ctr"/>
          <a:lstStyle/>
          <a:p>
            <a:pPr indent="0" marL="0">
              <a:buNone/>
            </a:pPr>
            <a:r>
              <a:rPr lang="en-US" sz="850" dirty="0">
                <a:solidFill>
                  <a:srgbClr val="818CF8"/>
                </a:solidFill>
                <a:latin typeface="Consolas" pitchFamily="34" charset="0"/>
                <a:ea typeface="Consolas" pitchFamily="34" charset="-122"/>
                <a:cs typeface="Consolas" pitchFamily="34" charset="-120"/>
              </a:rPr>
              <a:t>bilateralFilter(7,35,35)</a:t>
            </a:r>
            <a:endParaRPr lang="en-US" sz="850" dirty="0"/>
          </a:p>
        </p:txBody>
      </p:sp>
      <p:sp>
        <p:nvSpPr>
          <p:cNvPr id="26" name="Text 24"/>
          <p:cNvSpPr/>
          <p:nvPr/>
        </p:nvSpPr>
        <p:spPr>
          <a:xfrm>
            <a:off x="3017520" y="2761488"/>
            <a:ext cx="5943600" cy="566928"/>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Gaussian bulanıklaştırma kenarları da yumuşatır. Bilateral ise yalnızca renk farkı az olan pikselleri ortalar — iris sınırını korur.</a:t>
            </a:r>
            <a:endParaRPr lang="en-US" sz="1050" dirty="0"/>
          </a:p>
        </p:txBody>
      </p:sp>
      <p:sp>
        <p:nvSpPr>
          <p:cNvPr id="27" name="Shape 25"/>
          <p:cNvSpPr/>
          <p:nvPr/>
        </p:nvSpPr>
        <p:spPr>
          <a:xfrm>
            <a:off x="2971800" y="2798064"/>
            <a:ext cx="0" cy="493776"/>
          </a:xfrm>
          <a:prstGeom prst="line">
            <a:avLst/>
          </a:prstGeom>
          <a:noFill/>
          <a:ln w="10160">
            <a:solidFill>
              <a:srgbClr val="1E3A5F"/>
            </a:solidFill>
            <a:prstDash val="solid"/>
          </a:ln>
        </p:spPr>
      </p:sp>
      <p:sp>
        <p:nvSpPr>
          <p:cNvPr id="28" name="Shape 26"/>
          <p:cNvSpPr/>
          <p:nvPr/>
        </p:nvSpPr>
        <p:spPr>
          <a:xfrm>
            <a:off x="365760" y="3493008"/>
            <a:ext cx="502920" cy="640080"/>
          </a:xfrm>
          <a:prstGeom prst="rect">
            <a:avLst/>
          </a:prstGeom>
          <a:solidFill>
            <a:srgbClr val="38BDF8"/>
          </a:solidFill>
          <a:ln w="12700">
            <a:solidFill>
              <a:srgbClr val="38BDF8"/>
            </a:solidFill>
            <a:prstDash val="solid"/>
          </a:ln>
        </p:spPr>
      </p:sp>
      <p:sp>
        <p:nvSpPr>
          <p:cNvPr id="29" name="Text 27"/>
          <p:cNvSpPr/>
          <p:nvPr/>
        </p:nvSpPr>
        <p:spPr>
          <a:xfrm>
            <a:off x="365760" y="3493008"/>
            <a:ext cx="502920" cy="640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4</a:t>
            </a:r>
            <a:endParaRPr lang="en-US" sz="2000" dirty="0"/>
          </a:p>
        </p:txBody>
      </p:sp>
      <p:sp>
        <p:nvSpPr>
          <p:cNvPr id="30" name="Shape 28"/>
          <p:cNvSpPr/>
          <p:nvPr/>
        </p:nvSpPr>
        <p:spPr>
          <a:xfrm>
            <a:off x="896112" y="3493008"/>
            <a:ext cx="8229600" cy="640080"/>
          </a:xfrm>
          <a:prstGeom prst="rect">
            <a:avLst/>
          </a:prstGeom>
          <a:solidFill>
            <a:srgbClr val="0C1829"/>
          </a:solidFill>
          <a:ln w="12700">
            <a:solidFill>
              <a:srgbClr val="38BDF8"/>
            </a:solidFill>
            <a:prstDash val="solid"/>
          </a:ln>
        </p:spPr>
      </p:sp>
      <p:sp>
        <p:nvSpPr>
          <p:cNvPr id="31" name="Text 29"/>
          <p:cNvSpPr/>
          <p:nvPr/>
        </p:nvSpPr>
        <p:spPr>
          <a:xfrm>
            <a:off x="1024128" y="3529584"/>
            <a:ext cx="1828800" cy="274320"/>
          </a:xfrm>
          <a:prstGeom prst="rect">
            <a:avLst/>
          </a:prstGeom>
          <a:noFill/>
          <a:ln/>
        </p:spPr>
        <p:txBody>
          <a:bodyPr wrap="square"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CLAHE</a:t>
            </a:r>
            <a:endParaRPr lang="en-US" sz="1200" dirty="0"/>
          </a:p>
        </p:txBody>
      </p:sp>
      <p:sp>
        <p:nvSpPr>
          <p:cNvPr id="32" name="Shape 30"/>
          <p:cNvSpPr/>
          <p:nvPr/>
        </p:nvSpPr>
        <p:spPr>
          <a:xfrm>
            <a:off x="1024128" y="3813048"/>
            <a:ext cx="1828800" cy="228600"/>
          </a:xfrm>
          <a:prstGeom prst="rect">
            <a:avLst/>
          </a:prstGeom>
          <a:solidFill>
            <a:srgbClr val="040A14"/>
          </a:solidFill>
          <a:ln w="12700">
            <a:solidFill>
              <a:srgbClr val="1E3A5F"/>
            </a:solidFill>
            <a:prstDash val="solid"/>
          </a:ln>
        </p:spPr>
      </p:sp>
      <p:sp>
        <p:nvSpPr>
          <p:cNvPr id="33" name="Text 31"/>
          <p:cNvSpPr/>
          <p:nvPr/>
        </p:nvSpPr>
        <p:spPr>
          <a:xfrm>
            <a:off x="1024128" y="3813048"/>
            <a:ext cx="1828800" cy="228600"/>
          </a:xfrm>
          <a:prstGeom prst="rect">
            <a:avLst/>
          </a:prstGeom>
          <a:noFill/>
          <a:ln/>
        </p:spPr>
        <p:txBody>
          <a:bodyPr wrap="square" rtlCol="0" anchor="ctr"/>
          <a:lstStyle/>
          <a:p>
            <a:pPr indent="0" marL="0">
              <a:buNone/>
            </a:pPr>
            <a:r>
              <a:rPr lang="en-US" sz="850" dirty="0">
                <a:solidFill>
                  <a:srgbClr val="38BDF8"/>
                </a:solidFill>
                <a:latin typeface="Consolas" pitchFamily="34" charset="0"/>
                <a:ea typeface="Consolas" pitchFamily="34" charset="-122"/>
                <a:cs typeface="Consolas" pitchFamily="34" charset="-120"/>
              </a:rPr>
              <a:t>clipLimit=2.0 tile=(8,8)</a:t>
            </a:r>
            <a:endParaRPr lang="en-US" sz="850" dirty="0"/>
          </a:p>
        </p:txBody>
      </p:sp>
      <p:sp>
        <p:nvSpPr>
          <p:cNvPr id="34" name="Text 32"/>
          <p:cNvSpPr/>
          <p:nvPr/>
        </p:nvSpPr>
        <p:spPr>
          <a:xfrm>
            <a:off x="3017520" y="3529584"/>
            <a:ext cx="5943600" cy="566928"/>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Standart histogram eşitleme tüm görüntüye tek işlem yapar. CLAHE, 8×8 bölgelere bölerek yerel kontrast artırır. Karanlık ortamda çekilmiş gözlerde kritik.</a:t>
            </a:r>
            <a:endParaRPr lang="en-US" sz="1050" dirty="0"/>
          </a:p>
        </p:txBody>
      </p:sp>
      <p:sp>
        <p:nvSpPr>
          <p:cNvPr id="35" name="Shape 33"/>
          <p:cNvSpPr/>
          <p:nvPr/>
        </p:nvSpPr>
        <p:spPr>
          <a:xfrm>
            <a:off x="2971800" y="3566160"/>
            <a:ext cx="0" cy="493776"/>
          </a:xfrm>
          <a:prstGeom prst="line">
            <a:avLst/>
          </a:prstGeom>
          <a:noFill/>
          <a:ln w="10160">
            <a:solidFill>
              <a:srgbClr val="1E3A5F"/>
            </a:solidFill>
            <a:prstDash val="solid"/>
          </a:ln>
        </p:spPr>
      </p:sp>
      <p:sp>
        <p:nvSpPr>
          <p:cNvPr id="36" name="Shape 34"/>
          <p:cNvSpPr/>
          <p:nvPr/>
        </p:nvSpPr>
        <p:spPr>
          <a:xfrm>
            <a:off x="365760" y="4261104"/>
            <a:ext cx="502920" cy="640080"/>
          </a:xfrm>
          <a:prstGeom prst="rect">
            <a:avLst/>
          </a:prstGeom>
          <a:solidFill>
            <a:srgbClr val="34D399"/>
          </a:solidFill>
          <a:ln w="12700">
            <a:solidFill>
              <a:srgbClr val="34D399"/>
            </a:solidFill>
            <a:prstDash val="solid"/>
          </a:ln>
        </p:spPr>
      </p:sp>
      <p:sp>
        <p:nvSpPr>
          <p:cNvPr id="37" name="Text 35"/>
          <p:cNvSpPr/>
          <p:nvPr/>
        </p:nvSpPr>
        <p:spPr>
          <a:xfrm>
            <a:off x="365760" y="4261104"/>
            <a:ext cx="502920" cy="640080"/>
          </a:xfrm>
          <a:prstGeom prst="rect">
            <a:avLst/>
          </a:prstGeom>
          <a:noFill/>
          <a:ln/>
        </p:spPr>
        <p:txBody>
          <a:bodyPr wrap="square"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5</a:t>
            </a:r>
            <a:endParaRPr lang="en-US" sz="2000" dirty="0"/>
          </a:p>
        </p:txBody>
      </p:sp>
      <p:sp>
        <p:nvSpPr>
          <p:cNvPr id="38" name="Shape 36"/>
          <p:cNvSpPr/>
          <p:nvPr/>
        </p:nvSpPr>
        <p:spPr>
          <a:xfrm>
            <a:off x="896112" y="4261104"/>
            <a:ext cx="8229600" cy="640080"/>
          </a:xfrm>
          <a:prstGeom prst="rect">
            <a:avLst/>
          </a:prstGeom>
          <a:solidFill>
            <a:srgbClr val="0C1829"/>
          </a:solidFill>
          <a:ln w="12700">
            <a:solidFill>
              <a:srgbClr val="34D399"/>
            </a:solidFill>
            <a:prstDash val="solid"/>
          </a:ln>
        </p:spPr>
      </p:sp>
      <p:sp>
        <p:nvSpPr>
          <p:cNvPr id="39" name="Text 37"/>
          <p:cNvSpPr/>
          <p:nvPr/>
        </p:nvSpPr>
        <p:spPr>
          <a:xfrm>
            <a:off x="1024128" y="4297680"/>
            <a:ext cx="1828800" cy="274320"/>
          </a:xfrm>
          <a:prstGeom prst="rect">
            <a:avLst/>
          </a:prstGeom>
          <a:noFill/>
          <a:ln/>
        </p:spPr>
        <p:txBody>
          <a:bodyPr wrap="square" rtlCol="0" anchor="ctr"/>
          <a:lstStyle/>
          <a:p>
            <a:pPr indent="0" marL="0">
              <a:buNone/>
            </a:pPr>
            <a:r>
              <a:rPr lang="en-US" sz="1200" b="1" dirty="0">
                <a:solidFill>
                  <a:srgbClr val="F1F5F9"/>
                </a:solidFill>
                <a:latin typeface="Calibri" pitchFamily="34" charset="0"/>
                <a:ea typeface="Calibri" pitchFamily="34" charset="-122"/>
                <a:cs typeface="Calibri" pitchFamily="34" charset="-120"/>
              </a:rPr>
              <a:t>Gaussian Blur</a:t>
            </a:r>
            <a:endParaRPr lang="en-US" sz="1200" dirty="0"/>
          </a:p>
        </p:txBody>
      </p:sp>
      <p:sp>
        <p:nvSpPr>
          <p:cNvPr id="40" name="Shape 38"/>
          <p:cNvSpPr/>
          <p:nvPr/>
        </p:nvSpPr>
        <p:spPr>
          <a:xfrm>
            <a:off x="1024128" y="4581144"/>
            <a:ext cx="1828800" cy="228600"/>
          </a:xfrm>
          <a:prstGeom prst="rect">
            <a:avLst/>
          </a:prstGeom>
          <a:solidFill>
            <a:srgbClr val="040A14"/>
          </a:solidFill>
          <a:ln w="12700">
            <a:solidFill>
              <a:srgbClr val="1E3A5F"/>
            </a:solidFill>
            <a:prstDash val="solid"/>
          </a:ln>
        </p:spPr>
      </p:sp>
      <p:sp>
        <p:nvSpPr>
          <p:cNvPr id="41" name="Text 39"/>
          <p:cNvSpPr/>
          <p:nvPr/>
        </p:nvSpPr>
        <p:spPr>
          <a:xfrm>
            <a:off x="1024128" y="4581144"/>
            <a:ext cx="1828800" cy="228600"/>
          </a:xfrm>
          <a:prstGeom prst="rect">
            <a:avLst/>
          </a:prstGeom>
          <a:noFill/>
          <a:ln/>
        </p:spPr>
        <p:txBody>
          <a:bodyPr wrap="square" rtlCol="0" anchor="ctr"/>
          <a:lstStyle/>
          <a:p>
            <a:pPr indent="0" marL="0">
              <a:buNone/>
            </a:pPr>
            <a:r>
              <a:rPr lang="en-US" sz="850" dirty="0">
                <a:solidFill>
                  <a:srgbClr val="34D399"/>
                </a:solidFill>
                <a:latin typeface="Consolas" pitchFamily="34" charset="0"/>
                <a:ea typeface="Consolas" pitchFamily="34" charset="-122"/>
                <a:cs typeface="Consolas" pitchFamily="34" charset="-120"/>
              </a:rPr>
              <a:t>GaussianBlur(5,5)</a:t>
            </a:r>
            <a:endParaRPr lang="en-US" sz="850" dirty="0"/>
          </a:p>
        </p:txBody>
      </p:sp>
      <p:sp>
        <p:nvSpPr>
          <p:cNvPr id="42" name="Text 40"/>
          <p:cNvSpPr/>
          <p:nvPr/>
        </p:nvSpPr>
        <p:spPr>
          <a:xfrm>
            <a:off x="3017520" y="4297680"/>
            <a:ext cx="5943600" cy="566928"/>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CLAHE sonrası oluşan piksel seviyesi gürültüyü temizler. HoughCircles algoritması düzgün gradyan bekler, gürültü yanlış daire tespitine yol açar.</a:t>
            </a:r>
            <a:endParaRPr lang="en-US" sz="1050" dirty="0"/>
          </a:p>
        </p:txBody>
      </p:sp>
      <p:sp>
        <p:nvSpPr>
          <p:cNvPr id="43" name="Shape 41"/>
          <p:cNvSpPr/>
          <p:nvPr/>
        </p:nvSpPr>
        <p:spPr>
          <a:xfrm>
            <a:off x="2971800" y="4334256"/>
            <a:ext cx="0" cy="493776"/>
          </a:xfrm>
          <a:prstGeom prst="line">
            <a:avLst/>
          </a:prstGeom>
          <a:noFill/>
          <a:ln w="10160">
            <a:solidFill>
              <a:srgbClr val="1E3A5F"/>
            </a:solidFill>
            <a:prstDash val="solid"/>
          </a:ln>
        </p:spPr>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70E1B"/>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Adım 2  —  Göz Bebeği (Pupil) Tespiti</a:t>
            </a:r>
            <a:endParaRPr lang="en-US" sz="3200" dirty="0"/>
          </a:p>
        </p:txBody>
      </p:sp>
      <p:sp>
        <p:nvSpPr>
          <p:cNvPr id="3" name="Text 1"/>
          <p:cNvSpPr/>
          <p:nvPr/>
        </p:nvSpPr>
        <p:spPr>
          <a:xfrm>
            <a:off x="457200" y="749808"/>
            <a:ext cx="8229600" cy="292608"/>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gozbebegi_bul() fonksiyonu — HoughCircles + akıllı skor sistemi</a:t>
            </a:r>
            <a:endParaRPr lang="en-US" sz="1300" dirty="0"/>
          </a:p>
        </p:txBody>
      </p:sp>
      <p:sp>
        <p:nvSpPr>
          <p:cNvPr id="4" name="Shape 2"/>
          <p:cNvSpPr/>
          <p:nvPr/>
        </p:nvSpPr>
        <p:spPr>
          <a:xfrm>
            <a:off x="365760" y="1143000"/>
            <a:ext cx="5029200" cy="3840480"/>
          </a:xfrm>
          <a:prstGeom prst="rect">
            <a:avLst/>
          </a:prstGeom>
          <a:solidFill>
            <a:srgbClr val="0C1829"/>
          </a:solidFill>
          <a:ln w="19050">
            <a:solidFill>
              <a:srgbClr val="F87171"/>
            </a:solidFill>
            <a:prstDash val="solid"/>
          </a:ln>
        </p:spPr>
      </p:sp>
      <p:sp>
        <p:nvSpPr>
          <p:cNvPr id="5" name="Shape 3"/>
          <p:cNvSpPr/>
          <p:nvPr/>
        </p:nvSpPr>
        <p:spPr>
          <a:xfrm>
            <a:off x="502920" y="1298448"/>
            <a:ext cx="256032" cy="256032"/>
          </a:xfrm>
          <a:prstGeom prst="ellipse">
            <a:avLst/>
          </a:prstGeom>
          <a:solidFill>
            <a:srgbClr val="F87171"/>
          </a:solidFill>
          <a:ln w="12700">
            <a:solidFill>
              <a:srgbClr val="F87171"/>
            </a:solidFill>
            <a:prstDash val="solid"/>
          </a:ln>
        </p:spPr>
      </p:sp>
      <p:sp>
        <p:nvSpPr>
          <p:cNvPr id="6" name="Text 4"/>
          <p:cNvSpPr/>
          <p:nvPr/>
        </p:nvSpPr>
        <p:spPr>
          <a:xfrm>
            <a:off x="502920" y="1298448"/>
            <a:ext cx="256032"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1</a:t>
            </a:r>
            <a:endParaRPr lang="en-US" sz="900" dirty="0"/>
          </a:p>
        </p:txBody>
      </p:sp>
      <p:sp>
        <p:nvSpPr>
          <p:cNvPr id="7" name="Text 5"/>
          <p:cNvSpPr/>
          <p:nvPr/>
        </p:nvSpPr>
        <p:spPr>
          <a:xfrm>
            <a:off x="841248" y="1261872"/>
            <a:ext cx="4389120" cy="256032"/>
          </a:xfrm>
          <a:prstGeom prst="rect">
            <a:avLst/>
          </a:prstGeom>
          <a:noFill/>
          <a:ln/>
        </p:spPr>
        <p:txBody>
          <a:bodyPr wrap="square"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ROI Kırpma</a:t>
            </a:r>
            <a:endParaRPr lang="en-US" sz="1100" dirty="0"/>
          </a:p>
        </p:txBody>
      </p:sp>
      <p:sp>
        <p:nvSpPr>
          <p:cNvPr id="8" name="Text 6"/>
          <p:cNvSpPr/>
          <p:nvPr/>
        </p:nvSpPr>
        <p:spPr>
          <a:xfrm>
            <a:off x="841248" y="1517904"/>
            <a:ext cx="438912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Görüntünün %18–%82 bölgesi alınır. Kenar alanlar kirpik ve kaş içerdiğinden atılır.</a:t>
            </a:r>
            <a:endParaRPr lang="en-US" sz="1000" dirty="0"/>
          </a:p>
        </p:txBody>
      </p:sp>
      <p:sp>
        <p:nvSpPr>
          <p:cNvPr id="9" name="Shape 7"/>
          <p:cNvSpPr/>
          <p:nvPr/>
        </p:nvSpPr>
        <p:spPr>
          <a:xfrm>
            <a:off x="502920" y="1984248"/>
            <a:ext cx="256032" cy="256032"/>
          </a:xfrm>
          <a:prstGeom prst="ellipse">
            <a:avLst/>
          </a:prstGeom>
          <a:solidFill>
            <a:srgbClr val="F87171"/>
          </a:solidFill>
          <a:ln w="12700">
            <a:solidFill>
              <a:srgbClr val="F87171"/>
            </a:solidFill>
            <a:prstDash val="solid"/>
          </a:ln>
        </p:spPr>
      </p:sp>
      <p:sp>
        <p:nvSpPr>
          <p:cNvPr id="10" name="Text 8"/>
          <p:cNvSpPr/>
          <p:nvPr/>
        </p:nvSpPr>
        <p:spPr>
          <a:xfrm>
            <a:off x="502920" y="1984248"/>
            <a:ext cx="256032"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2</a:t>
            </a:r>
            <a:endParaRPr lang="en-US" sz="900" dirty="0"/>
          </a:p>
        </p:txBody>
      </p:sp>
      <p:sp>
        <p:nvSpPr>
          <p:cNvPr id="11" name="Text 9"/>
          <p:cNvSpPr/>
          <p:nvPr/>
        </p:nvSpPr>
        <p:spPr>
          <a:xfrm>
            <a:off x="841248" y="1947672"/>
            <a:ext cx="4389120" cy="256032"/>
          </a:xfrm>
          <a:prstGeom prst="rect">
            <a:avLst/>
          </a:prstGeom>
          <a:noFill/>
          <a:ln/>
        </p:spPr>
        <p:txBody>
          <a:bodyPr wrap="square"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Gürültü Temizleme</a:t>
            </a:r>
            <a:endParaRPr lang="en-US" sz="1100" dirty="0"/>
          </a:p>
        </p:txBody>
      </p:sp>
      <p:sp>
        <p:nvSpPr>
          <p:cNvPr id="12" name="Text 10"/>
          <p:cNvSpPr/>
          <p:nvPr/>
        </p:nvSpPr>
        <p:spPr>
          <a:xfrm>
            <a:off x="841248" y="2203704"/>
            <a:ext cx="438912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medianBlur(5) uygulanır. Salt &amp; pepper (tuz-biber) gürültüsüne karşı Gaussian'dan daha etkilidir.</a:t>
            </a:r>
            <a:endParaRPr lang="en-US" sz="1000" dirty="0"/>
          </a:p>
        </p:txBody>
      </p:sp>
      <p:sp>
        <p:nvSpPr>
          <p:cNvPr id="13" name="Shape 11"/>
          <p:cNvSpPr/>
          <p:nvPr/>
        </p:nvSpPr>
        <p:spPr>
          <a:xfrm>
            <a:off x="502920" y="2670048"/>
            <a:ext cx="256032" cy="256032"/>
          </a:xfrm>
          <a:prstGeom prst="ellipse">
            <a:avLst/>
          </a:prstGeom>
          <a:solidFill>
            <a:srgbClr val="F87171"/>
          </a:solidFill>
          <a:ln w="12700">
            <a:solidFill>
              <a:srgbClr val="F87171"/>
            </a:solidFill>
            <a:prstDash val="solid"/>
          </a:ln>
        </p:spPr>
      </p:sp>
      <p:sp>
        <p:nvSpPr>
          <p:cNvPr id="14" name="Text 12"/>
          <p:cNvSpPr/>
          <p:nvPr/>
        </p:nvSpPr>
        <p:spPr>
          <a:xfrm>
            <a:off x="502920" y="2670048"/>
            <a:ext cx="256032"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3</a:t>
            </a:r>
            <a:endParaRPr lang="en-US" sz="900" dirty="0"/>
          </a:p>
        </p:txBody>
      </p:sp>
      <p:sp>
        <p:nvSpPr>
          <p:cNvPr id="15" name="Text 13"/>
          <p:cNvSpPr/>
          <p:nvPr/>
        </p:nvSpPr>
        <p:spPr>
          <a:xfrm>
            <a:off x="841248" y="2633472"/>
            <a:ext cx="4389120" cy="256032"/>
          </a:xfrm>
          <a:prstGeom prst="rect">
            <a:avLst/>
          </a:prstGeom>
          <a:noFill/>
          <a:ln/>
        </p:spPr>
        <p:txBody>
          <a:bodyPr wrap="square"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HoughCircles</a:t>
            </a:r>
            <a:endParaRPr lang="en-US" sz="1100" dirty="0"/>
          </a:p>
        </p:txBody>
      </p:sp>
      <p:sp>
        <p:nvSpPr>
          <p:cNvPr id="16" name="Text 14"/>
          <p:cNvSpPr/>
          <p:nvPr/>
        </p:nvSpPr>
        <p:spPr>
          <a:xfrm>
            <a:off x="841248" y="2889504"/>
            <a:ext cx="438912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OpenCV'nin Hough Dairesi dönüşümü olası tüm daire adaylarını bulur.</a:t>
            </a:r>
            <a:endParaRPr lang="en-US" sz="1000" dirty="0"/>
          </a:p>
        </p:txBody>
      </p:sp>
      <p:sp>
        <p:nvSpPr>
          <p:cNvPr id="17" name="Shape 15"/>
          <p:cNvSpPr/>
          <p:nvPr/>
        </p:nvSpPr>
        <p:spPr>
          <a:xfrm>
            <a:off x="502920" y="3355848"/>
            <a:ext cx="256032" cy="256032"/>
          </a:xfrm>
          <a:prstGeom prst="ellipse">
            <a:avLst/>
          </a:prstGeom>
          <a:solidFill>
            <a:srgbClr val="F87171"/>
          </a:solidFill>
          <a:ln w="12700">
            <a:solidFill>
              <a:srgbClr val="F87171"/>
            </a:solidFill>
            <a:prstDash val="solid"/>
          </a:ln>
        </p:spPr>
      </p:sp>
      <p:sp>
        <p:nvSpPr>
          <p:cNvPr id="18" name="Text 16"/>
          <p:cNvSpPr/>
          <p:nvPr/>
        </p:nvSpPr>
        <p:spPr>
          <a:xfrm>
            <a:off x="502920" y="3355848"/>
            <a:ext cx="256032"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4</a:t>
            </a:r>
            <a:endParaRPr lang="en-US" sz="900" dirty="0"/>
          </a:p>
        </p:txBody>
      </p:sp>
      <p:sp>
        <p:nvSpPr>
          <p:cNvPr id="19" name="Text 17"/>
          <p:cNvSpPr/>
          <p:nvPr/>
        </p:nvSpPr>
        <p:spPr>
          <a:xfrm>
            <a:off x="841248" y="3319272"/>
            <a:ext cx="4389120" cy="256032"/>
          </a:xfrm>
          <a:prstGeom prst="rect">
            <a:avLst/>
          </a:prstGeom>
          <a:noFill/>
          <a:ln/>
        </p:spPr>
        <p:txBody>
          <a:bodyPr wrap="square"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Parlaklık Filtresi</a:t>
            </a:r>
            <a:endParaRPr lang="en-US" sz="1100" dirty="0"/>
          </a:p>
        </p:txBody>
      </p:sp>
      <p:sp>
        <p:nvSpPr>
          <p:cNvPr id="20" name="Text 18"/>
          <p:cNvSpPr/>
          <p:nvPr/>
        </p:nvSpPr>
        <p:spPr>
          <a:xfrm>
            <a:off x="841248" y="3575304"/>
            <a:ext cx="438912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Ortalama yoğunluğu &gt;110 olan daireler elenir. İris karanlık olmalı — parlak bölge iris değildir.</a:t>
            </a:r>
            <a:endParaRPr lang="en-US" sz="1000" dirty="0"/>
          </a:p>
        </p:txBody>
      </p:sp>
      <p:sp>
        <p:nvSpPr>
          <p:cNvPr id="21" name="Shape 19"/>
          <p:cNvSpPr/>
          <p:nvPr/>
        </p:nvSpPr>
        <p:spPr>
          <a:xfrm>
            <a:off x="502920" y="4041648"/>
            <a:ext cx="256032" cy="256032"/>
          </a:xfrm>
          <a:prstGeom prst="ellipse">
            <a:avLst/>
          </a:prstGeom>
          <a:solidFill>
            <a:srgbClr val="F87171"/>
          </a:solidFill>
          <a:ln w="12700">
            <a:solidFill>
              <a:srgbClr val="F87171"/>
            </a:solidFill>
            <a:prstDash val="solid"/>
          </a:ln>
        </p:spPr>
      </p:sp>
      <p:sp>
        <p:nvSpPr>
          <p:cNvPr id="22" name="Text 20"/>
          <p:cNvSpPr/>
          <p:nvPr/>
        </p:nvSpPr>
        <p:spPr>
          <a:xfrm>
            <a:off x="502920" y="4041648"/>
            <a:ext cx="256032" cy="256032"/>
          </a:xfrm>
          <a:prstGeom prst="rect">
            <a:avLst/>
          </a:prstGeom>
          <a:noFill/>
          <a:ln/>
        </p:spPr>
        <p:txBody>
          <a:bodyPr wrap="square" rtlCol="0" anchor="ctr"/>
          <a:lstStyle/>
          <a:p>
            <a:pPr algn="ctr" indent="0" marL="0">
              <a:buNone/>
            </a:pPr>
            <a:r>
              <a:rPr lang="en-US" sz="900" b="1" dirty="0">
                <a:solidFill>
                  <a:srgbClr val="FFFFFF"/>
                </a:solidFill>
                <a:latin typeface="Calibri" pitchFamily="34" charset="0"/>
                <a:ea typeface="Calibri" pitchFamily="34" charset="-122"/>
                <a:cs typeface="Calibri" pitchFamily="34" charset="-120"/>
              </a:rPr>
              <a:t>5</a:t>
            </a:r>
            <a:endParaRPr lang="en-US" sz="900" dirty="0"/>
          </a:p>
        </p:txBody>
      </p:sp>
      <p:sp>
        <p:nvSpPr>
          <p:cNvPr id="23" name="Text 21"/>
          <p:cNvSpPr/>
          <p:nvPr/>
        </p:nvSpPr>
        <p:spPr>
          <a:xfrm>
            <a:off x="841248" y="4005072"/>
            <a:ext cx="4389120" cy="256032"/>
          </a:xfrm>
          <a:prstGeom prst="rect">
            <a:avLst/>
          </a:prstGeom>
          <a:noFill/>
          <a:ln/>
        </p:spPr>
        <p:txBody>
          <a:bodyPr wrap="square"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Skor Hesabı</a:t>
            </a:r>
            <a:endParaRPr lang="en-US" sz="1100" dirty="0"/>
          </a:p>
        </p:txBody>
      </p:sp>
      <p:sp>
        <p:nvSpPr>
          <p:cNvPr id="24" name="Text 22"/>
          <p:cNvSpPr/>
          <p:nvPr/>
        </p:nvSpPr>
        <p:spPr>
          <a:xfrm>
            <a:off x="841248" y="4261104"/>
            <a:ext cx="4389120" cy="34747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parlaklık×2.4 + merkeze_uzaklık×0.35 + yarıçap_cezası×2.8  →  en düşük skorlu daire kazanır.</a:t>
            </a:r>
            <a:endParaRPr lang="en-US" sz="1000" dirty="0"/>
          </a:p>
        </p:txBody>
      </p:sp>
      <p:sp>
        <p:nvSpPr>
          <p:cNvPr id="25" name="Shape 23"/>
          <p:cNvSpPr/>
          <p:nvPr/>
        </p:nvSpPr>
        <p:spPr>
          <a:xfrm>
            <a:off x="5623560" y="1143000"/>
            <a:ext cx="3246120" cy="3840480"/>
          </a:xfrm>
          <a:prstGeom prst="rect">
            <a:avLst/>
          </a:prstGeom>
          <a:solidFill>
            <a:srgbClr val="040A14"/>
          </a:solidFill>
          <a:ln w="12700">
            <a:solidFill>
              <a:srgbClr val="1E3A5F"/>
            </a:solidFill>
            <a:prstDash val="solid"/>
          </a:ln>
        </p:spPr>
      </p:sp>
      <p:sp>
        <p:nvSpPr>
          <p:cNvPr id="26" name="Text 24"/>
          <p:cNvSpPr/>
          <p:nvPr/>
        </p:nvSpPr>
        <p:spPr>
          <a:xfrm>
            <a:off x="5669280" y="1188720"/>
            <a:ext cx="3154680"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Pupil Tespiti — Görsel</a:t>
            </a:r>
            <a:endParaRPr lang="en-US" sz="1000" dirty="0"/>
          </a:p>
        </p:txBody>
      </p:sp>
      <p:sp>
        <p:nvSpPr>
          <p:cNvPr id="27" name="Shape 25"/>
          <p:cNvSpPr/>
          <p:nvPr/>
        </p:nvSpPr>
        <p:spPr>
          <a:xfrm>
            <a:off x="6382512" y="2011680"/>
            <a:ext cx="1737360" cy="1463040"/>
          </a:xfrm>
          <a:prstGeom prst="ellipse">
            <a:avLst/>
          </a:prstGeom>
          <a:solidFill>
            <a:srgbClr val="070F1C"/>
          </a:solidFill>
          <a:ln w="12700">
            <a:solidFill>
              <a:srgbClr val="1E3A5F"/>
            </a:solidFill>
            <a:prstDash val="solid"/>
          </a:ln>
        </p:spPr>
      </p:sp>
      <p:sp>
        <p:nvSpPr>
          <p:cNvPr id="28" name="Shape 26"/>
          <p:cNvSpPr/>
          <p:nvPr/>
        </p:nvSpPr>
        <p:spPr>
          <a:xfrm>
            <a:off x="6611112" y="2148840"/>
            <a:ext cx="1280160" cy="1188720"/>
          </a:xfrm>
          <a:prstGeom prst="ellipse">
            <a:avLst/>
          </a:prstGeom>
          <a:solidFill>
            <a:srgbClr val="1E3A5F"/>
          </a:solidFill>
          <a:ln w="25400">
            <a:solidFill>
              <a:srgbClr val="F87171"/>
            </a:solidFill>
            <a:prstDash val="solid"/>
          </a:ln>
        </p:spPr>
      </p:sp>
      <p:sp>
        <p:nvSpPr>
          <p:cNvPr id="29" name="Shape 27"/>
          <p:cNvSpPr/>
          <p:nvPr/>
        </p:nvSpPr>
        <p:spPr>
          <a:xfrm>
            <a:off x="6958584" y="2450592"/>
            <a:ext cx="585216" cy="585216"/>
          </a:xfrm>
          <a:prstGeom prst="ellipse">
            <a:avLst/>
          </a:prstGeom>
          <a:solidFill>
            <a:srgbClr val="020608"/>
          </a:solidFill>
          <a:ln w="19050">
            <a:solidFill>
              <a:srgbClr val="F87171"/>
            </a:solidFill>
            <a:prstDash val="solid"/>
          </a:ln>
        </p:spPr>
      </p:sp>
      <p:sp>
        <p:nvSpPr>
          <p:cNvPr id="30" name="Text 28"/>
          <p:cNvSpPr/>
          <p:nvPr/>
        </p:nvSpPr>
        <p:spPr>
          <a:xfrm>
            <a:off x="5669280" y="2670048"/>
            <a:ext cx="1463040" cy="274320"/>
          </a:xfrm>
          <a:prstGeom prst="rect">
            <a:avLst/>
          </a:prstGeom>
          <a:noFill/>
          <a:ln/>
        </p:spPr>
        <p:txBody>
          <a:bodyPr wrap="square" rtlCol="0" anchor="ctr"/>
          <a:lstStyle/>
          <a:p>
            <a:pPr algn="r" indent="0" marL="0">
              <a:buNone/>
            </a:pPr>
            <a:r>
              <a:rPr lang="en-US" sz="950" dirty="0">
                <a:solidFill>
                  <a:srgbClr val="F87171"/>
                </a:solidFill>
                <a:latin typeface="Calibri" pitchFamily="34" charset="0"/>
                <a:ea typeface="Calibri" pitchFamily="34" charset="-122"/>
                <a:cs typeface="Calibri" pitchFamily="34" charset="-120"/>
              </a:rPr>
              <a:t>← Pupil</a:t>
            </a:r>
            <a:endParaRPr lang="en-US" sz="950" dirty="0"/>
          </a:p>
        </p:txBody>
      </p:sp>
      <p:sp>
        <p:nvSpPr>
          <p:cNvPr id="31" name="Text 29"/>
          <p:cNvSpPr/>
          <p:nvPr/>
        </p:nvSpPr>
        <p:spPr>
          <a:xfrm>
            <a:off x="5669280" y="2286000"/>
            <a:ext cx="1463040" cy="274320"/>
          </a:xfrm>
          <a:prstGeom prst="rect">
            <a:avLst/>
          </a:prstGeom>
          <a:noFill/>
          <a:ln/>
        </p:spPr>
        <p:txBody>
          <a:bodyPr wrap="square" rtlCol="0" anchor="ctr"/>
          <a:lstStyle/>
          <a:p>
            <a:pPr algn="r" indent="0" marL="0">
              <a:buNone/>
            </a:pPr>
            <a:r>
              <a:rPr lang="en-US" sz="950" dirty="0">
                <a:solidFill>
                  <a:srgbClr val="38BDF8"/>
                </a:solidFill>
                <a:latin typeface="Calibri" pitchFamily="34" charset="0"/>
                <a:ea typeface="Calibri" pitchFamily="34" charset="-122"/>
                <a:cs typeface="Calibri" pitchFamily="34" charset="-120"/>
              </a:rPr>
              <a:t>← İris</a:t>
            </a:r>
            <a:endParaRPr lang="en-US" sz="950" dirty="0"/>
          </a:p>
        </p:txBody>
      </p:sp>
      <p:sp>
        <p:nvSpPr>
          <p:cNvPr id="32" name="Shape 30"/>
          <p:cNvSpPr/>
          <p:nvPr/>
        </p:nvSpPr>
        <p:spPr>
          <a:xfrm>
            <a:off x="5669280" y="3291840"/>
            <a:ext cx="3108960" cy="777240"/>
          </a:xfrm>
          <a:prstGeom prst="rect">
            <a:avLst/>
          </a:prstGeom>
          <a:solidFill>
            <a:srgbClr val="0F2040"/>
          </a:solidFill>
          <a:ln w="12700">
            <a:solidFill>
              <a:srgbClr val="1E3A5F"/>
            </a:solidFill>
            <a:prstDash val="solid"/>
          </a:ln>
        </p:spPr>
      </p:sp>
      <p:sp>
        <p:nvSpPr>
          <p:cNvPr id="33" name="Text 31"/>
          <p:cNvSpPr/>
          <p:nvPr/>
        </p:nvSpPr>
        <p:spPr>
          <a:xfrm>
            <a:off x="5760720" y="3337560"/>
            <a:ext cx="2926080" cy="228600"/>
          </a:xfrm>
          <a:prstGeom prst="rect">
            <a:avLst/>
          </a:prstGeom>
          <a:noFill/>
          <a:ln/>
        </p:spPr>
        <p:txBody>
          <a:bodyPr wrap="square" rtlCol="0" anchor="ctr"/>
          <a:lstStyle/>
          <a:p>
            <a:pPr indent="0" marL="0">
              <a:buNone/>
            </a:pPr>
            <a:r>
              <a:rPr lang="en-US" sz="950" b="1" dirty="0">
                <a:solidFill>
                  <a:srgbClr val="38BDF8"/>
                </a:solidFill>
                <a:latin typeface="Calibri" pitchFamily="34" charset="0"/>
                <a:ea typeface="Calibri" pitchFamily="34" charset="-122"/>
                <a:cs typeface="Calibri" pitchFamily="34" charset="-120"/>
              </a:rPr>
              <a:t>Skor Formülü:</a:t>
            </a:r>
            <a:endParaRPr lang="en-US" sz="950" dirty="0"/>
          </a:p>
        </p:txBody>
      </p:sp>
      <p:sp>
        <p:nvSpPr>
          <p:cNvPr id="34" name="Text 32"/>
          <p:cNvSpPr/>
          <p:nvPr/>
        </p:nvSpPr>
        <p:spPr>
          <a:xfrm>
            <a:off x="5760720" y="3566160"/>
            <a:ext cx="2926080" cy="475488"/>
          </a:xfrm>
          <a:prstGeom prst="rect">
            <a:avLst/>
          </a:prstGeom>
          <a:noFill/>
          <a:ln/>
        </p:spPr>
        <p:txBody>
          <a:bodyPr wrap="square" rtlCol="0" anchor="ctr"/>
          <a:lstStyle/>
          <a:p>
            <a:pPr indent="0" marL="0">
              <a:buNone/>
            </a:pPr>
            <a:r>
              <a:rPr lang="en-US" sz="900" dirty="0">
                <a:solidFill>
                  <a:srgbClr val="F1F5F9"/>
                </a:solidFill>
                <a:latin typeface="Consolas" pitchFamily="34" charset="0"/>
                <a:ea typeface="Consolas" pitchFamily="34" charset="-122"/>
                <a:cs typeface="Consolas" pitchFamily="34" charset="-120"/>
              </a:rPr>
              <a:t>parlak × 2.4</a:t>
            </a:r>
            <a:endParaRPr lang="en-US" sz="900" dirty="0"/>
          </a:p>
          <a:p>
            <a:pPr indent="0" marL="0">
              <a:buNone/>
            </a:pPr>
            <a:r>
              <a:rPr lang="en-US" sz="900" dirty="0">
                <a:solidFill>
                  <a:srgbClr val="F1F5F9"/>
                </a:solidFill>
                <a:latin typeface="Consolas" pitchFamily="34" charset="0"/>
                <a:ea typeface="Consolas" pitchFamily="34" charset="-122"/>
                <a:cs typeface="Consolas" pitchFamily="34" charset="-120"/>
              </a:rPr>
              <a:t>+ merkez_uzaklık × 0.35</a:t>
            </a:r>
            <a:endParaRPr lang="en-US" sz="900" dirty="0"/>
          </a:p>
          <a:p>
            <a:pPr indent="0" marL="0">
              <a:buNone/>
            </a:pPr>
            <a:r>
              <a:rPr lang="en-US" sz="900" dirty="0">
                <a:solidFill>
                  <a:srgbClr val="F1F5F9"/>
                </a:solidFill>
                <a:latin typeface="Consolas" pitchFamily="34" charset="0"/>
                <a:ea typeface="Consolas" pitchFamily="34" charset="-122"/>
                <a:cs typeface="Consolas" pitchFamily="34" charset="-120"/>
              </a:rPr>
              <a:t>+ yarıçap_cezası × 2.8</a:t>
            </a:r>
            <a:endParaRPr lang="en-US" sz="900" dirty="0"/>
          </a:p>
        </p:txBody>
      </p:sp>
      <p:sp>
        <p:nvSpPr>
          <p:cNvPr id="35" name="Shape 33"/>
          <p:cNvSpPr/>
          <p:nvPr/>
        </p:nvSpPr>
        <p:spPr>
          <a:xfrm>
            <a:off x="5669280" y="4160520"/>
            <a:ext cx="3108960" cy="685800"/>
          </a:xfrm>
          <a:prstGeom prst="rect">
            <a:avLst/>
          </a:prstGeom>
          <a:solidFill>
            <a:srgbClr val="0A1525"/>
          </a:solidFill>
          <a:ln w="10160">
            <a:solidFill>
              <a:srgbClr val="1E3A5F"/>
            </a:solidFill>
            <a:prstDash val="solid"/>
          </a:ln>
        </p:spPr>
      </p:sp>
      <p:sp>
        <p:nvSpPr>
          <p:cNvPr id="36" name="Text 34"/>
          <p:cNvSpPr/>
          <p:nvPr/>
        </p:nvSpPr>
        <p:spPr>
          <a:xfrm>
            <a:off x="5760720" y="4178808"/>
            <a:ext cx="2926080" cy="649224"/>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Neden bu skor?</a:t>
            </a:r>
            <a:endParaRPr lang="en-US" sz="950" dirty="0"/>
          </a:p>
          <a:p>
            <a:pPr indent="0" marL="0">
              <a:buNone/>
            </a:pPr>
            <a:r>
              <a:rPr lang="en-US" sz="950" dirty="0">
                <a:solidFill>
                  <a:srgbClr val="64748B"/>
                </a:solidFill>
                <a:latin typeface="Calibri" pitchFamily="34" charset="0"/>
                <a:ea typeface="Calibri" pitchFamily="34" charset="-122"/>
                <a:cs typeface="Calibri" pitchFamily="34" charset="-120"/>
              </a:rPr>
              <a:t>Sadece Hough bulmak yetmez — yanlış daire adaylarını elemek için çok kriterli değerlendirme şart.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70E1B"/>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Adım 3  —  İris Sınırı Tespiti</a:t>
            </a:r>
            <a:endParaRPr lang="en-US" sz="3200" dirty="0"/>
          </a:p>
        </p:txBody>
      </p:sp>
      <p:sp>
        <p:nvSpPr>
          <p:cNvPr id="3" name="Text 1"/>
          <p:cNvSpPr/>
          <p:nvPr/>
        </p:nvSpPr>
        <p:spPr>
          <a:xfrm>
            <a:off x="457200" y="749808"/>
            <a:ext cx="8229600" cy="292608"/>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iris_bul() fonksiyonu — Sobel gradyanı + halka kontrast optimizasyonu</a:t>
            </a:r>
            <a:endParaRPr lang="en-US" sz="1300" dirty="0"/>
          </a:p>
        </p:txBody>
      </p:sp>
      <p:sp>
        <p:nvSpPr>
          <p:cNvPr id="4" name="Shape 2"/>
          <p:cNvSpPr/>
          <p:nvPr/>
        </p:nvSpPr>
        <p:spPr>
          <a:xfrm>
            <a:off x="365760" y="1143000"/>
            <a:ext cx="5303520" cy="3840480"/>
          </a:xfrm>
          <a:prstGeom prst="rect">
            <a:avLst/>
          </a:prstGeom>
          <a:solidFill>
            <a:srgbClr val="0C1829"/>
          </a:solidFill>
          <a:ln w="19050">
            <a:solidFill>
              <a:srgbClr val="34D399"/>
            </a:solidFill>
            <a:prstDash val="solid"/>
          </a:ln>
        </p:spPr>
      </p:sp>
      <p:sp>
        <p:nvSpPr>
          <p:cNvPr id="5" name="Shape 3"/>
          <p:cNvSpPr/>
          <p:nvPr/>
        </p:nvSpPr>
        <p:spPr>
          <a:xfrm>
            <a:off x="502920" y="1298448"/>
            <a:ext cx="274320" cy="256032"/>
          </a:xfrm>
          <a:prstGeom prst="roundRect">
            <a:avLst>
              <a:gd name="adj" fmla="val 14286"/>
            </a:avLst>
          </a:prstGeom>
          <a:solidFill>
            <a:srgbClr val="34D399"/>
          </a:solidFill>
          <a:ln w="12700">
            <a:solidFill>
              <a:srgbClr val="34D399"/>
            </a:solidFill>
            <a:prstDash val="solid"/>
          </a:ln>
        </p:spPr>
      </p:sp>
      <p:sp>
        <p:nvSpPr>
          <p:cNvPr id="6" name="Text 4"/>
          <p:cNvSpPr/>
          <p:nvPr/>
        </p:nvSpPr>
        <p:spPr>
          <a:xfrm>
            <a:off x="502920" y="1298448"/>
            <a:ext cx="274320" cy="256032"/>
          </a:xfrm>
          <a:prstGeom prst="rect">
            <a:avLst/>
          </a:prstGeom>
          <a:noFill/>
          <a:ln/>
        </p:spPr>
        <p:txBody>
          <a:bodyPr wrap="square" rtlCol="0" anchor="ctr"/>
          <a:lstStyle/>
          <a:p>
            <a:pPr algn="ctr" indent="0" marL="0">
              <a:buNone/>
            </a:pPr>
            <a:r>
              <a:rPr lang="en-US" sz="900" b="1" dirty="0">
                <a:solidFill>
                  <a:srgbClr val="030810"/>
                </a:solidFill>
                <a:latin typeface="Calibri" pitchFamily="34" charset="0"/>
                <a:ea typeface="Calibri" pitchFamily="34" charset="-122"/>
                <a:cs typeface="Calibri" pitchFamily="34" charset="-120"/>
              </a:rPr>
              <a:t>1</a:t>
            </a:r>
            <a:endParaRPr lang="en-US" sz="900" dirty="0"/>
          </a:p>
        </p:txBody>
      </p:sp>
      <p:sp>
        <p:nvSpPr>
          <p:cNvPr id="7" name="Text 5"/>
          <p:cNvSpPr/>
          <p:nvPr/>
        </p:nvSpPr>
        <p:spPr>
          <a:xfrm>
            <a:off x="859536" y="1261872"/>
            <a:ext cx="4663440" cy="256032"/>
          </a:xfrm>
          <a:prstGeom prst="rect">
            <a:avLst/>
          </a:prstGeom>
          <a:noFill/>
          <a:ln/>
        </p:spPr>
        <p:txBody>
          <a:bodyPr wrap="square"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Arama Aralığı</a:t>
            </a:r>
            <a:endParaRPr lang="en-US" sz="1100" dirty="0"/>
          </a:p>
        </p:txBody>
      </p:sp>
      <p:sp>
        <p:nvSpPr>
          <p:cNvPr id="8" name="Text 6"/>
          <p:cNvSpPr/>
          <p:nvPr/>
        </p:nvSpPr>
        <p:spPr>
          <a:xfrm>
            <a:off x="859536" y="1517904"/>
            <a:ext cx="466344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Pupil yarıçapından türetilir: min = pupil_r × 2.0, max = pupil_r × 3.8. Bu oran literatürden alındı.</a:t>
            </a:r>
            <a:endParaRPr lang="en-US" sz="1000" dirty="0"/>
          </a:p>
        </p:txBody>
      </p:sp>
      <p:sp>
        <p:nvSpPr>
          <p:cNvPr id="9" name="Shape 7"/>
          <p:cNvSpPr/>
          <p:nvPr/>
        </p:nvSpPr>
        <p:spPr>
          <a:xfrm>
            <a:off x="502920" y="1993392"/>
            <a:ext cx="274320" cy="256032"/>
          </a:xfrm>
          <a:prstGeom prst="roundRect">
            <a:avLst>
              <a:gd name="adj" fmla="val 14286"/>
            </a:avLst>
          </a:prstGeom>
          <a:solidFill>
            <a:srgbClr val="34D399"/>
          </a:solidFill>
          <a:ln w="12700">
            <a:solidFill>
              <a:srgbClr val="34D399"/>
            </a:solidFill>
            <a:prstDash val="solid"/>
          </a:ln>
        </p:spPr>
      </p:sp>
      <p:sp>
        <p:nvSpPr>
          <p:cNvPr id="10" name="Text 8"/>
          <p:cNvSpPr/>
          <p:nvPr/>
        </p:nvSpPr>
        <p:spPr>
          <a:xfrm>
            <a:off x="502920" y="1993392"/>
            <a:ext cx="274320" cy="256032"/>
          </a:xfrm>
          <a:prstGeom prst="rect">
            <a:avLst/>
          </a:prstGeom>
          <a:noFill/>
          <a:ln/>
        </p:spPr>
        <p:txBody>
          <a:bodyPr wrap="square" rtlCol="0" anchor="ctr"/>
          <a:lstStyle/>
          <a:p>
            <a:pPr algn="ctr" indent="0" marL="0">
              <a:buNone/>
            </a:pPr>
            <a:r>
              <a:rPr lang="en-US" sz="900" b="1" dirty="0">
                <a:solidFill>
                  <a:srgbClr val="030810"/>
                </a:solidFill>
                <a:latin typeface="Calibri" pitchFamily="34" charset="0"/>
                <a:ea typeface="Calibri" pitchFamily="34" charset="-122"/>
                <a:cs typeface="Calibri" pitchFamily="34" charset="-120"/>
              </a:rPr>
              <a:t>2</a:t>
            </a:r>
            <a:endParaRPr lang="en-US" sz="900" dirty="0"/>
          </a:p>
        </p:txBody>
      </p:sp>
      <p:sp>
        <p:nvSpPr>
          <p:cNvPr id="11" name="Text 9"/>
          <p:cNvSpPr/>
          <p:nvPr/>
        </p:nvSpPr>
        <p:spPr>
          <a:xfrm>
            <a:off x="859536" y="1956816"/>
            <a:ext cx="4663440" cy="256032"/>
          </a:xfrm>
          <a:prstGeom prst="rect">
            <a:avLst/>
          </a:prstGeom>
          <a:noFill/>
          <a:ln/>
        </p:spPr>
        <p:txBody>
          <a:bodyPr wrap="square"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Dairesel Kenar Skoru</a:t>
            </a:r>
            <a:endParaRPr lang="en-US" sz="1100" dirty="0"/>
          </a:p>
        </p:txBody>
      </p:sp>
      <p:sp>
        <p:nvSpPr>
          <p:cNvPr id="12" name="Text 10"/>
          <p:cNvSpPr/>
          <p:nvPr/>
        </p:nvSpPr>
        <p:spPr>
          <a:xfrm>
            <a:off x="859536" y="2212848"/>
            <a:ext cx="466344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Her aday yarıçap için Sobel gradyanı 240 farklı açıda örneklenir. Dikey açılara (göz kapağı bölgesi) daha az ağırlık verilir — kirpik yanılmasını önler.</a:t>
            </a:r>
            <a:endParaRPr lang="en-US" sz="1000" dirty="0"/>
          </a:p>
        </p:txBody>
      </p:sp>
      <p:sp>
        <p:nvSpPr>
          <p:cNvPr id="13" name="Shape 11"/>
          <p:cNvSpPr/>
          <p:nvPr/>
        </p:nvSpPr>
        <p:spPr>
          <a:xfrm>
            <a:off x="502920" y="2688336"/>
            <a:ext cx="274320" cy="256032"/>
          </a:xfrm>
          <a:prstGeom prst="roundRect">
            <a:avLst>
              <a:gd name="adj" fmla="val 14286"/>
            </a:avLst>
          </a:prstGeom>
          <a:solidFill>
            <a:srgbClr val="34D399"/>
          </a:solidFill>
          <a:ln w="12700">
            <a:solidFill>
              <a:srgbClr val="34D399"/>
            </a:solidFill>
            <a:prstDash val="solid"/>
          </a:ln>
        </p:spPr>
      </p:sp>
      <p:sp>
        <p:nvSpPr>
          <p:cNvPr id="14" name="Text 12"/>
          <p:cNvSpPr/>
          <p:nvPr/>
        </p:nvSpPr>
        <p:spPr>
          <a:xfrm>
            <a:off x="502920" y="2688336"/>
            <a:ext cx="274320" cy="256032"/>
          </a:xfrm>
          <a:prstGeom prst="rect">
            <a:avLst/>
          </a:prstGeom>
          <a:noFill/>
          <a:ln/>
        </p:spPr>
        <p:txBody>
          <a:bodyPr wrap="square" rtlCol="0" anchor="ctr"/>
          <a:lstStyle/>
          <a:p>
            <a:pPr algn="ctr" indent="0" marL="0">
              <a:buNone/>
            </a:pPr>
            <a:r>
              <a:rPr lang="en-US" sz="900" b="1" dirty="0">
                <a:solidFill>
                  <a:srgbClr val="030810"/>
                </a:solidFill>
                <a:latin typeface="Calibri" pitchFamily="34" charset="0"/>
                <a:ea typeface="Calibri" pitchFamily="34" charset="-122"/>
                <a:cs typeface="Calibri" pitchFamily="34" charset="-120"/>
              </a:rPr>
              <a:t>3</a:t>
            </a:r>
            <a:endParaRPr lang="en-US" sz="900" dirty="0"/>
          </a:p>
        </p:txBody>
      </p:sp>
      <p:sp>
        <p:nvSpPr>
          <p:cNvPr id="15" name="Text 13"/>
          <p:cNvSpPr/>
          <p:nvPr/>
        </p:nvSpPr>
        <p:spPr>
          <a:xfrm>
            <a:off x="859536" y="2651760"/>
            <a:ext cx="4663440" cy="256032"/>
          </a:xfrm>
          <a:prstGeom prst="rect">
            <a:avLst/>
          </a:prstGeom>
          <a:noFill/>
          <a:ln/>
        </p:spPr>
        <p:txBody>
          <a:bodyPr wrap="square"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Halka Kontrast Skoru</a:t>
            </a:r>
            <a:endParaRPr lang="en-US" sz="1100" dirty="0"/>
          </a:p>
        </p:txBody>
      </p:sp>
      <p:sp>
        <p:nvSpPr>
          <p:cNvPr id="16" name="Text 14"/>
          <p:cNvSpPr/>
          <p:nvPr/>
        </p:nvSpPr>
        <p:spPr>
          <a:xfrm>
            <a:off x="859536" y="2907792"/>
            <a:ext cx="466344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Dairenin hemen içi ve dışı karşılaştırılır. İris ile sklerа (beyaz) arasındaki parlaklık farkı ölçülür.</a:t>
            </a:r>
            <a:endParaRPr lang="en-US" sz="1000" dirty="0"/>
          </a:p>
        </p:txBody>
      </p:sp>
      <p:sp>
        <p:nvSpPr>
          <p:cNvPr id="17" name="Shape 15"/>
          <p:cNvSpPr/>
          <p:nvPr/>
        </p:nvSpPr>
        <p:spPr>
          <a:xfrm>
            <a:off x="502920" y="3383280"/>
            <a:ext cx="274320" cy="256032"/>
          </a:xfrm>
          <a:prstGeom prst="roundRect">
            <a:avLst>
              <a:gd name="adj" fmla="val 14286"/>
            </a:avLst>
          </a:prstGeom>
          <a:solidFill>
            <a:srgbClr val="34D399"/>
          </a:solidFill>
          <a:ln w="12700">
            <a:solidFill>
              <a:srgbClr val="34D399"/>
            </a:solidFill>
            <a:prstDash val="solid"/>
          </a:ln>
        </p:spPr>
      </p:sp>
      <p:sp>
        <p:nvSpPr>
          <p:cNvPr id="18" name="Text 16"/>
          <p:cNvSpPr/>
          <p:nvPr/>
        </p:nvSpPr>
        <p:spPr>
          <a:xfrm>
            <a:off x="502920" y="3383280"/>
            <a:ext cx="274320" cy="256032"/>
          </a:xfrm>
          <a:prstGeom prst="rect">
            <a:avLst/>
          </a:prstGeom>
          <a:noFill/>
          <a:ln/>
        </p:spPr>
        <p:txBody>
          <a:bodyPr wrap="square" rtlCol="0" anchor="ctr"/>
          <a:lstStyle/>
          <a:p>
            <a:pPr algn="ctr" indent="0" marL="0">
              <a:buNone/>
            </a:pPr>
            <a:r>
              <a:rPr lang="en-US" sz="900" b="1" dirty="0">
                <a:solidFill>
                  <a:srgbClr val="030810"/>
                </a:solidFill>
                <a:latin typeface="Calibri" pitchFamily="34" charset="0"/>
                <a:ea typeface="Calibri" pitchFamily="34" charset="-122"/>
                <a:cs typeface="Calibri" pitchFamily="34" charset="-120"/>
              </a:rPr>
              <a:t>4</a:t>
            </a:r>
            <a:endParaRPr lang="en-US" sz="900" dirty="0"/>
          </a:p>
        </p:txBody>
      </p:sp>
      <p:sp>
        <p:nvSpPr>
          <p:cNvPr id="19" name="Text 17"/>
          <p:cNvSpPr/>
          <p:nvPr/>
        </p:nvSpPr>
        <p:spPr>
          <a:xfrm>
            <a:off x="859536" y="3346704"/>
            <a:ext cx="4663440" cy="256032"/>
          </a:xfrm>
          <a:prstGeom prst="rect">
            <a:avLst/>
          </a:prstGeom>
          <a:noFill/>
          <a:ln/>
        </p:spPr>
        <p:txBody>
          <a:bodyPr wrap="square"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Ağırlıklı Final Skor</a:t>
            </a:r>
            <a:endParaRPr lang="en-US" sz="1100" dirty="0"/>
          </a:p>
        </p:txBody>
      </p:sp>
      <p:sp>
        <p:nvSpPr>
          <p:cNvPr id="20" name="Text 18"/>
          <p:cNvSpPr/>
          <p:nvPr/>
        </p:nvSpPr>
        <p:spPr>
          <a:xfrm>
            <a:off x="859536" y="3602736"/>
            <a:ext cx="466344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toplam = 0.82 × kenar_skoru + 0.18 × kontrast_skoru − küçük_yarıçap_cezası</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En yüksek skorlu yarıçap iris sınırı olarak kabul edilir.</a:t>
            </a:r>
            <a:endParaRPr lang="en-US" sz="1000" dirty="0"/>
          </a:p>
        </p:txBody>
      </p:sp>
      <p:sp>
        <p:nvSpPr>
          <p:cNvPr id="21" name="Shape 19"/>
          <p:cNvSpPr/>
          <p:nvPr/>
        </p:nvSpPr>
        <p:spPr>
          <a:xfrm>
            <a:off x="502920" y="4078224"/>
            <a:ext cx="274320" cy="256032"/>
          </a:xfrm>
          <a:prstGeom prst="roundRect">
            <a:avLst>
              <a:gd name="adj" fmla="val 14286"/>
            </a:avLst>
          </a:prstGeom>
          <a:solidFill>
            <a:srgbClr val="34D399"/>
          </a:solidFill>
          <a:ln w="12700">
            <a:solidFill>
              <a:srgbClr val="34D399"/>
            </a:solidFill>
            <a:prstDash val="solid"/>
          </a:ln>
        </p:spPr>
      </p:sp>
      <p:sp>
        <p:nvSpPr>
          <p:cNvPr id="22" name="Text 20"/>
          <p:cNvSpPr/>
          <p:nvPr/>
        </p:nvSpPr>
        <p:spPr>
          <a:xfrm>
            <a:off x="502920" y="4078224"/>
            <a:ext cx="274320" cy="256032"/>
          </a:xfrm>
          <a:prstGeom prst="rect">
            <a:avLst/>
          </a:prstGeom>
          <a:noFill/>
          <a:ln/>
        </p:spPr>
        <p:txBody>
          <a:bodyPr wrap="square" rtlCol="0" anchor="ctr"/>
          <a:lstStyle/>
          <a:p>
            <a:pPr algn="ctr" indent="0" marL="0">
              <a:buNone/>
            </a:pPr>
            <a:r>
              <a:rPr lang="en-US" sz="900" b="1" dirty="0">
                <a:solidFill>
                  <a:srgbClr val="030810"/>
                </a:solidFill>
                <a:latin typeface="Calibri" pitchFamily="34" charset="0"/>
                <a:ea typeface="Calibri" pitchFamily="34" charset="-122"/>
                <a:cs typeface="Calibri" pitchFamily="34" charset="-120"/>
              </a:rPr>
              <a:t>5</a:t>
            </a:r>
            <a:endParaRPr lang="en-US" sz="900" dirty="0"/>
          </a:p>
        </p:txBody>
      </p:sp>
      <p:sp>
        <p:nvSpPr>
          <p:cNvPr id="23" name="Text 21"/>
          <p:cNvSpPr/>
          <p:nvPr/>
        </p:nvSpPr>
        <p:spPr>
          <a:xfrm>
            <a:off x="859536" y="4041648"/>
            <a:ext cx="4663440" cy="256032"/>
          </a:xfrm>
          <a:prstGeom prst="rect">
            <a:avLst/>
          </a:prstGeom>
          <a:noFill/>
          <a:ln/>
        </p:spPr>
        <p:txBody>
          <a:bodyPr wrap="square" rtlCol="0" anchor="ctr"/>
          <a:lstStyle/>
          <a:p>
            <a:pPr indent="0" marL="0">
              <a:buNone/>
            </a:pPr>
            <a:r>
              <a:rPr lang="en-US" sz="1100" b="1" dirty="0">
                <a:solidFill>
                  <a:srgbClr val="F1F5F9"/>
                </a:solidFill>
                <a:latin typeface="Calibri" pitchFamily="34" charset="0"/>
                <a:ea typeface="Calibri" pitchFamily="34" charset="-122"/>
                <a:cs typeface="Calibri" pitchFamily="34" charset="-120"/>
              </a:rPr>
              <a:t>Göz Kapağı Maskesi</a:t>
            </a:r>
            <a:endParaRPr lang="en-US" sz="1100" dirty="0"/>
          </a:p>
        </p:txBody>
      </p:sp>
      <p:sp>
        <p:nvSpPr>
          <p:cNvPr id="24" name="Text 22"/>
          <p:cNvSpPr/>
          <p:nvPr/>
        </p:nvSpPr>
        <p:spPr>
          <a:xfrm>
            <a:off x="859536" y="4297680"/>
            <a:ext cx="4663440" cy="3657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Tespit edilen iris üzerinde üst/alt bölge maskelenir. Kirpik ve göz kapağı kaynaklı piksel gürültüsü sonraki adımlara taşınmaz.</a:t>
            </a:r>
            <a:endParaRPr lang="en-US" sz="1000" dirty="0"/>
          </a:p>
        </p:txBody>
      </p:sp>
      <p:sp>
        <p:nvSpPr>
          <p:cNvPr id="25" name="Shape 23"/>
          <p:cNvSpPr/>
          <p:nvPr/>
        </p:nvSpPr>
        <p:spPr>
          <a:xfrm>
            <a:off x="5852160" y="1143000"/>
            <a:ext cx="3017520" cy="1920240"/>
          </a:xfrm>
          <a:prstGeom prst="rect">
            <a:avLst/>
          </a:prstGeom>
          <a:solidFill>
            <a:srgbClr val="040A14"/>
          </a:solidFill>
          <a:ln w="12700">
            <a:solidFill>
              <a:srgbClr val="1E3A5F"/>
            </a:solidFill>
            <a:prstDash val="solid"/>
          </a:ln>
        </p:spPr>
      </p:sp>
      <p:sp>
        <p:nvSpPr>
          <p:cNvPr id="26" name="Text 24"/>
          <p:cNvSpPr/>
          <p:nvPr/>
        </p:nvSpPr>
        <p:spPr>
          <a:xfrm>
            <a:off x="5943600" y="1188720"/>
            <a:ext cx="2834640" cy="27432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Skor Formülü</a:t>
            </a:r>
            <a:endParaRPr lang="en-US" sz="1000" dirty="0"/>
          </a:p>
        </p:txBody>
      </p:sp>
      <p:sp>
        <p:nvSpPr>
          <p:cNvPr id="27" name="Text 25"/>
          <p:cNvSpPr/>
          <p:nvPr/>
        </p:nvSpPr>
        <p:spPr>
          <a:xfrm>
            <a:off x="5943600" y="1508760"/>
            <a:ext cx="2834640" cy="594360"/>
          </a:xfrm>
          <a:prstGeom prst="rect">
            <a:avLst/>
          </a:prstGeom>
          <a:noFill/>
          <a:ln/>
        </p:spPr>
        <p:txBody>
          <a:bodyPr wrap="square" rtlCol="0" anchor="ctr"/>
          <a:lstStyle/>
          <a:p>
            <a:pPr indent="0" marL="0">
              <a:buNone/>
            </a:pPr>
            <a:r>
              <a:rPr lang="en-US" sz="1100" dirty="0">
                <a:solidFill>
                  <a:srgbClr val="34D399"/>
                </a:solidFill>
                <a:latin typeface="Consolas" pitchFamily="34" charset="0"/>
                <a:ea typeface="Consolas" pitchFamily="34" charset="-122"/>
                <a:cs typeface="Consolas" pitchFamily="34" charset="-120"/>
              </a:rPr>
              <a:t>S = 0.82 × kenar</a:t>
            </a:r>
            <a:endParaRPr lang="en-US" sz="1100" dirty="0"/>
          </a:p>
          <a:p>
            <a:pPr indent="0" marL="0">
              <a:buNone/>
            </a:pPr>
            <a:r>
              <a:rPr lang="en-US" sz="1100" dirty="0">
                <a:solidFill>
                  <a:srgbClr val="34D399"/>
                </a:solidFill>
                <a:latin typeface="Consolas" pitchFamily="34" charset="0"/>
                <a:ea typeface="Consolas" pitchFamily="34" charset="-122"/>
                <a:cs typeface="Consolas" pitchFamily="34" charset="-120"/>
              </a:rPr>
              <a:t>    + 0.18 × kontrast</a:t>
            </a:r>
            <a:endParaRPr lang="en-US" sz="1100" dirty="0"/>
          </a:p>
          <a:p>
            <a:pPr indent="0" marL="0">
              <a:buNone/>
            </a:pPr>
            <a:r>
              <a:rPr lang="en-US" sz="1100" dirty="0">
                <a:solidFill>
                  <a:srgbClr val="34D399"/>
                </a:solidFill>
                <a:latin typeface="Consolas" pitchFamily="34" charset="0"/>
                <a:ea typeface="Consolas" pitchFamily="34" charset="-122"/>
                <a:cs typeface="Consolas" pitchFamily="34" charset="-120"/>
              </a:rPr>
              <a:t>    − r_küçük_ceza</a:t>
            </a:r>
            <a:endParaRPr lang="en-US" sz="1100" dirty="0"/>
          </a:p>
        </p:txBody>
      </p:sp>
      <p:sp>
        <p:nvSpPr>
          <p:cNvPr id="28" name="Text 26"/>
          <p:cNvSpPr/>
          <p:nvPr/>
        </p:nvSpPr>
        <p:spPr>
          <a:xfrm>
            <a:off x="5943600" y="2148840"/>
            <a:ext cx="2834640" cy="8229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240 açıda örnekleme</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Dikey açılar ağırlık: ×0.4</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Yatay açılar ağırlık: ×1.0</a:t>
            </a:r>
            <a:endParaRPr lang="en-US" sz="1000" dirty="0"/>
          </a:p>
        </p:txBody>
      </p:sp>
      <p:sp>
        <p:nvSpPr>
          <p:cNvPr id="29" name="Shape 27"/>
          <p:cNvSpPr/>
          <p:nvPr/>
        </p:nvSpPr>
        <p:spPr>
          <a:xfrm>
            <a:off x="5852160" y="3154680"/>
            <a:ext cx="3017520" cy="1828800"/>
          </a:xfrm>
          <a:prstGeom prst="rect">
            <a:avLst/>
          </a:prstGeom>
          <a:solidFill>
            <a:srgbClr val="040A14"/>
          </a:solidFill>
          <a:ln w="12700">
            <a:solidFill>
              <a:srgbClr val="1E3A5F"/>
            </a:solidFill>
            <a:prstDash val="solid"/>
          </a:ln>
        </p:spPr>
      </p:sp>
      <p:sp>
        <p:nvSpPr>
          <p:cNvPr id="30" name="Shape 28"/>
          <p:cNvSpPr/>
          <p:nvPr/>
        </p:nvSpPr>
        <p:spPr>
          <a:xfrm>
            <a:off x="6492240" y="3383280"/>
            <a:ext cx="1737360" cy="1371600"/>
          </a:xfrm>
          <a:prstGeom prst="ellipse">
            <a:avLst/>
          </a:prstGeom>
          <a:solidFill>
            <a:srgbClr val="0B1929"/>
          </a:solidFill>
          <a:ln w="25400">
            <a:solidFill>
              <a:srgbClr val="34D399"/>
            </a:solidFill>
            <a:prstDash val="solid"/>
          </a:ln>
        </p:spPr>
      </p:sp>
      <p:sp>
        <p:nvSpPr>
          <p:cNvPr id="31" name="Shape 29"/>
          <p:cNvSpPr/>
          <p:nvPr/>
        </p:nvSpPr>
        <p:spPr>
          <a:xfrm>
            <a:off x="6858000" y="3657600"/>
            <a:ext cx="1005840" cy="822960"/>
          </a:xfrm>
          <a:prstGeom prst="ellipse">
            <a:avLst/>
          </a:prstGeom>
          <a:solidFill>
            <a:srgbClr val="060F1C"/>
          </a:solidFill>
          <a:ln w="19050">
            <a:solidFill>
              <a:srgbClr val="818CF8"/>
            </a:solidFill>
            <a:prstDash val="solid"/>
          </a:ln>
        </p:spPr>
      </p:sp>
      <p:sp>
        <p:nvSpPr>
          <p:cNvPr id="32" name="Shape 30"/>
          <p:cNvSpPr/>
          <p:nvPr/>
        </p:nvSpPr>
        <p:spPr>
          <a:xfrm>
            <a:off x="7132320" y="3867912"/>
            <a:ext cx="457200" cy="402336"/>
          </a:xfrm>
          <a:prstGeom prst="ellipse">
            <a:avLst/>
          </a:prstGeom>
          <a:solidFill>
            <a:srgbClr val="020608"/>
          </a:solidFill>
          <a:ln w="12700">
            <a:solidFill>
              <a:srgbClr val="F87171"/>
            </a:solidFill>
            <a:prstDash val="solid"/>
          </a:ln>
        </p:spPr>
      </p:sp>
      <p:sp>
        <p:nvSpPr>
          <p:cNvPr id="33" name="Text 31"/>
          <p:cNvSpPr/>
          <p:nvPr/>
        </p:nvSpPr>
        <p:spPr>
          <a:xfrm>
            <a:off x="5852160" y="3200400"/>
            <a:ext cx="1005840" cy="256032"/>
          </a:xfrm>
          <a:prstGeom prst="rect">
            <a:avLst/>
          </a:prstGeom>
          <a:noFill/>
          <a:ln/>
        </p:spPr>
        <p:txBody>
          <a:bodyPr wrap="square" rtlCol="0" anchor="ctr"/>
          <a:lstStyle/>
          <a:p>
            <a:pPr indent="0" marL="0">
              <a:buNone/>
            </a:pPr>
            <a:r>
              <a:rPr lang="en-US" sz="800" dirty="0">
                <a:solidFill>
                  <a:srgbClr val="34D399"/>
                </a:solidFill>
                <a:latin typeface="Calibri" pitchFamily="34" charset="0"/>
                <a:ea typeface="Calibri" pitchFamily="34" charset="-122"/>
                <a:cs typeface="Calibri" pitchFamily="34" charset="-120"/>
              </a:rPr>
              <a:t>İris sınırı</a:t>
            </a:r>
            <a:endParaRPr lang="en-US" sz="800" dirty="0"/>
          </a:p>
        </p:txBody>
      </p:sp>
      <p:sp>
        <p:nvSpPr>
          <p:cNvPr id="34" name="Text 32"/>
          <p:cNvSpPr/>
          <p:nvPr/>
        </p:nvSpPr>
        <p:spPr>
          <a:xfrm>
            <a:off x="5852160" y="3703320"/>
            <a:ext cx="822960" cy="256032"/>
          </a:xfrm>
          <a:prstGeom prst="rect">
            <a:avLst/>
          </a:prstGeom>
          <a:noFill/>
          <a:ln/>
        </p:spPr>
        <p:txBody>
          <a:bodyPr wrap="square" rtlCol="0" anchor="ctr"/>
          <a:lstStyle/>
          <a:p>
            <a:pPr indent="0" marL="0">
              <a:buNone/>
            </a:pPr>
            <a:r>
              <a:rPr lang="en-US" sz="800" dirty="0">
                <a:solidFill>
                  <a:srgbClr val="F87171"/>
                </a:solidFill>
                <a:latin typeface="Calibri" pitchFamily="34" charset="0"/>
                <a:ea typeface="Calibri" pitchFamily="34" charset="-122"/>
                <a:cs typeface="Calibri" pitchFamily="34" charset="-120"/>
              </a:rPr>
              <a:t>Pupil</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70E1B"/>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Adım 4  —  Polar Normalizasyon</a:t>
            </a:r>
            <a:endParaRPr lang="en-US" sz="3200" dirty="0"/>
          </a:p>
        </p:txBody>
      </p:sp>
      <p:sp>
        <p:nvSpPr>
          <p:cNvPr id="3" name="Text 1"/>
          <p:cNvSpPr/>
          <p:nvPr/>
        </p:nvSpPr>
        <p:spPr>
          <a:xfrm>
            <a:off x="457200" y="749808"/>
            <a:ext cx="8229600" cy="292608"/>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polar_normallestir() — Daugman Rubber Sheet Modeli</a:t>
            </a:r>
            <a:endParaRPr lang="en-US" sz="1300" dirty="0"/>
          </a:p>
        </p:txBody>
      </p:sp>
      <p:sp>
        <p:nvSpPr>
          <p:cNvPr id="4" name="Shape 2"/>
          <p:cNvSpPr/>
          <p:nvPr/>
        </p:nvSpPr>
        <p:spPr>
          <a:xfrm>
            <a:off x="365760" y="1097280"/>
            <a:ext cx="8412480" cy="548640"/>
          </a:xfrm>
          <a:prstGeom prst="rect">
            <a:avLst/>
          </a:prstGeom>
          <a:solidFill>
            <a:srgbClr val="0F2040"/>
          </a:solidFill>
          <a:ln w="19050">
            <a:solidFill>
              <a:srgbClr val="38BDF8"/>
            </a:solidFill>
            <a:prstDash val="solid"/>
          </a:ln>
        </p:spPr>
      </p:sp>
      <p:sp>
        <p:nvSpPr>
          <p:cNvPr id="5" name="Text 3"/>
          <p:cNvSpPr/>
          <p:nvPr/>
        </p:nvSpPr>
        <p:spPr>
          <a:xfrm>
            <a:off x="502920" y="1124712"/>
            <a:ext cx="8138160" cy="493776"/>
          </a:xfrm>
          <a:prstGeom prst="rect">
            <a:avLst/>
          </a:prstGeom>
          <a:noFill/>
          <a:ln/>
        </p:spPr>
        <p:txBody>
          <a:bodyPr wrap="square" rtlCol="0" anchor="ctr"/>
          <a:lstStyle/>
          <a:p>
            <a:pPr indent="0" marL="0">
              <a:buNone/>
            </a:pPr>
            <a:r>
              <a:rPr lang="en-US" sz="1200" dirty="0">
                <a:solidFill>
                  <a:srgbClr val="F1F5F9"/>
                </a:solidFill>
                <a:latin typeface="Calibri" pitchFamily="34" charset="0"/>
                <a:ea typeface="Calibri" pitchFamily="34" charset="-122"/>
                <a:cs typeface="Calibri" pitchFamily="34" charset="-120"/>
              </a:rPr>
              <a:t>❓  Problem:  Aynı kişinin gözü her fotoğrafta farklı boyut ve açıda görünür. Doğrudan karşılaştırma yapılamaz.</a:t>
            </a:r>
            <a:endParaRPr lang="en-US" sz="1200" dirty="0"/>
          </a:p>
        </p:txBody>
      </p:sp>
      <p:sp>
        <p:nvSpPr>
          <p:cNvPr id="6" name="Text 4"/>
          <p:cNvSpPr/>
          <p:nvPr/>
        </p:nvSpPr>
        <p:spPr>
          <a:xfrm>
            <a:off x="502920" y="1627632"/>
            <a:ext cx="8138160" cy="365760"/>
          </a:xfrm>
          <a:prstGeom prst="rect">
            <a:avLst/>
          </a:prstGeom>
          <a:noFill/>
          <a:ln/>
        </p:spPr>
        <p:txBody>
          <a:bodyPr wrap="square" rtlCol="0" anchor="ctr"/>
          <a:lstStyle/>
          <a:p>
            <a:pPr indent="0" marL="0">
              <a:buNone/>
            </a:pPr>
            <a:r>
              <a:rPr lang="en-US" sz="1200" dirty="0">
                <a:solidFill>
                  <a:srgbClr val="34D399"/>
                </a:solidFill>
                <a:latin typeface="Calibri" pitchFamily="34" charset="0"/>
                <a:ea typeface="Calibri" pitchFamily="34" charset="-122"/>
                <a:cs typeface="Calibri" pitchFamily="34" charset="-120"/>
              </a:rPr>
              <a:t>✅  Çözüm:  Dairesel iris bölgesini dikdörtgen koordinat sistemine açıyoruz. Artık tüm gözler aynı formatta.</a:t>
            </a:r>
            <a:endParaRPr lang="en-US" sz="1200" dirty="0"/>
          </a:p>
        </p:txBody>
      </p:sp>
      <p:sp>
        <p:nvSpPr>
          <p:cNvPr id="7" name="Shape 5"/>
          <p:cNvSpPr/>
          <p:nvPr/>
        </p:nvSpPr>
        <p:spPr>
          <a:xfrm>
            <a:off x="548640" y="2148840"/>
            <a:ext cx="2926080" cy="2560320"/>
          </a:xfrm>
          <a:prstGeom prst="ellipse">
            <a:avLst/>
          </a:prstGeom>
          <a:solidFill>
            <a:srgbClr val="080F1C"/>
          </a:solidFill>
          <a:ln w="25400">
            <a:solidFill>
              <a:srgbClr val="34D399"/>
            </a:solidFill>
            <a:prstDash val="solid"/>
          </a:ln>
        </p:spPr>
      </p:sp>
      <p:sp>
        <p:nvSpPr>
          <p:cNvPr id="8" name="Shape 6"/>
          <p:cNvSpPr/>
          <p:nvPr/>
        </p:nvSpPr>
        <p:spPr>
          <a:xfrm>
            <a:off x="1188720" y="2606040"/>
            <a:ext cx="1645920" cy="1645920"/>
          </a:xfrm>
          <a:prstGeom prst="ellipse">
            <a:avLst/>
          </a:prstGeom>
          <a:solidFill>
            <a:srgbClr val="0C1829"/>
          </a:solidFill>
          <a:ln w="19050">
            <a:solidFill>
              <a:srgbClr val="818CF8"/>
            </a:solidFill>
            <a:prstDash val="solid"/>
          </a:ln>
        </p:spPr>
      </p:sp>
      <p:sp>
        <p:nvSpPr>
          <p:cNvPr id="9" name="Shape 7"/>
          <p:cNvSpPr/>
          <p:nvPr/>
        </p:nvSpPr>
        <p:spPr>
          <a:xfrm>
            <a:off x="1591056" y="2971800"/>
            <a:ext cx="822960" cy="822960"/>
          </a:xfrm>
          <a:prstGeom prst="ellipse">
            <a:avLst/>
          </a:prstGeom>
          <a:solidFill>
            <a:srgbClr val="020608"/>
          </a:solidFill>
          <a:ln w="12700">
            <a:solidFill>
              <a:srgbClr val="64748B"/>
            </a:solidFill>
            <a:prstDash val="solid"/>
          </a:ln>
        </p:spPr>
      </p:sp>
      <p:sp>
        <p:nvSpPr>
          <p:cNvPr id="10" name="Text 8"/>
          <p:cNvSpPr/>
          <p:nvPr/>
        </p:nvSpPr>
        <p:spPr>
          <a:xfrm>
            <a:off x="594360" y="2176272"/>
            <a:ext cx="2743200" cy="365760"/>
          </a:xfrm>
          <a:prstGeom prst="rect">
            <a:avLst/>
          </a:prstGeom>
          <a:noFill/>
          <a:ln/>
        </p:spPr>
        <p:txBody>
          <a:bodyPr wrap="square" rtlCol="0" anchor="ctr"/>
          <a:lstStyle/>
          <a:p>
            <a:pPr algn="ctr" indent="0" marL="0">
              <a:buNone/>
            </a:pPr>
            <a:r>
              <a:rPr lang="en-US" sz="900" dirty="0">
                <a:solidFill>
                  <a:srgbClr val="34D399"/>
                </a:solidFill>
                <a:latin typeface="Calibri" pitchFamily="34" charset="0"/>
                <a:ea typeface="Calibri" pitchFamily="34" charset="-122"/>
                <a:cs typeface="Calibri" pitchFamily="34" charset="-120"/>
              </a:rPr>
              <a:t>İris halkası</a:t>
            </a:r>
            <a:endParaRPr lang="en-US" sz="900" dirty="0"/>
          </a:p>
        </p:txBody>
      </p:sp>
      <p:sp>
        <p:nvSpPr>
          <p:cNvPr id="11" name="Text 9"/>
          <p:cNvSpPr/>
          <p:nvPr/>
        </p:nvSpPr>
        <p:spPr>
          <a:xfrm>
            <a:off x="1234440" y="3310128"/>
            <a:ext cx="1554480" cy="256032"/>
          </a:xfrm>
          <a:prstGeom prst="rect">
            <a:avLst/>
          </a:prstGeom>
          <a:noFill/>
          <a:ln/>
        </p:spPr>
        <p:txBody>
          <a:bodyPr wrap="square" rtlCol="0" anchor="ctr"/>
          <a:lstStyle/>
          <a:p>
            <a:pPr algn="ctr" indent="0" marL="0">
              <a:buNone/>
            </a:pPr>
            <a:r>
              <a:rPr lang="en-US" sz="900" dirty="0">
                <a:solidFill>
                  <a:srgbClr val="818CF8"/>
                </a:solidFill>
                <a:latin typeface="Calibri" pitchFamily="34" charset="0"/>
                <a:ea typeface="Calibri" pitchFamily="34" charset="-122"/>
                <a:cs typeface="Calibri" pitchFamily="34" charset="-120"/>
              </a:rPr>
              <a:t>Pupil</a:t>
            </a:r>
            <a:endParaRPr lang="en-US" sz="900" dirty="0"/>
          </a:p>
        </p:txBody>
      </p:sp>
      <p:sp>
        <p:nvSpPr>
          <p:cNvPr id="12" name="Text 10"/>
          <p:cNvSpPr/>
          <p:nvPr/>
        </p:nvSpPr>
        <p:spPr>
          <a:xfrm>
            <a:off x="3611880" y="3246120"/>
            <a:ext cx="640080" cy="457200"/>
          </a:xfrm>
          <a:prstGeom prst="rect">
            <a:avLst/>
          </a:prstGeom>
          <a:noFill/>
          <a:ln/>
        </p:spPr>
        <p:txBody>
          <a:bodyPr wrap="square" rtlCol="0" anchor="ctr"/>
          <a:lstStyle/>
          <a:p>
            <a:pPr algn="ctr" indent="0" marL="0">
              <a:buNone/>
            </a:pPr>
            <a:r>
              <a:rPr lang="en-US" sz="2800" dirty="0">
                <a:solidFill>
                  <a:srgbClr val="38BDF8"/>
                </a:solidFill>
                <a:latin typeface="Calibri" pitchFamily="34" charset="0"/>
                <a:ea typeface="Calibri" pitchFamily="34" charset="-122"/>
                <a:cs typeface="Calibri" pitchFamily="34" charset="-120"/>
              </a:rPr>
              <a:t>→</a:t>
            </a:r>
            <a:endParaRPr lang="en-US" sz="2800" dirty="0"/>
          </a:p>
        </p:txBody>
      </p:sp>
      <p:sp>
        <p:nvSpPr>
          <p:cNvPr id="13" name="Text 11"/>
          <p:cNvSpPr/>
          <p:nvPr/>
        </p:nvSpPr>
        <p:spPr>
          <a:xfrm>
            <a:off x="3547872" y="3703320"/>
            <a:ext cx="777240" cy="36576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Polar</a:t>
            </a:r>
            <a:endParaRPr lang="en-US" sz="800" dirty="0"/>
          </a:p>
          <a:p>
            <a:pPr algn="ctr" indent="0" marL="0">
              <a:buNone/>
            </a:pPr>
            <a:r>
              <a:rPr lang="en-US" sz="800" dirty="0">
                <a:solidFill>
                  <a:srgbClr val="64748B"/>
                </a:solidFill>
                <a:latin typeface="Calibri" pitchFamily="34" charset="0"/>
                <a:ea typeface="Calibri" pitchFamily="34" charset="-122"/>
                <a:cs typeface="Calibri" pitchFamily="34" charset="-120"/>
              </a:rPr>
              <a:t>Dönüşüm</a:t>
            </a:r>
            <a:endParaRPr lang="en-US" sz="800" dirty="0"/>
          </a:p>
        </p:txBody>
      </p:sp>
      <p:sp>
        <p:nvSpPr>
          <p:cNvPr id="14" name="Shape 12"/>
          <p:cNvSpPr/>
          <p:nvPr/>
        </p:nvSpPr>
        <p:spPr>
          <a:xfrm>
            <a:off x="4343400" y="2240280"/>
            <a:ext cx="4297680" cy="1828800"/>
          </a:xfrm>
          <a:prstGeom prst="rect">
            <a:avLst/>
          </a:prstGeom>
          <a:solidFill>
            <a:srgbClr val="050E1C"/>
          </a:solidFill>
          <a:ln w="25400">
            <a:solidFill>
              <a:srgbClr val="38BDF8"/>
            </a:solidFill>
            <a:prstDash val="solid"/>
          </a:ln>
        </p:spPr>
      </p:sp>
      <p:sp>
        <p:nvSpPr>
          <p:cNvPr id="15" name="Text 13"/>
          <p:cNvSpPr/>
          <p:nvPr/>
        </p:nvSpPr>
        <p:spPr>
          <a:xfrm>
            <a:off x="4389120" y="2286000"/>
            <a:ext cx="4206240" cy="320040"/>
          </a:xfrm>
          <a:prstGeom prst="rect">
            <a:avLst/>
          </a:prstGeom>
          <a:noFill/>
          <a:ln/>
        </p:spPr>
        <p:txBody>
          <a:bodyPr wrap="square" rtlCol="0" anchor="ctr"/>
          <a:lstStyle/>
          <a:p>
            <a:pPr algn="ctr" indent="0" marL="0">
              <a:buNone/>
            </a:pPr>
            <a:r>
              <a:rPr lang="en-US" sz="1000" dirty="0">
                <a:solidFill>
                  <a:srgbClr val="64748B"/>
                </a:solidFill>
                <a:latin typeface="Calibri" pitchFamily="34" charset="0"/>
                <a:ea typeface="Calibri" pitchFamily="34" charset="-122"/>
                <a:cs typeface="Calibri" pitchFamily="34" charset="-120"/>
              </a:rPr>
              <a:t>Polar Normalize Görüntü  (512 × 64 px)</a:t>
            </a:r>
            <a:endParaRPr lang="en-US" sz="1000" dirty="0"/>
          </a:p>
        </p:txBody>
      </p:sp>
      <p:sp>
        <p:nvSpPr>
          <p:cNvPr id="16" name="Shape 14"/>
          <p:cNvSpPr/>
          <p:nvPr/>
        </p:nvSpPr>
        <p:spPr>
          <a:xfrm>
            <a:off x="4343400" y="2606040"/>
            <a:ext cx="4297680" cy="256032"/>
          </a:xfrm>
          <a:prstGeom prst="rect">
            <a:avLst/>
          </a:prstGeom>
          <a:solidFill>
            <a:srgbClr val="081428"/>
          </a:solidFill>
          <a:ln w="12700">
            <a:solidFill>
              <a:srgbClr val="1E3A5F"/>
            </a:solidFill>
            <a:prstDash val="solid"/>
          </a:ln>
        </p:spPr>
      </p:sp>
      <p:sp>
        <p:nvSpPr>
          <p:cNvPr id="17" name="Shape 15"/>
          <p:cNvSpPr/>
          <p:nvPr/>
        </p:nvSpPr>
        <p:spPr>
          <a:xfrm>
            <a:off x="4343400" y="2880360"/>
            <a:ext cx="4297680" cy="256032"/>
          </a:xfrm>
          <a:prstGeom prst="rect">
            <a:avLst/>
          </a:prstGeom>
          <a:solidFill>
            <a:srgbClr val="091628"/>
          </a:solidFill>
          <a:ln w="12700">
            <a:solidFill>
              <a:srgbClr val="1E3A5F"/>
            </a:solidFill>
            <a:prstDash val="solid"/>
          </a:ln>
        </p:spPr>
      </p:sp>
      <p:sp>
        <p:nvSpPr>
          <p:cNvPr id="18" name="Shape 16"/>
          <p:cNvSpPr/>
          <p:nvPr/>
        </p:nvSpPr>
        <p:spPr>
          <a:xfrm>
            <a:off x="4343400" y="3154680"/>
            <a:ext cx="4297680" cy="256032"/>
          </a:xfrm>
          <a:prstGeom prst="rect">
            <a:avLst/>
          </a:prstGeom>
          <a:solidFill>
            <a:srgbClr val="000000"/>
          </a:solidFill>
          <a:ln w="12700">
            <a:solidFill>
              <a:srgbClr val="1E3A5F"/>
            </a:solidFill>
            <a:prstDash val="solid"/>
          </a:ln>
        </p:spPr>
      </p:sp>
      <p:sp>
        <p:nvSpPr>
          <p:cNvPr id="19" name="Shape 17"/>
          <p:cNvSpPr/>
          <p:nvPr/>
        </p:nvSpPr>
        <p:spPr>
          <a:xfrm>
            <a:off x="4343400" y="3429000"/>
            <a:ext cx="4297680" cy="256032"/>
          </a:xfrm>
          <a:prstGeom prst="rect">
            <a:avLst/>
          </a:prstGeom>
          <a:solidFill>
            <a:srgbClr val="000000"/>
          </a:solidFill>
          <a:ln w="12700">
            <a:solidFill>
              <a:srgbClr val="1E3A5F"/>
            </a:solidFill>
            <a:prstDash val="solid"/>
          </a:ln>
        </p:spPr>
      </p:sp>
      <p:sp>
        <p:nvSpPr>
          <p:cNvPr id="20" name="Shape 18"/>
          <p:cNvSpPr/>
          <p:nvPr/>
        </p:nvSpPr>
        <p:spPr>
          <a:xfrm>
            <a:off x="4343400" y="3703320"/>
            <a:ext cx="4297680" cy="256032"/>
          </a:xfrm>
          <a:prstGeom prst="rect">
            <a:avLst/>
          </a:prstGeom>
          <a:solidFill>
            <a:srgbClr val="000000"/>
          </a:solidFill>
          <a:ln w="12700">
            <a:solidFill>
              <a:srgbClr val="1E3A5F"/>
            </a:solidFill>
            <a:prstDash val="solid"/>
          </a:ln>
        </p:spPr>
      </p:sp>
      <p:sp>
        <p:nvSpPr>
          <p:cNvPr id="21" name="Text 19"/>
          <p:cNvSpPr/>
          <p:nvPr/>
        </p:nvSpPr>
        <p:spPr>
          <a:xfrm>
            <a:off x="4370832" y="4160520"/>
            <a:ext cx="548640"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θ = 0</a:t>
            </a:r>
            <a:endParaRPr lang="en-US" sz="800" dirty="0"/>
          </a:p>
        </p:txBody>
      </p:sp>
      <p:sp>
        <p:nvSpPr>
          <p:cNvPr id="22" name="Text 20"/>
          <p:cNvSpPr/>
          <p:nvPr/>
        </p:nvSpPr>
        <p:spPr>
          <a:xfrm>
            <a:off x="7973568" y="4160520"/>
            <a:ext cx="658368" cy="22860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θ = 2π</a:t>
            </a:r>
            <a:endParaRPr lang="en-US" sz="800" dirty="0"/>
          </a:p>
        </p:txBody>
      </p:sp>
      <p:sp>
        <p:nvSpPr>
          <p:cNvPr id="23" name="Text 21"/>
          <p:cNvSpPr/>
          <p:nvPr/>
        </p:nvSpPr>
        <p:spPr>
          <a:xfrm>
            <a:off x="8686800" y="2651760"/>
            <a:ext cx="548640" cy="1280160"/>
          </a:xfrm>
          <a:prstGeom prst="rect">
            <a:avLst/>
          </a:prstGeom>
          <a:noFill/>
          <a:ln/>
        </p:spPr>
        <p:txBody>
          <a:bodyPr wrap="square" rtlCol="0" anchor="ctr"/>
          <a:lstStyle/>
          <a:p>
            <a:pPr indent="0" marL="0">
              <a:buNone/>
            </a:pPr>
            <a:r>
              <a:rPr lang="en-US" sz="800" dirty="0">
                <a:solidFill>
                  <a:srgbClr val="64748B"/>
                </a:solidFill>
                <a:latin typeface="Calibri" pitchFamily="34" charset="0"/>
                <a:ea typeface="Calibri" pitchFamily="34" charset="-122"/>
                <a:cs typeface="Calibri" pitchFamily="34" charset="-120"/>
              </a:rPr>
              <a:t>r=0↕r=max</a:t>
            </a:r>
            <a:endParaRPr lang="en-US" sz="800" dirty="0"/>
          </a:p>
        </p:txBody>
      </p:sp>
      <p:sp>
        <p:nvSpPr>
          <p:cNvPr id="24" name="Shape 22"/>
          <p:cNvSpPr/>
          <p:nvPr/>
        </p:nvSpPr>
        <p:spPr>
          <a:xfrm>
            <a:off x="365760" y="4663440"/>
            <a:ext cx="8412480" cy="402336"/>
          </a:xfrm>
          <a:prstGeom prst="rect">
            <a:avLst/>
          </a:prstGeom>
          <a:solidFill>
            <a:srgbClr val="0C1829"/>
          </a:solidFill>
          <a:ln w="12700">
            <a:solidFill>
              <a:srgbClr val="1E3A5F"/>
            </a:solidFill>
            <a:prstDash val="solid"/>
          </a:ln>
        </p:spPr>
      </p:sp>
      <p:sp>
        <p:nvSpPr>
          <p:cNvPr id="25" name="Text 23"/>
          <p:cNvSpPr/>
          <p:nvPr/>
        </p:nvSpPr>
        <p:spPr>
          <a:xfrm>
            <a:off x="502920" y="4681728"/>
            <a:ext cx="8138160" cy="365760"/>
          </a:xfrm>
          <a:prstGeom prst="rect">
            <a:avLst/>
          </a:prstGeom>
          <a:noFill/>
          <a:ln/>
        </p:spPr>
        <p:txBody>
          <a:bodyPr wrap="square" rtlCol="0" anchor="ctr"/>
          <a:lstStyle/>
          <a:p>
            <a:pPr algn="ctr" indent="0" marL="0">
              <a:buNone/>
            </a:pPr>
            <a:r>
              <a:rPr lang="en-US" sz="1100" dirty="0">
                <a:solidFill>
                  <a:srgbClr val="38BDF8"/>
                </a:solidFill>
                <a:latin typeface="Consolas" pitchFamily="34" charset="0"/>
                <a:ea typeface="Consolas" pitchFamily="34" charset="-122"/>
                <a:cs typeface="Consolas" pitchFamily="34" charset="-120"/>
              </a:rPr>
              <a:t>x(r,θ) = (1−r) · x_pupil(θ) + r · x_iris(θ)    ve    y(r,θ) = (1−r) · y_pupil(θ) + r · y_iris(θ)</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70E1B"/>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Adım 5  —  Özellik Çıkarma (ResNet18)</a:t>
            </a:r>
            <a:endParaRPr lang="en-US" sz="3200" dirty="0"/>
          </a:p>
        </p:txBody>
      </p:sp>
      <p:sp>
        <p:nvSpPr>
          <p:cNvPr id="3" name="Text 1"/>
          <p:cNvSpPr/>
          <p:nvPr/>
        </p:nvSpPr>
        <p:spPr>
          <a:xfrm>
            <a:off x="457200" y="749808"/>
            <a:ext cx="8229600" cy="292608"/>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profil_vektoru_olustur() — Transfer Learning ile 512 boyutlu embedding</a:t>
            </a:r>
            <a:endParaRPr lang="en-US" sz="1300" dirty="0"/>
          </a:p>
        </p:txBody>
      </p:sp>
      <p:sp>
        <p:nvSpPr>
          <p:cNvPr id="4" name="Shape 2"/>
          <p:cNvSpPr/>
          <p:nvPr/>
        </p:nvSpPr>
        <p:spPr>
          <a:xfrm>
            <a:off x="256032" y="1051560"/>
            <a:ext cx="1115568" cy="868680"/>
          </a:xfrm>
          <a:prstGeom prst="roundRect">
            <a:avLst>
              <a:gd name="adj" fmla="val 7368"/>
            </a:avLst>
          </a:prstGeom>
          <a:solidFill>
            <a:srgbClr val="0F2040"/>
          </a:solidFill>
          <a:ln w="19050">
            <a:solidFill>
              <a:srgbClr val="818CF8"/>
            </a:solidFill>
            <a:prstDash val="solid"/>
          </a:ln>
        </p:spPr>
      </p:sp>
      <p:sp>
        <p:nvSpPr>
          <p:cNvPr id="5" name="Text 3"/>
          <p:cNvSpPr/>
          <p:nvPr/>
        </p:nvSpPr>
        <p:spPr>
          <a:xfrm>
            <a:off x="301752" y="1097280"/>
            <a:ext cx="1024128" cy="502920"/>
          </a:xfrm>
          <a:prstGeom prst="rect">
            <a:avLst/>
          </a:prstGeom>
          <a:noFill/>
          <a:ln/>
        </p:spPr>
        <p:txBody>
          <a:bodyPr wrap="square" rtlCol="0" anchor="ctr"/>
          <a:lstStyle/>
          <a:p>
            <a:pPr algn="ctr" indent="0" marL="0">
              <a:buNone/>
            </a:pPr>
            <a:r>
              <a:rPr lang="en-US" sz="950" b="1" dirty="0">
                <a:solidFill>
                  <a:srgbClr val="F1F5F9"/>
                </a:solidFill>
                <a:latin typeface="Calibri" pitchFamily="34" charset="0"/>
                <a:ea typeface="Calibri" pitchFamily="34" charset="-122"/>
                <a:cs typeface="Calibri" pitchFamily="34" charset="-120"/>
              </a:rPr>
              <a:t>Polar</a:t>
            </a:r>
            <a:endParaRPr lang="en-US" sz="950" dirty="0"/>
          </a:p>
          <a:p>
            <a:pPr algn="ctr" indent="0" marL="0">
              <a:buNone/>
            </a:pPr>
            <a:r>
              <a:rPr lang="en-US" sz="950" b="1" dirty="0">
                <a:solidFill>
                  <a:srgbClr val="F1F5F9"/>
                </a:solidFill>
                <a:latin typeface="Calibri" pitchFamily="34" charset="0"/>
                <a:ea typeface="Calibri" pitchFamily="34" charset="-122"/>
                <a:cs typeface="Calibri" pitchFamily="34" charset="-120"/>
              </a:rPr>
              <a:t>Görüntü</a:t>
            </a:r>
            <a:endParaRPr lang="en-US" sz="950" dirty="0"/>
          </a:p>
        </p:txBody>
      </p:sp>
      <p:sp>
        <p:nvSpPr>
          <p:cNvPr id="6" name="Text 4"/>
          <p:cNvSpPr/>
          <p:nvPr/>
        </p:nvSpPr>
        <p:spPr>
          <a:xfrm>
            <a:off x="292608" y="1572768"/>
            <a:ext cx="1042416"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512×64 gri</a:t>
            </a:r>
            <a:endParaRPr lang="en-US" sz="800" dirty="0"/>
          </a:p>
        </p:txBody>
      </p:sp>
      <p:sp>
        <p:nvSpPr>
          <p:cNvPr id="7" name="Text 5"/>
          <p:cNvSpPr/>
          <p:nvPr/>
        </p:nvSpPr>
        <p:spPr>
          <a:xfrm>
            <a:off x="1371600" y="1298448"/>
            <a:ext cx="118872" cy="320040"/>
          </a:xfrm>
          <a:prstGeom prst="rect">
            <a:avLst/>
          </a:prstGeom>
          <a:noFill/>
          <a:ln/>
        </p:spPr>
        <p:txBody>
          <a:bodyPr wrap="square" rtlCol="0" anchor="ctr"/>
          <a:lstStyle/>
          <a:p>
            <a:pPr algn="ctr" indent="0" marL="0">
              <a:buNone/>
            </a:pPr>
            <a:r>
              <a:rPr lang="en-US" sz="1600" dirty="0">
                <a:solidFill>
                  <a:srgbClr val="1E3A5F"/>
                </a:solidFill>
              </a:rPr>
              <a:t>›</a:t>
            </a:r>
            <a:endParaRPr lang="en-US" sz="1600" dirty="0"/>
          </a:p>
        </p:txBody>
      </p:sp>
      <p:sp>
        <p:nvSpPr>
          <p:cNvPr id="8" name="Shape 6"/>
          <p:cNvSpPr/>
          <p:nvPr/>
        </p:nvSpPr>
        <p:spPr>
          <a:xfrm>
            <a:off x="1490472" y="1051560"/>
            <a:ext cx="1115568" cy="868680"/>
          </a:xfrm>
          <a:prstGeom prst="roundRect">
            <a:avLst>
              <a:gd name="adj" fmla="val 7368"/>
            </a:avLst>
          </a:prstGeom>
          <a:solidFill>
            <a:srgbClr val="0F2040"/>
          </a:solidFill>
          <a:ln w="19050">
            <a:solidFill>
              <a:srgbClr val="818CF8"/>
            </a:solidFill>
            <a:prstDash val="solid"/>
          </a:ln>
        </p:spPr>
      </p:sp>
      <p:sp>
        <p:nvSpPr>
          <p:cNvPr id="9" name="Text 7"/>
          <p:cNvSpPr/>
          <p:nvPr/>
        </p:nvSpPr>
        <p:spPr>
          <a:xfrm>
            <a:off x="1536192" y="1097280"/>
            <a:ext cx="1024128" cy="502920"/>
          </a:xfrm>
          <a:prstGeom prst="rect">
            <a:avLst/>
          </a:prstGeom>
          <a:noFill/>
          <a:ln/>
        </p:spPr>
        <p:txBody>
          <a:bodyPr wrap="square" rtlCol="0" anchor="ctr"/>
          <a:lstStyle/>
          <a:p>
            <a:pPr algn="ctr" indent="0" marL="0">
              <a:buNone/>
            </a:pPr>
            <a:r>
              <a:rPr lang="en-US" sz="950" b="1" dirty="0">
                <a:solidFill>
                  <a:srgbClr val="F1F5F9"/>
                </a:solidFill>
                <a:latin typeface="Calibri" pitchFamily="34" charset="0"/>
                <a:ea typeface="Calibri" pitchFamily="34" charset="-122"/>
                <a:cs typeface="Calibri" pitchFamily="34" charset="-120"/>
              </a:rPr>
              <a:t>RGB'ye</a:t>
            </a:r>
            <a:endParaRPr lang="en-US" sz="950" dirty="0"/>
          </a:p>
          <a:p>
            <a:pPr algn="ctr" indent="0" marL="0">
              <a:buNone/>
            </a:pPr>
            <a:r>
              <a:rPr lang="en-US" sz="950" b="1" dirty="0">
                <a:solidFill>
                  <a:srgbClr val="F1F5F9"/>
                </a:solidFill>
                <a:latin typeface="Calibri" pitchFamily="34" charset="0"/>
                <a:ea typeface="Calibri" pitchFamily="34" charset="-122"/>
                <a:cs typeface="Calibri" pitchFamily="34" charset="-120"/>
              </a:rPr>
              <a:t>Çevir</a:t>
            </a:r>
            <a:endParaRPr lang="en-US" sz="950" dirty="0"/>
          </a:p>
        </p:txBody>
      </p:sp>
      <p:sp>
        <p:nvSpPr>
          <p:cNvPr id="10" name="Text 8"/>
          <p:cNvSpPr/>
          <p:nvPr/>
        </p:nvSpPr>
        <p:spPr>
          <a:xfrm>
            <a:off x="1527048" y="1572768"/>
            <a:ext cx="1042416"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3 kanallı</a:t>
            </a:r>
            <a:endParaRPr lang="en-US" sz="800" dirty="0"/>
          </a:p>
        </p:txBody>
      </p:sp>
      <p:sp>
        <p:nvSpPr>
          <p:cNvPr id="11" name="Text 9"/>
          <p:cNvSpPr/>
          <p:nvPr/>
        </p:nvSpPr>
        <p:spPr>
          <a:xfrm>
            <a:off x="2606040" y="1298448"/>
            <a:ext cx="118872" cy="320040"/>
          </a:xfrm>
          <a:prstGeom prst="rect">
            <a:avLst/>
          </a:prstGeom>
          <a:noFill/>
          <a:ln/>
        </p:spPr>
        <p:txBody>
          <a:bodyPr wrap="square" rtlCol="0" anchor="ctr"/>
          <a:lstStyle/>
          <a:p>
            <a:pPr algn="ctr" indent="0" marL="0">
              <a:buNone/>
            </a:pPr>
            <a:r>
              <a:rPr lang="en-US" sz="1600" dirty="0">
                <a:solidFill>
                  <a:srgbClr val="1E3A5F"/>
                </a:solidFill>
              </a:rPr>
              <a:t>›</a:t>
            </a:r>
            <a:endParaRPr lang="en-US" sz="1600" dirty="0"/>
          </a:p>
        </p:txBody>
      </p:sp>
      <p:sp>
        <p:nvSpPr>
          <p:cNvPr id="12" name="Shape 10"/>
          <p:cNvSpPr/>
          <p:nvPr/>
        </p:nvSpPr>
        <p:spPr>
          <a:xfrm>
            <a:off x="2724912" y="1051560"/>
            <a:ext cx="1115568" cy="868680"/>
          </a:xfrm>
          <a:prstGeom prst="roundRect">
            <a:avLst>
              <a:gd name="adj" fmla="val 7368"/>
            </a:avLst>
          </a:prstGeom>
          <a:solidFill>
            <a:srgbClr val="0F2040"/>
          </a:solidFill>
          <a:ln w="19050">
            <a:solidFill>
              <a:srgbClr val="818CF8"/>
            </a:solidFill>
            <a:prstDash val="solid"/>
          </a:ln>
        </p:spPr>
      </p:sp>
      <p:sp>
        <p:nvSpPr>
          <p:cNvPr id="13" name="Text 11"/>
          <p:cNvSpPr/>
          <p:nvPr/>
        </p:nvSpPr>
        <p:spPr>
          <a:xfrm>
            <a:off x="2770632" y="1097280"/>
            <a:ext cx="1024128" cy="502920"/>
          </a:xfrm>
          <a:prstGeom prst="rect">
            <a:avLst/>
          </a:prstGeom>
          <a:noFill/>
          <a:ln/>
        </p:spPr>
        <p:txBody>
          <a:bodyPr wrap="square" rtlCol="0" anchor="ctr"/>
          <a:lstStyle/>
          <a:p>
            <a:pPr algn="ctr" indent="0" marL="0">
              <a:buNone/>
            </a:pPr>
            <a:r>
              <a:rPr lang="en-US" sz="950" b="1" dirty="0">
                <a:solidFill>
                  <a:srgbClr val="F1F5F9"/>
                </a:solidFill>
                <a:latin typeface="Calibri" pitchFamily="34" charset="0"/>
                <a:ea typeface="Calibri" pitchFamily="34" charset="-122"/>
                <a:cs typeface="Calibri" pitchFamily="34" charset="-120"/>
              </a:rPr>
              <a:t>ResNet18</a:t>
            </a:r>
            <a:endParaRPr lang="en-US" sz="950" dirty="0"/>
          </a:p>
          <a:p>
            <a:pPr algn="ctr" indent="0" marL="0">
              <a:buNone/>
            </a:pPr>
            <a:r>
              <a:rPr lang="en-US" sz="950" b="1" dirty="0">
                <a:solidFill>
                  <a:srgbClr val="F1F5F9"/>
                </a:solidFill>
                <a:latin typeface="Calibri" pitchFamily="34" charset="0"/>
                <a:ea typeface="Calibri" pitchFamily="34" charset="-122"/>
                <a:cs typeface="Calibri" pitchFamily="34" charset="-120"/>
              </a:rPr>
              <a:t>Transform</a:t>
            </a:r>
            <a:endParaRPr lang="en-US" sz="950" dirty="0"/>
          </a:p>
        </p:txBody>
      </p:sp>
      <p:sp>
        <p:nvSpPr>
          <p:cNvPr id="14" name="Text 12"/>
          <p:cNvSpPr/>
          <p:nvPr/>
        </p:nvSpPr>
        <p:spPr>
          <a:xfrm>
            <a:off x="2761488" y="1572768"/>
            <a:ext cx="1042416"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224×224, normalize</a:t>
            </a:r>
            <a:endParaRPr lang="en-US" sz="800" dirty="0"/>
          </a:p>
        </p:txBody>
      </p:sp>
      <p:sp>
        <p:nvSpPr>
          <p:cNvPr id="15" name="Text 13"/>
          <p:cNvSpPr/>
          <p:nvPr/>
        </p:nvSpPr>
        <p:spPr>
          <a:xfrm>
            <a:off x="3840480" y="1298448"/>
            <a:ext cx="118872" cy="320040"/>
          </a:xfrm>
          <a:prstGeom prst="rect">
            <a:avLst/>
          </a:prstGeom>
          <a:noFill/>
          <a:ln/>
        </p:spPr>
        <p:txBody>
          <a:bodyPr wrap="square" rtlCol="0" anchor="ctr"/>
          <a:lstStyle/>
          <a:p>
            <a:pPr algn="ctr" indent="0" marL="0">
              <a:buNone/>
            </a:pPr>
            <a:r>
              <a:rPr lang="en-US" sz="1600" dirty="0">
                <a:solidFill>
                  <a:srgbClr val="1E3A5F"/>
                </a:solidFill>
              </a:rPr>
              <a:t>›</a:t>
            </a:r>
            <a:endParaRPr lang="en-US" sz="1600" dirty="0"/>
          </a:p>
        </p:txBody>
      </p:sp>
      <p:sp>
        <p:nvSpPr>
          <p:cNvPr id="16" name="Shape 14"/>
          <p:cNvSpPr/>
          <p:nvPr/>
        </p:nvSpPr>
        <p:spPr>
          <a:xfrm>
            <a:off x="3959352" y="1051560"/>
            <a:ext cx="1115568" cy="868680"/>
          </a:xfrm>
          <a:prstGeom prst="roundRect">
            <a:avLst>
              <a:gd name="adj" fmla="val 7368"/>
            </a:avLst>
          </a:prstGeom>
          <a:solidFill>
            <a:srgbClr val="0F2040"/>
          </a:solidFill>
          <a:ln w="19050">
            <a:solidFill>
              <a:srgbClr val="38BDF8"/>
            </a:solidFill>
            <a:prstDash val="solid"/>
          </a:ln>
        </p:spPr>
      </p:sp>
      <p:sp>
        <p:nvSpPr>
          <p:cNvPr id="17" name="Text 15"/>
          <p:cNvSpPr/>
          <p:nvPr/>
        </p:nvSpPr>
        <p:spPr>
          <a:xfrm>
            <a:off x="4005072" y="1097280"/>
            <a:ext cx="1024128" cy="502920"/>
          </a:xfrm>
          <a:prstGeom prst="rect">
            <a:avLst/>
          </a:prstGeom>
          <a:noFill/>
          <a:ln/>
        </p:spPr>
        <p:txBody>
          <a:bodyPr wrap="square" rtlCol="0" anchor="ctr"/>
          <a:lstStyle/>
          <a:p>
            <a:pPr algn="ctr" indent="0" marL="0">
              <a:buNone/>
            </a:pPr>
            <a:r>
              <a:rPr lang="en-US" sz="950" b="1" dirty="0">
                <a:solidFill>
                  <a:srgbClr val="F1F5F9"/>
                </a:solidFill>
                <a:latin typeface="Calibri" pitchFamily="34" charset="0"/>
                <a:ea typeface="Calibri" pitchFamily="34" charset="-122"/>
                <a:cs typeface="Calibri" pitchFamily="34" charset="-120"/>
              </a:rPr>
              <a:t>ResNet18</a:t>
            </a:r>
            <a:endParaRPr lang="en-US" sz="950" dirty="0"/>
          </a:p>
          <a:p>
            <a:pPr algn="ctr" indent="0" marL="0">
              <a:buNone/>
            </a:pPr>
            <a:r>
              <a:rPr lang="en-US" sz="950" b="1" dirty="0">
                <a:solidFill>
                  <a:srgbClr val="F1F5F9"/>
                </a:solidFill>
                <a:latin typeface="Calibri" pitchFamily="34" charset="0"/>
                <a:ea typeface="Calibri" pitchFamily="34" charset="-122"/>
                <a:cs typeface="Calibri" pitchFamily="34" charset="-120"/>
              </a:rPr>
              <a:t>(pretrained)</a:t>
            </a:r>
            <a:endParaRPr lang="en-US" sz="950" dirty="0"/>
          </a:p>
        </p:txBody>
      </p:sp>
      <p:sp>
        <p:nvSpPr>
          <p:cNvPr id="18" name="Text 16"/>
          <p:cNvSpPr/>
          <p:nvPr/>
        </p:nvSpPr>
        <p:spPr>
          <a:xfrm>
            <a:off x="3995928" y="1572768"/>
            <a:ext cx="1042416"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ImageNet ağırlıkları</a:t>
            </a:r>
            <a:endParaRPr lang="en-US" sz="800" dirty="0"/>
          </a:p>
        </p:txBody>
      </p:sp>
      <p:sp>
        <p:nvSpPr>
          <p:cNvPr id="19" name="Text 17"/>
          <p:cNvSpPr/>
          <p:nvPr/>
        </p:nvSpPr>
        <p:spPr>
          <a:xfrm>
            <a:off x="5074920" y="1298448"/>
            <a:ext cx="118872" cy="320040"/>
          </a:xfrm>
          <a:prstGeom prst="rect">
            <a:avLst/>
          </a:prstGeom>
          <a:noFill/>
          <a:ln/>
        </p:spPr>
        <p:txBody>
          <a:bodyPr wrap="square" rtlCol="0" anchor="ctr"/>
          <a:lstStyle/>
          <a:p>
            <a:pPr algn="ctr" indent="0" marL="0">
              <a:buNone/>
            </a:pPr>
            <a:r>
              <a:rPr lang="en-US" sz="1600" dirty="0">
                <a:solidFill>
                  <a:srgbClr val="1E3A5F"/>
                </a:solidFill>
              </a:rPr>
              <a:t>›</a:t>
            </a:r>
            <a:endParaRPr lang="en-US" sz="1600" dirty="0"/>
          </a:p>
        </p:txBody>
      </p:sp>
      <p:sp>
        <p:nvSpPr>
          <p:cNvPr id="20" name="Shape 18"/>
          <p:cNvSpPr/>
          <p:nvPr/>
        </p:nvSpPr>
        <p:spPr>
          <a:xfrm>
            <a:off x="5193792" y="1051560"/>
            <a:ext cx="1115568" cy="868680"/>
          </a:xfrm>
          <a:prstGeom prst="roundRect">
            <a:avLst>
              <a:gd name="adj" fmla="val 7368"/>
            </a:avLst>
          </a:prstGeom>
          <a:solidFill>
            <a:srgbClr val="0F2040"/>
          </a:solidFill>
          <a:ln w="19050">
            <a:solidFill>
              <a:srgbClr val="34D399"/>
            </a:solidFill>
            <a:prstDash val="solid"/>
          </a:ln>
        </p:spPr>
      </p:sp>
      <p:sp>
        <p:nvSpPr>
          <p:cNvPr id="21" name="Text 19"/>
          <p:cNvSpPr/>
          <p:nvPr/>
        </p:nvSpPr>
        <p:spPr>
          <a:xfrm>
            <a:off x="5239512" y="1097280"/>
            <a:ext cx="1024128" cy="502920"/>
          </a:xfrm>
          <a:prstGeom prst="rect">
            <a:avLst/>
          </a:prstGeom>
          <a:noFill/>
          <a:ln/>
        </p:spPr>
        <p:txBody>
          <a:bodyPr wrap="square" rtlCol="0" anchor="ctr"/>
          <a:lstStyle/>
          <a:p>
            <a:pPr algn="ctr" indent="0" marL="0">
              <a:buNone/>
            </a:pPr>
            <a:r>
              <a:rPr lang="en-US" sz="950" b="1" dirty="0">
                <a:solidFill>
                  <a:srgbClr val="F1F5F9"/>
                </a:solidFill>
                <a:latin typeface="Calibri" pitchFamily="34" charset="0"/>
                <a:ea typeface="Calibri" pitchFamily="34" charset="-122"/>
                <a:cs typeface="Calibri" pitchFamily="34" charset="-120"/>
              </a:rPr>
              <a:t>fc = Identity()</a:t>
            </a:r>
            <a:endParaRPr lang="en-US" sz="950" dirty="0"/>
          </a:p>
          <a:p>
            <a:pPr algn="ctr" indent="0" marL="0">
              <a:buNone/>
            </a:pPr>
            <a:r>
              <a:rPr lang="en-US" sz="950" b="1" dirty="0">
                <a:solidFill>
                  <a:srgbClr val="F1F5F9"/>
                </a:solidFill>
                <a:latin typeface="Calibri" pitchFamily="34" charset="0"/>
                <a:ea typeface="Calibri" pitchFamily="34" charset="-122"/>
                <a:cs typeface="Calibri" pitchFamily="34" charset="-120"/>
              </a:rPr>
              <a:t>Son katman kaldırıldı</a:t>
            </a:r>
            <a:endParaRPr lang="en-US" sz="950" dirty="0"/>
          </a:p>
        </p:txBody>
      </p:sp>
      <p:sp>
        <p:nvSpPr>
          <p:cNvPr id="22" name="Text 20"/>
          <p:cNvSpPr/>
          <p:nvPr/>
        </p:nvSpPr>
        <p:spPr>
          <a:xfrm>
            <a:off x="5230368" y="1572768"/>
            <a:ext cx="1042416"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sınıf tahmini yok</a:t>
            </a:r>
            <a:endParaRPr lang="en-US" sz="800" dirty="0"/>
          </a:p>
        </p:txBody>
      </p:sp>
      <p:sp>
        <p:nvSpPr>
          <p:cNvPr id="23" name="Text 21"/>
          <p:cNvSpPr/>
          <p:nvPr/>
        </p:nvSpPr>
        <p:spPr>
          <a:xfrm>
            <a:off x="6309360" y="1298448"/>
            <a:ext cx="118872" cy="320040"/>
          </a:xfrm>
          <a:prstGeom prst="rect">
            <a:avLst/>
          </a:prstGeom>
          <a:noFill/>
          <a:ln/>
        </p:spPr>
        <p:txBody>
          <a:bodyPr wrap="square" rtlCol="0" anchor="ctr"/>
          <a:lstStyle/>
          <a:p>
            <a:pPr algn="ctr" indent="0" marL="0">
              <a:buNone/>
            </a:pPr>
            <a:r>
              <a:rPr lang="en-US" sz="1600" dirty="0">
                <a:solidFill>
                  <a:srgbClr val="1E3A5F"/>
                </a:solidFill>
              </a:rPr>
              <a:t>›</a:t>
            </a:r>
            <a:endParaRPr lang="en-US" sz="1600" dirty="0"/>
          </a:p>
        </p:txBody>
      </p:sp>
      <p:sp>
        <p:nvSpPr>
          <p:cNvPr id="24" name="Shape 22"/>
          <p:cNvSpPr/>
          <p:nvPr/>
        </p:nvSpPr>
        <p:spPr>
          <a:xfrm>
            <a:off x="6428232" y="1051560"/>
            <a:ext cx="1115568" cy="868680"/>
          </a:xfrm>
          <a:prstGeom prst="roundRect">
            <a:avLst>
              <a:gd name="adj" fmla="val 7368"/>
            </a:avLst>
          </a:prstGeom>
          <a:solidFill>
            <a:srgbClr val="0F2040"/>
          </a:solidFill>
          <a:ln w="19050">
            <a:solidFill>
              <a:srgbClr val="34D399"/>
            </a:solidFill>
            <a:prstDash val="solid"/>
          </a:ln>
        </p:spPr>
      </p:sp>
      <p:sp>
        <p:nvSpPr>
          <p:cNvPr id="25" name="Text 23"/>
          <p:cNvSpPr/>
          <p:nvPr/>
        </p:nvSpPr>
        <p:spPr>
          <a:xfrm>
            <a:off x="6473952" y="1097280"/>
            <a:ext cx="1024128" cy="502920"/>
          </a:xfrm>
          <a:prstGeom prst="rect">
            <a:avLst/>
          </a:prstGeom>
          <a:noFill/>
          <a:ln/>
        </p:spPr>
        <p:txBody>
          <a:bodyPr wrap="square" rtlCol="0" anchor="ctr"/>
          <a:lstStyle/>
          <a:p>
            <a:pPr algn="ctr" indent="0" marL="0">
              <a:buNone/>
            </a:pPr>
            <a:r>
              <a:rPr lang="en-US" sz="950" b="1" dirty="0">
                <a:solidFill>
                  <a:srgbClr val="F1F5F9"/>
                </a:solidFill>
                <a:latin typeface="Calibri" pitchFamily="34" charset="0"/>
                <a:ea typeface="Calibri" pitchFamily="34" charset="-122"/>
                <a:cs typeface="Calibri" pitchFamily="34" charset="-120"/>
              </a:rPr>
              <a:t>512-dim</a:t>
            </a:r>
            <a:endParaRPr lang="en-US" sz="950" dirty="0"/>
          </a:p>
          <a:p>
            <a:pPr algn="ctr" indent="0" marL="0">
              <a:buNone/>
            </a:pPr>
            <a:r>
              <a:rPr lang="en-US" sz="950" b="1" dirty="0">
                <a:solidFill>
                  <a:srgbClr val="F1F5F9"/>
                </a:solidFill>
                <a:latin typeface="Calibri" pitchFamily="34" charset="0"/>
                <a:ea typeface="Calibri" pitchFamily="34" charset="-122"/>
                <a:cs typeface="Calibri" pitchFamily="34" charset="-120"/>
              </a:rPr>
              <a:t>Embedding</a:t>
            </a:r>
            <a:endParaRPr lang="en-US" sz="950" dirty="0"/>
          </a:p>
        </p:txBody>
      </p:sp>
      <p:sp>
        <p:nvSpPr>
          <p:cNvPr id="26" name="Text 24"/>
          <p:cNvSpPr/>
          <p:nvPr/>
        </p:nvSpPr>
        <p:spPr>
          <a:xfrm>
            <a:off x="6464808" y="1572768"/>
            <a:ext cx="1042416"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ham özellik vektörü</a:t>
            </a:r>
            <a:endParaRPr lang="en-US" sz="800" dirty="0"/>
          </a:p>
        </p:txBody>
      </p:sp>
      <p:sp>
        <p:nvSpPr>
          <p:cNvPr id="27" name="Text 25"/>
          <p:cNvSpPr/>
          <p:nvPr/>
        </p:nvSpPr>
        <p:spPr>
          <a:xfrm>
            <a:off x="7543800" y="1298448"/>
            <a:ext cx="118872" cy="320040"/>
          </a:xfrm>
          <a:prstGeom prst="rect">
            <a:avLst/>
          </a:prstGeom>
          <a:noFill/>
          <a:ln/>
        </p:spPr>
        <p:txBody>
          <a:bodyPr wrap="square" rtlCol="0" anchor="ctr"/>
          <a:lstStyle/>
          <a:p>
            <a:pPr algn="ctr" indent="0" marL="0">
              <a:buNone/>
            </a:pPr>
            <a:r>
              <a:rPr lang="en-US" sz="1600" dirty="0">
                <a:solidFill>
                  <a:srgbClr val="1E3A5F"/>
                </a:solidFill>
              </a:rPr>
              <a:t>›</a:t>
            </a:r>
            <a:endParaRPr lang="en-US" sz="1600" dirty="0"/>
          </a:p>
        </p:txBody>
      </p:sp>
      <p:sp>
        <p:nvSpPr>
          <p:cNvPr id="28" name="Shape 26"/>
          <p:cNvSpPr/>
          <p:nvPr/>
        </p:nvSpPr>
        <p:spPr>
          <a:xfrm>
            <a:off x="7662672" y="1051560"/>
            <a:ext cx="1115568" cy="868680"/>
          </a:xfrm>
          <a:prstGeom prst="roundRect">
            <a:avLst>
              <a:gd name="adj" fmla="val 7368"/>
            </a:avLst>
          </a:prstGeom>
          <a:solidFill>
            <a:srgbClr val="0F2040"/>
          </a:solidFill>
          <a:ln w="19050">
            <a:solidFill>
              <a:srgbClr val="34D399"/>
            </a:solidFill>
            <a:prstDash val="solid"/>
          </a:ln>
        </p:spPr>
      </p:sp>
      <p:sp>
        <p:nvSpPr>
          <p:cNvPr id="29" name="Text 27"/>
          <p:cNvSpPr/>
          <p:nvPr/>
        </p:nvSpPr>
        <p:spPr>
          <a:xfrm>
            <a:off x="7708392" y="1097280"/>
            <a:ext cx="1024128" cy="502920"/>
          </a:xfrm>
          <a:prstGeom prst="rect">
            <a:avLst/>
          </a:prstGeom>
          <a:noFill/>
          <a:ln/>
        </p:spPr>
        <p:txBody>
          <a:bodyPr wrap="square" rtlCol="0" anchor="ctr"/>
          <a:lstStyle/>
          <a:p>
            <a:pPr algn="ctr" indent="0" marL="0">
              <a:buNone/>
            </a:pPr>
            <a:r>
              <a:rPr lang="en-US" sz="950" b="1" dirty="0">
                <a:solidFill>
                  <a:srgbClr val="F1F5F9"/>
                </a:solidFill>
                <a:latin typeface="Calibri" pitchFamily="34" charset="0"/>
                <a:ea typeface="Calibri" pitchFamily="34" charset="-122"/>
                <a:cs typeface="Calibri" pitchFamily="34" charset="-120"/>
              </a:rPr>
              <a:t>L2</a:t>
            </a:r>
            <a:endParaRPr lang="en-US" sz="950" dirty="0"/>
          </a:p>
          <a:p>
            <a:pPr algn="ctr" indent="0" marL="0">
              <a:buNone/>
            </a:pPr>
            <a:r>
              <a:rPr lang="en-US" sz="950" b="1" dirty="0">
                <a:solidFill>
                  <a:srgbClr val="F1F5F9"/>
                </a:solidFill>
                <a:latin typeface="Calibri" pitchFamily="34" charset="0"/>
                <a:ea typeface="Calibri" pitchFamily="34" charset="-122"/>
                <a:cs typeface="Calibri" pitchFamily="34" charset="-120"/>
              </a:rPr>
              <a:t>Normalizasyon</a:t>
            </a:r>
            <a:endParaRPr lang="en-US" sz="950" dirty="0"/>
          </a:p>
        </p:txBody>
      </p:sp>
      <p:sp>
        <p:nvSpPr>
          <p:cNvPr id="30" name="Text 28"/>
          <p:cNvSpPr/>
          <p:nvPr/>
        </p:nvSpPr>
        <p:spPr>
          <a:xfrm>
            <a:off x="7699248" y="1572768"/>
            <a:ext cx="1042416" cy="274320"/>
          </a:xfrm>
          <a:prstGeom prst="rect">
            <a:avLst/>
          </a:prstGeom>
          <a:noFill/>
          <a:ln/>
        </p:spPr>
        <p:txBody>
          <a:bodyPr wrap="square" rtlCol="0" anchor="ctr"/>
          <a:lstStyle/>
          <a:p>
            <a:pPr algn="ctr" indent="0" marL="0">
              <a:buNone/>
            </a:pPr>
            <a:r>
              <a:rPr lang="en-US" sz="800" dirty="0">
                <a:solidFill>
                  <a:srgbClr val="64748B"/>
                </a:solidFill>
                <a:latin typeface="Calibri" pitchFamily="34" charset="0"/>
                <a:ea typeface="Calibri" pitchFamily="34" charset="-122"/>
                <a:cs typeface="Calibri" pitchFamily="34" charset="-120"/>
              </a:rPr>
              <a:t>v / ||v||</a:t>
            </a:r>
            <a:endParaRPr lang="en-US" sz="800" dirty="0"/>
          </a:p>
        </p:txBody>
      </p:sp>
      <p:sp>
        <p:nvSpPr>
          <p:cNvPr id="31" name="Shape 29"/>
          <p:cNvSpPr/>
          <p:nvPr/>
        </p:nvSpPr>
        <p:spPr>
          <a:xfrm>
            <a:off x="365760" y="2148840"/>
            <a:ext cx="8412480" cy="914400"/>
          </a:xfrm>
          <a:prstGeom prst="rect">
            <a:avLst/>
          </a:prstGeom>
          <a:solidFill>
            <a:srgbClr val="0C1829"/>
          </a:solidFill>
          <a:ln w="15240">
            <a:solidFill>
              <a:srgbClr val="38BDF8"/>
            </a:solidFill>
            <a:prstDash val="solid"/>
          </a:ln>
        </p:spPr>
      </p:sp>
      <p:sp>
        <p:nvSpPr>
          <p:cNvPr id="32" name="Shape 30"/>
          <p:cNvSpPr/>
          <p:nvPr/>
        </p:nvSpPr>
        <p:spPr>
          <a:xfrm>
            <a:off x="365760" y="2148840"/>
            <a:ext cx="73152" cy="914400"/>
          </a:xfrm>
          <a:prstGeom prst="rect">
            <a:avLst/>
          </a:prstGeom>
          <a:solidFill>
            <a:srgbClr val="38BDF8"/>
          </a:solidFill>
          <a:ln w="12700">
            <a:solidFill>
              <a:srgbClr val="38BDF8"/>
            </a:solidFill>
            <a:prstDash val="solid"/>
          </a:ln>
        </p:spPr>
      </p:sp>
      <p:sp>
        <p:nvSpPr>
          <p:cNvPr id="33" name="Text 31"/>
          <p:cNvSpPr/>
          <p:nvPr/>
        </p:nvSpPr>
        <p:spPr>
          <a:xfrm>
            <a:off x="548640" y="2203704"/>
            <a:ext cx="8046720" cy="274320"/>
          </a:xfrm>
          <a:prstGeom prst="rect">
            <a:avLst/>
          </a:prstGeom>
          <a:noFill/>
          <a:ln/>
        </p:spPr>
        <p:txBody>
          <a:bodyPr wrap="square" rtlCol="0" anchor="ctr"/>
          <a:lstStyle/>
          <a:p>
            <a:pPr indent="0" marL="0">
              <a:buNone/>
            </a:pPr>
            <a:r>
              <a:rPr lang="en-US" sz="1150" b="1" dirty="0">
                <a:solidFill>
                  <a:srgbClr val="38BDF8"/>
                </a:solidFill>
                <a:latin typeface="Calibri" pitchFamily="34" charset="0"/>
                <a:ea typeface="Calibri" pitchFamily="34" charset="-122"/>
                <a:cs typeface="Calibri" pitchFamily="34" charset="-120"/>
              </a:rPr>
              <a:t>Neden pretrained (önceden eğitilmiş)?</a:t>
            </a:r>
            <a:endParaRPr lang="en-US" sz="1150" dirty="0"/>
          </a:p>
        </p:txBody>
      </p:sp>
      <p:sp>
        <p:nvSpPr>
          <p:cNvPr id="34" name="Text 32"/>
          <p:cNvSpPr/>
          <p:nvPr/>
        </p:nvSpPr>
        <p:spPr>
          <a:xfrm>
            <a:off x="548640" y="2478024"/>
            <a:ext cx="8046720" cy="512064"/>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ResNet18, 14 milyon görüntüyle ImageNet'te eğitilmiş. Kenar, doku, yapı gibi görsel özellikleri zaten öğrenmiş. İris dokusu analizi de bu tür düşük seviye özelliklere dayanır. Sıfırdan eğitmek hem çok veri hem çok zaman ister. Transfer learning ile bu bilgiyi ücretsiz alıyoruz.</a:t>
            </a:r>
            <a:endParaRPr lang="en-US" sz="1050" dirty="0"/>
          </a:p>
        </p:txBody>
      </p:sp>
      <p:sp>
        <p:nvSpPr>
          <p:cNvPr id="35" name="Shape 33"/>
          <p:cNvSpPr/>
          <p:nvPr/>
        </p:nvSpPr>
        <p:spPr>
          <a:xfrm>
            <a:off x="365760" y="3154680"/>
            <a:ext cx="8412480" cy="914400"/>
          </a:xfrm>
          <a:prstGeom prst="rect">
            <a:avLst/>
          </a:prstGeom>
          <a:solidFill>
            <a:srgbClr val="0C1829"/>
          </a:solidFill>
          <a:ln w="15240">
            <a:solidFill>
              <a:srgbClr val="818CF8"/>
            </a:solidFill>
            <a:prstDash val="solid"/>
          </a:ln>
        </p:spPr>
      </p:sp>
      <p:sp>
        <p:nvSpPr>
          <p:cNvPr id="36" name="Shape 34"/>
          <p:cNvSpPr/>
          <p:nvPr/>
        </p:nvSpPr>
        <p:spPr>
          <a:xfrm>
            <a:off x="365760" y="3154680"/>
            <a:ext cx="73152" cy="914400"/>
          </a:xfrm>
          <a:prstGeom prst="rect">
            <a:avLst/>
          </a:prstGeom>
          <a:solidFill>
            <a:srgbClr val="818CF8"/>
          </a:solidFill>
          <a:ln w="12700">
            <a:solidFill>
              <a:srgbClr val="818CF8"/>
            </a:solidFill>
            <a:prstDash val="solid"/>
          </a:ln>
        </p:spPr>
      </p:sp>
      <p:sp>
        <p:nvSpPr>
          <p:cNvPr id="37" name="Text 35"/>
          <p:cNvSpPr/>
          <p:nvPr/>
        </p:nvSpPr>
        <p:spPr>
          <a:xfrm>
            <a:off x="548640" y="3209544"/>
            <a:ext cx="8046720" cy="274320"/>
          </a:xfrm>
          <a:prstGeom prst="rect">
            <a:avLst/>
          </a:prstGeom>
          <a:noFill/>
          <a:ln/>
        </p:spPr>
        <p:txBody>
          <a:bodyPr wrap="square" rtlCol="0" anchor="ctr"/>
          <a:lstStyle/>
          <a:p>
            <a:pPr indent="0" marL="0">
              <a:buNone/>
            </a:pPr>
            <a:r>
              <a:rPr lang="en-US" sz="1150" b="1" dirty="0">
                <a:solidFill>
                  <a:srgbClr val="818CF8"/>
                </a:solidFill>
                <a:latin typeface="Calibri" pitchFamily="34" charset="0"/>
                <a:ea typeface="Calibri" pitchFamily="34" charset="-122"/>
                <a:cs typeface="Calibri" pitchFamily="34" charset="-120"/>
              </a:rPr>
              <a:t>fc = Identity() ne demek?</a:t>
            </a:r>
            <a:endParaRPr lang="en-US" sz="1150" dirty="0"/>
          </a:p>
        </p:txBody>
      </p:sp>
      <p:sp>
        <p:nvSpPr>
          <p:cNvPr id="38" name="Text 36"/>
          <p:cNvSpPr/>
          <p:nvPr/>
        </p:nvSpPr>
        <p:spPr>
          <a:xfrm>
            <a:off x="548640" y="3483864"/>
            <a:ext cx="8046720" cy="512064"/>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Normalde ResNet18'in son katmanı (fc) 1000 sınıf için olasılık çıkarır. Biz sınıflandırma yapmıyoruz, ham özellik vektörü istiyoruz. Bu yüzden son katmanı Identity (girdiyi olduğu gibi ilet) ile değiştirdik. Sonuç: 512 boyutlu, anlam yüklü bir sayı dizisi.</a:t>
            </a:r>
            <a:endParaRPr lang="en-US" sz="1050" dirty="0"/>
          </a:p>
        </p:txBody>
      </p:sp>
      <p:sp>
        <p:nvSpPr>
          <p:cNvPr id="39" name="Shape 37"/>
          <p:cNvSpPr/>
          <p:nvPr/>
        </p:nvSpPr>
        <p:spPr>
          <a:xfrm>
            <a:off x="365760" y="4160520"/>
            <a:ext cx="8412480" cy="914400"/>
          </a:xfrm>
          <a:prstGeom prst="rect">
            <a:avLst/>
          </a:prstGeom>
          <a:solidFill>
            <a:srgbClr val="0C1829"/>
          </a:solidFill>
          <a:ln w="15240">
            <a:solidFill>
              <a:srgbClr val="34D399"/>
            </a:solidFill>
            <a:prstDash val="solid"/>
          </a:ln>
        </p:spPr>
      </p:sp>
      <p:sp>
        <p:nvSpPr>
          <p:cNvPr id="40" name="Shape 38"/>
          <p:cNvSpPr/>
          <p:nvPr/>
        </p:nvSpPr>
        <p:spPr>
          <a:xfrm>
            <a:off x="365760" y="4160520"/>
            <a:ext cx="73152" cy="914400"/>
          </a:xfrm>
          <a:prstGeom prst="rect">
            <a:avLst/>
          </a:prstGeom>
          <a:solidFill>
            <a:srgbClr val="34D399"/>
          </a:solidFill>
          <a:ln w="12700">
            <a:solidFill>
              <a:srgbClr val="34D399"/>
            </a:solidFill>
            <a:prstDash val="solid"/>
          </a:ln>
        </p:spPr>
      </p:sp>
      <p:sp>
        <p:nvSpPr>
          <p:cNvPr id="41" name="Text 39"/>
          <p:cNvSpPr/>
          <p:nvPr/>
        </p:nvSpPr>
        <p:spPr>
          <a:xfrm>
            <a:off x="548640" y="4215384"/>
            <a:ext cx="8046720" cy="274320"/>
          </a:xfrm>
          <a:prstGeom prst="rect">
            <a:avLst/>
          </a:prstGeom>
          <a:noFill/>
          <a:ln/>
        </p:spPr>
        <p:txBody>
          <a:bodyPr wrap="square" rtlCol="0" anchor="ctr"/>
          <a:lstStyle/>
          <a:p>
            <a:pPr indent="0" marL="0">
              <a:buNone/>
            </a:pPr>
            <a:r>
              <a:rPr lang="en-US" sz="1150" b="1" dirty="0">
                <a:solidFill>
                  <a:srgbClr val="34D399"/>
                </a:solidFill>
                <a:latin typeface="Calibri" pitchFamily="34" charset="0"/>
                <a:ea typeface="Calibri" pitchFamily="34" charset="-122"/>
                <a:cs typeface="Calibri" pitchFamily="34" charset="-120"/>
              </a:rPr>
              <a:t>Neden L2 normalizasyonu?</a:t>
            </a:r>
            <a:endParaRPr lang="en-US" sz="1150" dirty="0"/>
          </a:p>
        </p:txBody>
      </p:sp>
      <p:sp>
        <p:nvSpPr>
          <p:cNvPr id="42" name="Text 40"/>
          <p:cNvSpPr/>
          <p:nvPr/>
        </p:nvSpPr>
        <p:spPr>
          <a:xfrm>
            <a:off x="548640" y="4489704"/>
            <a:ext cx="8046720" cy="512064"/>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512 boyutlu vektörü birim küreye taşır (her vektörün uzunluğu = 1). Bu sayede kosinüs benzerliği hesabı basitleşir: iki birim vektörün nokta çarpımı kosinüs açısını doğrudan verir. Aynı zamanda parlaklık farkı gibi mutlak büyüklük etkilerini sıfırlar.</a:t>
            </a:r>
            <a:endParaRPr lang="en-US" sz="10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70E1B"/>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Adım 5b  —  Klasik Özellik Çıkarma (Fallback)</a:t>
            </a:r>
            <a:endParaRPr lang="en-US" sz="3200" dirty="0"/>
          </a:p>
        </p:txBody>
      </p:sp>
      <p:sp>
        <p:nvSpPr>
          <p:cNvPr id="3" name="Text 1"/>
          <p:cNvSpPr/>
          <p:nvPr/>
        </p:nvSpPr>
        <p:spPr>
          <a:xfrm>
            <a:off x="457200" y="749808"/>
            <a:ext cx="8229600" cy="292608"/>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PyTorch yüklenemezse otomatik devreye girer — Graceful Fallback</a:t>
            </a:r>
            <a:endParaRPr lang="en-US" sz="1300" dirty="0"/>
          </a:p>
        </p:txBody>
      </p:sp>
      <p:sp>
        <p:nvSpPr>
          <p:cNvPr id="4" name="Shape 2"/>
          <p:cNvSpPr/>
          <p:nvPr/>
        </p:nvSpPr>
        <p:spPr>
          <a:xfrm>
            <a:off x="365760" y="1078992"/>
            <a:ext cx="8412480" cy="502920"/>
          </a:xfrm>
          <a:prstGeom prst="rect">
            <a:avLst/>
          </a:prstGeom>
          <a:solidFill>
            <a:srgbClr val="0A1A0A"/>
          </a:solidFill>
          <a:ln w="19050">
            <a:solidFill>
              <a:srgbClr val="34D399"/>
            </a:solidFill>
            <a:prstDash val="solid"/>
          </a:ln>
        </p:spPr>
      </p:sp>
      <p:sp>
        <p:nvSpPr>
          <p:cNvPr id="5" name="Text 3"/>
          <p:cNvSpPr/>
          <p:nvPr/>
        </p:nvSpPr>
        <p:spPr>
          <a:xfrm>
            <a:off x="502920" y="1097280"/>
            <a:ext cx="8138160" cy="466344"/>
          </a:xfrm>
          <a:prstGeom prst="rect">
            <a:avLst/>
          </a:prstGeom>
          <a:noFill/>
          <a:ln/>
        </p:spPr>
        <p:txBody>
          <a:bodyPr wrap="square" rtlCol="0" anchor="ctr"/>
          <a:lstStyle/>
          <a:p>
            <a:pPr indent="0" marL="0">
              <a:buNone/>
            </a:pPr>
            <a:r>
              <a:rPr lang="en-US" sz="1150" dirty="0">
                <a:solidFill>
                  <a:srgbClr val="34D399"/>
                </a:solidFill>
                <a:latin typeface="Calibri" pitchFamily="34" charset="0"/>
                <a:ea typeface="Calibri" pitchFamily="34" charset="-122"/>
                <a:cs typeface="Calibri" pitchFamily="34" charset="-120"/>
              </a:rPr>
              <a:t>💡  try: ResNet18  →  except: Gabor + LBP + Gradyan  —  Sistem farklı donanım ve ortamlarda çalışmaya devam eder.</a:t>
            </a:r>
            <a:endParaRPr lang="en-US" sz="1150" dirty="0"/>
          </a:p>
        </p:txBody>
      </p:sp>
      <p:sp>
        <p:nvSpPr>
          <p:cNvPr id="6" name="Shape 4"/>
          <p:cNvSpPr/>
          <p:nvPr/>
        </p:nvSpPr>
        <p:spPr>
          <a:xfrm>
            <a:off x="365760" y="1737360"/>
            <a:ext cx="2697480" cy="3383280"/>
          </a:xfrm>
          <a:prstGeom prst="rect">
            <a:avLst/>
          </a:prstGeom>
          <a:solidFill>
            <a:srgbClr val="0C1829"/>
          </a:solidFill>
          <a:ln w="19050">
            <a:solidFill>
              <a:srgbClr val="FBBF24"/>
            </a:solidFill>
            <a:prstDash val="solid"/>
          </a:ln>
        </p:spPr>
      </p:sp>
      <p:sp>
        <p:nvSpPr>
          <p:cNvPr id="7" name="Shape 5"/>
          <p:cNvSpPr/>
          <p:nvPr/>
        </p:nvSpPr>
        <p:spPr>
          <a:xfrm>
            <a:off x="365760" y="1737360"/>
            <a:ext cx="2697480" cy="502920"/>
          </a:xfrm>
          <a:prstGeom prst="rect">
            <a:avLst/>
          </a:prstGeom>
          <a:solidFill>
            <a:srgbClr val="0F2040"/>
          </a:solidFill>
          <a:ln w="12700">
            <a:solidFill>
              <a:srgbClr val="FBBF24"/>
            </a:solidFill>
            <a:prstDash val="solid"/>
          </a:ln>
        </p:spPr>
      </p:sp>
      <p:sp>
        <p:nvSpPr>
          <p:cNvPr id="8" name="Text 6"/>
          <p:cNvSpPr/>
          <p:nvPr/>
        </p:nvSpPr>
        <p:spPr>
          <a:xfrm>
            <a:off x="475488" y="1764792"/>
            <a:ext cx="1920240" cy="438912"/>
          </a:xfrm>
          <a:prstGeom prst="rect">
            <a:avLst/>
          </a:prstGeom>
          <a:noFill/>
          <a:ln/>
        </p:spPr>
        <p:txBody>
          <a:bodyPr wrap="square" rtlCol="0" anchor="ctr"/>
          <a:lstStyle/>
          <a:p>
            <a:pPr indent="0" marL="0">
              <a:buNone/>
            </a:pPr>
            <a:r>
              <a:rPr lang="en-US" sz="1100" b="1" dirty="0">
                <a:solidFill>
                  <a:srgbClr val="FBBF24"/>
                </a:solidFill>
                <a:latin typeface="Calibri" pitchFamily="34" charset="0"/>
                <a:ea typeface="Calibri" pitchFamily="34" charset="-122"/>
                <a:cs typeface="Calibri" pitchFamily="34" charset="-120"/>
              </a:rPr>
              <a:t>Gabor Filtresi</a:t>
            </a:r>
            <a:endParaRPr lang="en-US" sz="1100" dirty="0"/>
          </a:p>
        </p:txBody>
      </p:sp>
      <p:sp>
        <p:nvSpPr>
          <p:cNvPr id="9" name="Shape 7"/>
          <p:cNvSpPr/>
          <p:nvPr/>
        </p:nvSpPr>
        <p:spPr>
          <a:xfrm>
            <a:off x="2606040" y="1828800"/>
            <a:ext cx="365760" cy="320040"/>
          </a:xfrm>
          <a:prstGeom prst="ellipse">
            <a:avLst/>
          </a:prstGeom>
          <a:solidFill>
            <a:srgbClr val="FBBF24"/>
          </a:solidFill>
          <a:ln w="12700">
            <a:solidFill>
              <a:srgbClr val="FBBF24"/>
            </a:solidFill>
            <a:prstDash val="solid"/>
          </a:ln>
        </p:spPr>
      </p:sp>
      <p:sp>
        <p:nvSpPr>
          <p:cNvPr id="10" name="Text 8"/>
          <p:cNvSpPr/>
          <p:nvPr/>
        </p:nvSpPr>
        <p:spPr>
          <a:xfrm>
            <a:off x="2606040" y="1828800"/>
            <a:ext cx="365760" cy="320040"/>
          </a:xfrm>
          <a:prstGeom prst="rect">
            <a:avLst/>
          </a:prstGeom>
          <a:noFill/>
          <a:ln/>
        </p:spPr>
        <p:txBody>
          <a:bodyPr wrap="square" rtlCol="0" anchor="ctr"/>
          <a:lstStyle/>
          <a:p>
            <a:pPr algn="ctr" indent="0" marL="0">
              <a:buNone/>
            </a:pPr>
            <a:r>
              <a:rPr lang="en-US" sz="850" b="1" dirty="0">
                <a:solidFill>
                  <a:srgbClr val="030810"/>
                </a:solidFill>
                <a:latin typeface="Calibri" pitchFamily="34" charset="0"/>
                <a:ea typeface="Calibri" pitchFamily="34" charset="-122"/>
                <a:cs typeface="Calibri" pitchFamily="34" charset="-120"/>
              </a:rPr>
              <a:t>65%</a:t>
            </a:r>
            <a:endParaRPr lang="en-US" sz="850" dirty="0"/>
          </a:p>
        </p:txBody>
      </p:sp>
      <p:sp>
        <p:nvSpPr>
          <p:cNvPr id="11" name="Text 9"/>
          <p:cNvSpPr/>
          <p:nvPr/>
        </p:nvSpPr>
        <p:spPr>
          <a:xfrm>
            <a:off x="475488" y="2340864"/>
            <a:ext cx="2487168" cy="4572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3 farklı frekans × 4 farklı yön = 12 filtre bankası</a:t>
            </a:r>
            <a:endParaRPr lang="en-US" sz="950" dirty="0"/>
          </a:p>
        </p:txBody>
      </p:sp>
      <p:sp>
        <p:nvSpPr>
          <p:cNvPr id="12" name="Text 10"/>
          <p:cNvSpPr/>
          <p:nvPr/>
        </p:nvSpPr>
        <p:spPr>
          <a:xfrm>
            <a:off x="475488" y="2852928"/>
            <a:ext cx="2487168" cy="4572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Her filtre belirli bir doku örüntüsüne duyarlı</a:t>
            </a:r>
            <a:endParaRPr lang="en-US" sz="950" dirty="0"/>
          </a:p>
        </p:txBody>
      </p:sp>
      <p:sp>
        <p:nvSpPr>
          <p:cNvPr id="13" name="Text 11"/>
          <p:cNvSpPr/>
          <p:nvPr/>
        </p:nvSpPr>
        <p:spPr>
          <a:xfrm>
            <a:off x="475488" y="3364992"/>
            <a:ext cx="2487168" cy="4572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Filtrelenmiş görüntüdeki işaret bit kodlama (±1)</a:t>
            </a:r>
            <a:endParaRPr lang="en-US" sz="950" dirty="0"/>
          </a:p>
        </p:txBody>
      </p:sp>
      <p:sp>
        <p:nvSpPr>
          <p:cNvPr id="14" name="Text 12"/>
          <p:cNvSpPr/>
          <p:nvPr/>
        </p:nvSpPr>
        <p:spPr>
          <a:xfrm>
            <a:off x="475488" y="3877056"/>
            <a:ext cx="2487168" cy="4572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İris dokusunun temel frekans bileşenlerini yakalar</a:t>
            </a:r>
            <a:endParaRPr lang="en-US" sz="950" dirty="0"/>
          </a:p>
        </p:txBody>
      </p:sp>
      <p:sp>
        <p:nvSpPr>
          <p:cNvPr id="15" name="Text 13"/>
          <p:cNvSpPr/>
          <p:nvPr/>
        </p:nvSpPr>
        <p:spPr>
          <a:xfrm>
            <a:off x="475488" y="4389120"/>
            <a:ext cx="2487168" cy="4572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Biyometrik sistemlerde onlarca yıldır kullanılan standart</a:t>
            </a:r>
            <a:endParaRPr lang="en-US" sz="950" dirty="0"/>
          </a:p>
        </p:txBody>
      </p:sp>
      <p:sp>
        <p:nvSpPr>
          <p:cNvPr id="16" name="Shape 14"/>
          <p:cNvSpPr/>
          <p:nvPr/>
        </p:nvSpPr>
        <p:spPr>
          <a:xfrm>
            <a:off x="3264408" y="1737360"/>
            <a:ext cx="2697480" cy="3383280"/>
          </a:xfrm>
          <a:prstGeom prst="rect">
            <a:avLst/>
          </a:prstGeom>
          <a:solidFill>
            <a:srgbClr val="0C1829"/>
          </a:solidFill>
          <a:ln w="19050">
            <a:solidFill>
              <a:srgbClr val="60A5FA"/>
            </a:solidFill>
            <a:prstDash val="solid"/>
          </a:ln>
        </p:spPr>
      </p:sp>
      <p:sp>
        <p:nvSpPr>
          <p:cNvPr id="17" name="Shape 15"/>
          <p:cNvSpPr/>
          <p:nvPr/>
        </p:nvSpPr>
        <p:spPr>
          <a:xfrm>
            <a:off x="3264408" y="1737360"/>
            <a:ext cx="2697480" cy="502920"/>
          </a:xfrm>
          <a:prstGeom prst="rect">
            <a:avLst/>
          </a:prstGeom>
          <a:solidFill>
            <a:srgbClr val="0F2040"/>
          </a:solidFill>
          <a:ln w="12700">
            <a:solidFill>
              <a:srgbClr val="60A5FA"/>
            </a:solidFill>
            <a:prstDash val="solid"/>
          </a:ln>
        </p:spPr>
      </p:sp>
      <p:sp>
        <p:nvSpPr>
          <p:cNvPr id="18" name="Text 16"/>
          <p:cNvSpPr/>
          <p:nvPr/>
        </p:nvSpPr>
        <p:spPr>
          <a:xfrm>
            <a:off x="3374136" y="1764792"/>
            <a:ext cx="1920240" cy="438912"/>
          </a:xfrm>
          <a:prstGeom prst="rect">
            <a:avLst/>
          </a:prstGeom>
          <a:noFill/>
          <a:ln/>
        </p:spPr>
        <p:txBody>
          <a:bodyPr wrap="square" rtlCol="0" anchor="ctr"/>
          <a:lstStyle/>
          <a:p>
            <a:pPr indent="0" marL="0">
              <a:buNone/>
            </a:pPr>
            <a:r>
              <a:rPr lang="en-US" sz="1100" b="1" dirty="0">
                <a:solidFill>
                  <a:srgbClr val="60A5FA"/>
                </a:solidFill>
                <a:latin typeface="Calibri" pitchFamily="34" charset="0"/>
                <a:ea typeface="Calibri" pitchFamily="34" charset="-122"/>
                <a:cs typeface="Calibri" pitchFamily="34" charset="-120"/>
              </a:rPr>
              <a:t>LBP — Yerel İkili Örüntü</a:t>
            </a:r>
            <a:endParaRPr lang="en-US" sz="1100" dirty="0"/>
          </a:p>
        </p:txBody>
      </p:sp>
      <p:sp>
        <p:nvSpPr>
          <p:cNvPr id="19" name="Shape 17"/>
          <p:cNvSpPr/>
          <p:nvPr/>
        </p:nvSpPr>
        <p:spPr>
          <a:xfrm>
            <a:off x="5504688" y="1828800"/>
            <a:ext cx="365760" cy="320040"/>
          </a:xfrm>
          <a:prstGeom prst="ellipse">
            <a:avLst/>
          </a:prstGeom>
          <a:solidFill>
            <a:srgbClr val="60A5FA"/>
          </a:solidFill>
          <a:ln w="12700">
            <a:solidFill>
              <a:srgbClr val="60A5FA"/>
            </a:solidFill>
            <a:prstDash val="solid"/>
          </a:ln>
        </p:spPr>
      </p:sp>
      <p:sp>
        <p:nvSpPr>
          <p:cNvPr id="20" name="Text 18"/>
          <p:cNvSpPr/>
          <p:nvPr/>
        </p:nvSpPr>
        <p:spPr>
          <a:xfrm>
            <a:off x="5504688" y="1828800"/>
            <a:ext cx="365760" cy="320040"/>
          </a:xfrm>
          <a:prstGeom prst="rect">
            <a:avLst/>
          </a:prstGeom>
          <a:noFill/>
          <a:ln/>
        </p:spPr>
        <p:txBody>
          <a:bodyPr wrap="square" rtlCol="0" anchor="ctr"/>
          <a:lstStyle/>
          <a:p>
            <a:pPr algn="ctr" indent="0" marL="0">
              <a:buNone/>
            </a:pPr>
            <a:r>
              <a:rPr lang="en-US" sz="850" b="1" dirty="0">
                <a:solidFill>
                  <a:srgbClr val="030810"/>
                </a:solidFill>
                <a:latin typeface="Calibri" pitchFamily="34" charset="0"/>
                <a:ea typeface="Calibri" pitchFamily="34" charset="-122"/>
                <a:cs typeface="Calibri" pitchFamily="34" charset="-120"/>
              </a:rPr>
              <a:t>25%</a:t>
            </a:r>
            <a:endParaRPr lang="en-US" sz="850" dirty="0"/>
          </a:p>
        </p:txBody>
      </p:sp>
      <p:sp>
        <p:nvSpPr>
          <p:cNvPr id="21" name="Text 19"/>
          <p:cNvSpPr/>
          <p:nvPr/>
        </p:nvSpPr>
        <p:spPr>
          <a:xfrm>
            <a:off x="3374136" y="2340864"/>
            <a:ext cx="2487168" cy="4572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r=2, 16 komşu nokta parametresi</a:t>
            </a:r>
            <a:endParaRPr lang="en-US" sz="950" dirty="0"/>
          </a:p>
        </p:txBody>
      </p:sp>
      <p:sp>
        <p:nvSpPr>
          <p:cNvPr id="22" name="Text 20"/>
          <p:cNvSpPr/>
          <p:nvPr/>
        </p:nvSpPr>
        <p:spPr>
          <a:xfrm>
            <a:off x="3374136" y="2852928"/>
            <a:ext cx="2487168" cy="4572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Her piksel merkez, çevresindeki komşularıyla karşılaştırılır</a:t>
            </a:r>
            <a:endParaRPr lang="en-US" sz="950" dirty="0"/>
          </a:p>
        </p:txBody>
      </p:sp>
      <p:sp>
        <p:nvSpPr>
          <p:cNvPr id="23" name="Text 21"/>
          <p:cNvSpPr/>
          <p:nvPr/>
        </p:nvSpPr>
        <p:spPr>
          <a:xfrm>
            <a:off x="3374136" y="3364992"/>
            <a:ext cx="2487168" cy="4572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Büyük &gt; küçük → 1, değilse → 0 (ikili kod)</a:t>
            </a:r>
            <a:endParaRPr lang="en-US" sz="950" dirty="0"/>
          </a:p>
        </p:txBody>
      </p:sp>
      <p:sp>
        <p:nvSpPr>
          <p:cNvPr id="24" name="Text 22"/>
          <p:cNvSpPr/>
          <p:nvPr/>
        </p:nvSpPr>
        <p:spPr>
          <a:xfrm>
            <a:off x="3374136" y="3877056"/>
            <a:ext cx="2487168" cy="4572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Uniform histogram oluşturulur</a:t>
            </a:r>
            <a:endParaRPr lang="en-US" sz="950" dirty="0"/>
          </a:p>
        </p:txBody>
      </p:sp>
      <p:sp>
        <p:nvSpPr>
          <p:cNvPr id="25" name="Text 23"/>
          <p:cNvSpPr/>
          <p:nvPr/>
        </p:nvSpPr>
        <p:spPr>
          <a:xfrm>
            <a:off x="3374136" y="4389120"/>
            <a:ext cx="2487168" cy="4572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Aydınlatmaya karşı doğal olarak dirençlidir</a:t>
            </a:r>
            <a:endParaRPr lang="en-US" sz="950" dirty="0"/>
          </a:p>
        </p:txBody>
      </p:sp>
      <p:sp>
        <p:nvSpPr>
          <p:cNvPr id="26" name="Shape 24"/>
          <p:cNvSpPr/>
          <p:nvPr/>
        </p:nvSpPr>
        <p:spPr>
          <a:xfrm>
            <a:off x="6163056" y="1737360"/>
            <a:ext cx="2697480" cy="3383280"/>
          </a:xfrm>
          <a:prstGeom prst="rect">
            <a:avLst/>
          </a:prstGeom>
          <a:solidFill>
            <a:srgbClr val="0C1829"/>
          </a:solidFill>
          <a:ln w="19050">
            <a:solidFill>
              <a:srgbClr val="94A3B8"/>
            </a:solidFill>
            <a:prstDash val="solid"/>
          </a:ln>
        </p:spPr>
      </p:sp>
      <p:sp>
        <p:nvSpPr>
          <p:cNvPr id="27" name="Shape 25"/>
          <p:cNvSpPr/>
          <p:nvPr/>
        </p:nvSpPr>
        <p:spPr>
          <a:xfrm>
            <a:off x="6163056" y="1737360"/>
            <a:ext cx="2697480" cy="502920"/>
          </a:xfrm>
          <a:prstGeom prst="rect">
            <a:avLst/>
          </a:prstGeom>
          <a:solidFill>
            <a:srgbClr val="0F2040"/>
          </a:solidFill>
          <a:ln w="12700">
            <a:solidFill>
              <a:srgbClr val="94A3B8"/>
            </a:solidFill>
            <a:prstDash val="solid"/>
          </a:ln>
        </p:spPr>
      </p:sp>
      <p:sp>
        <p:nvSpPr>
          <p:cNvPr id="28" name="Text 26"/>
          <p:cNvSpPr/>
          <p:nvPr/>
        </p:nvSpPr>
        <p:spPr>
          <a:xfrm>
            <a:off x="6272784" y="1764792"/>
            <a:ext cx="1920240" cy="438912"/>
          </a:xfrm>
          <a:prstGeom prst="rect">
            <a:avLst/>
          </a:prstGeom>
          <a:noFill/>
          <a:ln/>
        </p:spPr>
        <p:txBody>
          <a:bodyPr wrap="square" rtlCol="0" anchor="ctr"/>
          <a:lstStyle/>
          <a:p>
            <a:pPr indent="0" marL="0">
              <a:buNone/>
            </a:pPr>
            <a:r>
              <a:rPr lang="en-US" sz="1100" b="1" dirty="0">
                <a:solidFill>
                  <a:srgbClr val="94A3B8"/>
                </a:solidFill>
                <a:latin typeface="Calibri" pitchFamily="34" charset="0"/>
                <a:ea typeface="Calibri" pitchFamily="34" charset="-122"/>
                <a:cs typeface="Calibri" pitchFamily="34" charset="-120"/>
              </a:rPr>
              <a:t>Gradyan Özellikleri</a:t>
            </a:r>
            <a:endParaRPr lang="en-US" sz="1100" dirty="0"/>
          </a:p>
        </p:txBody>
      </p:sp>
      <p:sp>
        <p:nvSpPr>
          <p:cNvPr id="29" name="Shape 27"/>
          <p:cNvSpPr/>
          <p:nvPr/>
        </p:nvSpPr>
        <p:spPr>
          <a:xfrm>
            <a:off x="8403336" y="1828800"/>
            <a:ext cx="365760" cy="320040"/>
          </a:xfrm>
          <a:prstGeom prst="ellipse">
            <a:avLst/>
          </a:prstGeom>
          <a:solidFill>
            <a:srgbClr val="94A3B8"/>
          </a:solidFill>
          <a:ln w="12700">
            <a:solidFill>
              <a:srgbClr val="94A3B8"/>
            </a:solidFill>
            <a:prstDash val="solid"/>
          </a:ln>
        </p:spPr>
      </p:sp>
      <p:sp>
        <p:nvSpPr>
          <p:cNvPr id="30" name="Text 28"/>
          <p:cNvSpPr/>
          <p:nvPr/>
        </p:nvSpPr>
        <p:spPr>
          <a:xfrm>
            <a:off x="8403336" y="1828800"/>
            <a:ext cx="365760" cy="320040"/>
          </a:xfrm>
          <a:prstGeom prst="rect">
            <a:avLst/>
          </a:prstGeom>
          <a:noFill/>
          <a:ln/>
        </p:spPr>
        <p:txBody>
          <a:bodyPr wrap="square" rtlCol="0" anchor="ctr"/>
          <a:lstStyle/>
          <a:p>
            <a:pPr algn="ctr" indent="0" marL="0">
              <a:buNone/>
            </a:pPr>
            <a:r>
              <a:rPr lang="en-US" sz="850" b="1" dirty="0">
                <a:solidFill>
                  <a:srgbClr val="030810"/>
                </a:solidFill>
                <a:latin typeface="Calibri" pitchFamily="34" charset="0"/>
                <a:ea typeface="Calibri" pitchFamily="34" charset="-122"/>
                <a:cs typeface="Calibri" pitchFamily="34" charset="-120"/>
              </a:rPr>
              <a:t>10%</a:t>
            </a:r>
            <a:endParaRPr lang="en-US" sz="850" dirty="0"/>
          </a:p>
        </p:txBody>
      </p:sp>
      <p:sp>
        <p:nvSpPr>
          <p:cNvPr id="31" name="Text 29"/>
          <p:cNvSpPr/>
          <p:nvPr/>
        </p:nvSpPr>
        <p:spPr>
          <a:xfrm>
            <a:off x="6272784" y="2340864"/>
            <a:ext cx="2487168" cy="4572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Sobel operatörü ile X ve Y yönünde gradyan</a:t>
            </a:r>
            <a:endParaRPr lang="en-US" sz="950" dirty="0"/>
          </a:p>
        </p:txBody>
      </p:sp>
      <p:sp>
        <p:nvSpPr>
          <p:cNvPr id="32" name="Text 30"/>
          <p:cNvSpPr/>
          <p:nvPr/>
        </p:nvSpPr>
        <p:spPr>
          <a:xfrm>
            <a:off x="6272784" y="2852928"/>
            <a:ext cx="2487168" cy="4572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Büyüklük haritası hesaplanır</a:t>
            </a:r>
            <a:endParaRPr lang="en-US" sz="950" dirty="0"/>
          </a:p>
        </p:txBody>
      </p:sp>
      <p:sp>
        <p:nvSpPr>
          <p:cNvPr id="33" name="Text 31"/>
          <p:cNvSpPr/>
          <p:nvPr/>
        </p:nvSpPr>
        <p:spPr>
          <a:xfrm>
            <a:off x="6272784" y="3364992"/>
            <a:ext cx="2487168" cy="4572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Satır ve sütun bazlı ortalama değerler</a:t>
            </a:r>
            <a:endParaRPr lang="en-US" sz="950" dirty="0"/>
          </a:p>
        </p:txBody>
      </p:sp>
      <p:sp>
        <p:nvSpPr>
          <p:cNvPr id="34" name="Text 32"/>
          <p:cNvSpPr/>
          <p:nvPr/>
        </p:nvSpPr>
        <p:spPr>
          <a:xfrm>
            <a:off x="6272784" y="3877056"/>
            <a:ext cx="2487168" cy="4572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İrisin genel yapısal bilgisini taşır</a:t>
            </a:r>
            <a:endParaRPr lang="en-US" sz="950" dirty="0"/>
          </a:p>
        </p:txBody>
      </p:sp>
      <p:sp>
        <p:nvSpPr>
          <p:cNvPr id="35" name="Text 33"/>
          <p:cNvSpPr/>
          <p:nvPr/>
        </p:nvSpPr>
        <p:spPr>
          <a:xfrm>
            <a:off x="6272784" y="4389120"/>
            <a:ext cx="2487168" cy="457200"/>
          </a:xfrm>
          <a:prstGeom prst="rect">
            <a:avLst/>
          </a:prstGeom>
          <a:noFill/>
          <a:ln/>
        </p:spPr>
        <p:txBody>
          <a:bodyPr wrap="square" rtlCol="0" anchor="ctr"/>
          <a:lstStyle/>
          <a:p>
            <a:pPr indent="0" marL="0">
              <a:buNone/>
            </a:pPr>
            <a:r>
              <a:rPr lang="en-US" sz="950" dirty="0">
                <a:solidFill>
                  <a:srgbClr val="64748B"/>
                </a:solidFill>
                <a:latin typeface="Calibri" pitchFamily="34" charset="0"/>
                <a:ea typeface="Calibri" pitchFamily="34" charset="-122"/>
                <a:cs typeface="Calibri" pitchFamily="34" charset="-120"/>
              </a:rPr>
              <a:t>· Diğer iki yöntemi destekler</a:t>
            </a:r>
            <a:endParaRPr lang="en-US" sz="950" dirty="0"/>
          </a:p>
        </p:txBody>
      </p:sp>
      <p:sp>
        <p:nvSpPr>
          <p:cNvPr id="36" name="Shape 34"/>
          <p:cNvSpPr/>
          <p:nvPr/>
        </p:nvSpPr>
        <p:spPr>
          <a:xfrm>
            <a:off x="365760" y="5212080"/>
            <a:ext cx="8412480" cy="182880"/>
          </a:xfrm>
          <a:prstGeom prst="rect">
            <a:avLst/>
          </a:prstGeom>
          <a:solidFill>
            <a:srgbClr val="0C1829"/>
          </a:solidFill>
          <a:ln w="12700">
            <a:solidFill>
              <a:srgbClr val="1E3A5F"/>
            </a:solidFill>
            <a:prstDash val="solid"/>
          </a:ln>
        </p:spPr>
      </p:sp>
      <p:sp>
        <p:nvSpPr>
          <p:cNvPr id="37" name="Text 35"/>
          <p:cNvSpPr/>
          <p:nvPr/>
        </p:nvSpPr>
        <p:spPr>
          <a:xfrm>
            <a:off x="365760" y="5212080"/>
            <a:ext cx="8412480" cy="182880"/>
          </a:xfrm>
          <a:prstGeom prst="rect">
            <a:avLst/>
          </a:prstGeom>
          <a:noFill/>
          <a:ln/>
        </p:spPr>
        <p:txBody>
          <a:bodyPr wrap="square" rtlCol="0" anchor="ctr"/>
          <a:lstStyle/>
          <a:p>
            <a:pPr algn="ctr" indent="0" marL="0">
              <a:buNone/>
            </a:pPr>
            <a:r>
              <a:rPr lang="en-US" sz="950" dirty="0">
                <a:solidFill>
                  <a:srgbClr val="64748B"/>
                </a:solidFill>
                <a:latin typeface="Calibri" pitchFamily="34" charset="0"/>
                <a:ea typeface="Calibri" pitchFamily="34" charset="-122"/>
                <a:cs typeface="Calibri" pitchFamily="34" charset="-120"/>
              </a:rPr>
              <a:t>Son vektör: Gabor(%65) + LBP(%25) + Gradyan(%10) ağırlıklı birleştirme — L2 normalizasyon</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70E1B"/>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Adım 6  —  Göz Yönü Tespiti</a:t>
            </a:r>
            <a:endParaRPr lang="en-US" sz="3200" dirty="0"/>
          </a:p>
        </p:txBody>
      </p:sp>
      <p:sp>
        <p:nvSpPr>
          <p:cNvPr id="3" name="Text 1"/>
          <p:cNvSpPr/>
          <p:nvPr/>
        </p:nvSpPr>
        <p:spPr>
          <a:xfrm>
            <a:off x="457200" y="749808"/>
            <a:ext cx="8229600" cy="292608"/>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Ayrı eğitilmiş ML modeli — HOG + LinearSVC ile sağ/sol sınıflandırma</a:t>
            </a:r>
            <a:endParaRPr lang="en-US" sz="1300" dirty="0"/>
          </a:p>
        </p:txBody>
      </p:sp>
      <p:sp>
        <p:nvSpPr>
          <p:cNvPr id="4" name="Shape 2"/>
          <p:cNvSpPr/>
          <p:nvPr/>
        </p:nvSpPr>
        <p:spPr>
          <a:xfrm>
            <a:off x="365760" y="1078992"/>
            <a:ext cx="8412480" cy="502920"/>
          </a:xfrm>
          <a:prstGeom prst="rect">
            <a:avLst/>
          </a:prstGeom>
          <a:solidFill>
            <a:srgbClr val="150800"/>
          </a:solidFill>
          <a:ln w="19050">
            <a:solidFill>
              <a:srgbClr val="FB923C"/>
            </a:solidFill>
            <a:prstDash val="solid"/>
          </a:ln>
        </p:spPr>
      </p:sp>
      <p:sp>
        <p:nvSpPr>
          <p:cNvPr id="5" name="Text 3"/>
          <p:cNvSpPr/>
          <p:nvPr/>
        </p:nvSpPr>
        <p:spPr>
          <a:xfrm>
            <a:off x="502920" y="1097280"/>
            <a:ext cx="8138160" cy="466344"/>
          </a:xfrm>
          <a:prstGeom prst="rect">
            <a:avLst/>
          </a:prstGeom>
          <a:noFill/>
          <a:ln/>
        </p:spPr>
        <p:txBody>
          <a:bodyPr wrap="square" rtlCol="0" anchor="ctr"/>
          <a:lstStyle/>
          <a:p>
            <a:pPr indent="0" marL="0">
              <a:buNone/>
            </a:pPr>
            <a:r>
              <a:rPr lang="en-US" sz="1100" dirty="0">
                <a:solidFill>
                  <a:srgbClr val="FB923C"/>
                </a:solidFill>
                <a:latin typeface="Calibri" pitchFamily="34" charset="0"/>
                <a:ea typeface="Calibri" pitchFamily="34" charset="-122"/>
                <a:cs typeface="Calibri" pitchFamily="34" charset="-120"/>
              </a:rPr>
              <a:t>❓  Sorun:  Kullanıcı yanlışlıkla sağ yerine sol göz görüntüsü yüklerse, sistem yanlış profille eşleştirmeye çalışır → hatalı sonuç. Bu modül girilen gözü otomatik etiketler.</a:t>
            </a:r>
            <a:endParaRPr lang="en-US" sz="1100" dirty="0"/>
          </a:p>
        </p:txBody>
      </p:sp>
      <p:sp>
        <p:nvSpPr>
          <p:cNvPr id="6" name="Shape 4"/>
          <p:cNvSpPr/>
          <p:nvPr/>
        </p:nvSpPr>
        <p:spPr>
          <a:xfrm>
            <a:off x="365760" y="1737360"/>
            <a:ext cx="4114800" cy="3291840"/>
          </a:xfrm>
          <a:prstGeom prst="rect">
            <a:avLst/>
          </a:prstGeom>
          <a:solidFill>
            <a:srgbClr val="0C1829"/>
          </a:solidFill>
          <a:ln w="19050">
            <a:solidFill>
              <a:srgbClr val="34D399"/>
            </a:solidFill>
            <a:prstDash val="solid"/>
          </a:ln>
        </p:spPr>
      </p:sp>
      <p:sp>
        <p:nvSpPr>
          <p:cNvPr id="7" name="Shape 5"/>
          <p:cNvSpPr/>
          <p:nvPr/>
        </p:nvSpPr>
        <p:spPr>
          <a:xfrm>
            <a:off x="365760" y="1737360"/>
            <a:ext cx="4114800" cy="457200"/>
          </a:xfrm>
          <a:prstGeom prst="rect">
            <a:avLst/>
          </a:prstGeom>
          <a:solidFill>
            <a:srgbClr val="34D399"/>
          </a:solidFill>
          <a:ln w="12700">
            <a:solidFill>
              <a:srgbClr val="34D399"/>
            </a:solidFill>
            <a:prstDash val="solid"/>
          </a:ln>
        </p:spPr>
      </p:sp>
      <p:sp>
        <p:nvSpPr>
          <p:cNvPr id="8" name="Text 6"/>
          <p:cNvSpPr/>
          <p:nvPr/>
        </p:nvSpPr>
        <p:spPr>
          <a:xfrm>
            <a:off x="475488" y="1755648"/>
            <a:ext cx="3895344" cy="420624"/>
          </a:xfrm>
          <a:prstGeom prst="rect">
            <a:avLst/>
          </a:prstGeom>
          <a:noFill/>
          <a:ln/>
        </p:spPr>
        <p:txBody>
          <a:bodyPr wrap="square" rtlCol="0" anchor="ctr"/>
          <a:lstStyle/>
          <a:p>
            <a:pPr indent="0" marL="0">
              <a:buNone/>
            </a:pPr>
            <a:r>
              <a:rPr lang="en-US" sz="1100" b="1" dirty="0">
                <a:solidFill>
                  <a:srgbClr val="030810"/>
                </a:solidFill>
                <a:latin typeface="Calibri" pitchFamily="34" charset="0"/>
                <a:ea typeface="Calibri" pitchFamily="34" charset="-122"/>
                <a:cs typeface="Calibri" pitchFamily="34" charset="-120"/>
              </a:rPr>
              <a:t>Eğitim Süreci (goz_yonu_model_egit.py)</a:t>
            </a:r>
            <a:endParaRPr lang="en-US" sz="1100" dirty="0"/>
          </a:p>
        </p:txBody>
      </p:sp>
      <p:sp>
        <p:nvSpPr>
          <p:cNvPr id="9" name="Text 7"/>
          <p:cNvSpPr/>
          <p:nvPr/>
        </p:nvSpPr>
        <p:spPr>
          <a:xfrm>
            <a:off x="502920" y="2286000"/>
            <a:ext cx="1051560" cy="274320"/>
          </a:xfrm>
          <a:prstGeom prst="rect">
            <a:avLst/>
          </a:prstGeom>
          <a:noFill/>
          <a:ln/>
        </p:spPr>
        <p:txBody>
          <a:bodyPr wrap="square" rtlCol="0" anchor="ctr"/>
          <a:lstStyle/>
          <a:p>
            <a:pPr indent="0" marL="0">
              <a:buNone/>
            </a:pPr>
            <a:r>
              <a:rPr lang="en-US" sz="950" b="1" dirty="0">
                <a:solidFill>
                  <a:srgbClr val="34D399"/>
                </a:solidFill>
                <a:latin typeface="Calibri" pitchFamily="34" charset="0"/>
                <a:ea typeface="Calibri" pitchFamily="34" charset="-122"/>
                <a:cs typeface="Calibri" pitchFamily="34" charset="-120"/>
              </a:rPr>
              <a:t>Veriseti:</a:t>
            </a:r>
            <a:endParaRPr lang="en-US" sz="950" dirty="0"/>
          </a:p>
        </p:txBody>
      </p:sp>
      <p:sp>
        <p:nvSpPr>
          <p:cNvPr id="10" name="Text 8"/>
          <p:cNvSpPr/>
          <p:nvPr/>
        </p:nvSpPr>
        <p:spPr>
          <a:xfrm>
            <a:off x="1572768" y="2286000"/>
            <a:ext cx="2834640" cy="274320"/>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CASIA-Iris-Thousand</a:t>
            </a:r>
            <a:endParaRPr lang="en-US" sz="950" dirty="0"/>
          </a:p>
        </p:txBody>
      </p:sp>
      <p:sp>
        <p:nvSpPr>
          <p:cNvPr id="11" name="Text 9"/>
          <p:cNvSpPr/>
          <p:nvPr/>
        </p:nvSpPr>
        <p:spPr>
          <a:xfrm>
            <a:off x="502920" y="2606040"/>
            <a:ext cx="1051560" cy="274320"/>
          </a:xfrm>
          <a:prstGeom prst="rect">
            <a:avLst/>
          </a:prstGeom>
          <a:noFill/>
          <a:ln/>
        </p:spPr>
        <p:txBody>
          <a:bodyPr wrap="square" rtlCol="0" anchor="ctr"/>
          <a:lstStyle/>
          <a:p>
            <a:pPr indent="0" marL="0">
              <a:buNone/>
            </a:pPr>
            <a:r>
              <a:rPr lang="en-US" sz="950" b="1" dirty="0">
                <a:solidFill>
                  <a:srgbClr val="34D399"/>
                </a:solidFill>
                <a:latin typeface="Calibri" pitchFamily="34" charset="0"/>
                <a:ea typeface="Calibri" pitchFamily="34" charset="-122"/>
                <a:cs typeface="Calibri" pitchFamily="34" charset="-120"/>
              </a:rPr>
              <a:t>Etiket:</a:t>
            </a:r>
            <a:endParaRPr lang="en-US" sz="950" dirty="0"/>
          </a:p>
        </p:txBody>
      </p:sp>
      <p:sp>
        <p:nvSpPr>
          <p:cNvPr id="12" name="Text 10"/>
          <p:cNvSpPr/>
          <p:nvPr/>
        </p:nvSpPr>
        <p:spPr>
          <a:xfrm>
            <a:off x="1572768" y="2606040"/>
            <a:ext cx="2834640" cy="274320"/>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Dosya adı regex: R→sağ, L→sol</a:t>
            </a:r>
            <a:endParaRPr lang="en-US" sz="950" dirty="0"/>
          </a:p>
        </p:txBody>
      </p:sp>
      <p:sp>
        <p:nvSpPr>
          <p:cNvPr id="13" name="Text 11"/>
          <p:cNvSpPr/>
          <p:nvPr/>
        </p:nvSpPr>
        <p:spPr>
          <a:xfrm>
            <a:off x="502920" y="2926080"/>
            <a:ext cx="1051560" cy="274320"/>
          </a:xfrm>
          <a:prstGeom prst="rect">
            <a:avLst/>
          </a:prstGeom>
          <a:noFill/>
          <a:ln/>
        </p:spPr>
        <p:txBody>
          <a:bodyPr wrap="square" rtlCol="0" anchor="ctr"/>
          <a:lstStyle/>
          <a:p>
            <a:pPr indent="0" marL="0">
              <a:buNone/>
            </a:pPr>
            <a:r>
              <a:rPr lang="en-US" sz="950" b="1" dirty="0">
                <a:solidFill>
                  <a:srgbClr val="34D399"/>
                </a:solidFill>
                <a:latin typeface="Calibri" pitchFamily="34" charset="0"/>
                <a:ea typeface="Calibri" pitchFamily="34" charset="-122"/>
                <a:cs typeface="Calibri" pitchFamily="34" charset="-120"/>
              </a:rPr>
              <a:t>Boyut:</a:t>
            </a:r>
            <a:endParaRPr lang="en-US" sz="950" dirty="0"/>
          </a:p>
        </p:txBody>
      </p:sp>
      <p:sp>
        <p:nvSpPr>
          <p:cNvPr id="14" name="Text 12"/>
          <p:cNvSpPr/>
          <p:nvPr/>
        </p:nvSpPr>
        <p:spPr>
          <a:xfrm>
            <a:off x="1572768" y="2926080"/>
            <a:ext cx="2834640" cy="274320"/>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160×80 yeniden boyutlandırma</a:t>
            </a:r>
            <a:endParaRPr lang="en-US" sz="950" dirty="0"/>
          </a:p>
        </p:txBody>
      </p:sp>
      <p:sp>
        <p:nvSpPr>
          <p:cNvPr id="15" name="Text 13"/>
          <p:cNvSpPr/>
          <p:nvPr/>
        </p:nvSpPr>
        <p:spPr>
          <a:xfrm>
            <a:off x="502920" y="3246120"/>
            <a:ext cx="1051560" cy="274320"/>
          </a:xfrm>
          <a:prstGeom prst="rect">
            <a:avLst/>
          </a:prstGeom>
          <a:noFill/>
          <a:ln/>
        </p:spPr>
        <p:txBody>
          <a:bodyPr wrap="square" rtlCol="0" anchor="ctr"/>
          <a:lstStyle/>
          <a:p>
            <a:pPr indent="0" marL="0">
              <a:buNone/>
            </a:pPr>
            <a:r>
              <a:rPr lang="en-US" sz="950" b="1" dirty="0">
                <a:solidFill>
                  <a:srgbClr val="34D399"/>
                </a:solidFill>
                <a:latin typeface="Calibri" pitchFamily="34" charset="0"/>
                <a:ea typeface="Calibri" pitchFamily="34" charset="-122"/>
                <a:cs typeface="Calibri" pitchFamily="34" charset="-120"/>
              </a:rPr>
              <a:t>Kontrast:</a:t>
            </a:r>
            <a:endParaRPr lang="en-US" sz="950" dirty="0"/>
          </a:p>
        </p:txBody>
      </p:sp>
      <p:sp>
        <p:nvSpPr>
          <p:cNvPr id="16" name="Text 14"/>
          <p:cNvSpPr/>
          <p:nvPr/>
        </p:nvSpPr>
        <p:spPr>
          <a:xfrm>
            <a:off x="1572768" y="3246120"/>
            <a:ext cx="2834640" cy="274320"/>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CLAHE uygulanır</a:t>
            </a:r>
            <a:endParaRPr lang="en-US" sz="950" dirty="0"/>
          </a:p>
        </p:txBody>
      </p:sp>
      <p:sp>
        <p:nvSpPr>
          <p:cNvPr id="17" name="Text 15"/>
          <p:cNvSpPr/>
          <p:nvPr/>
        </p:nvSpPr>
        <p:spPr>
          <a:xfrm>
            <a:off x="502920" y="3566160"/>
            <a:ext cx="1051560" cy="274320"/>
          </a:xfrm>
          <a:prstGeom prst="rect">
            <a:avLst/>
          </a:prstGeom>
          <a:noFill/>
          <a:ln/>
        </p:spPr>
        <p:txBody>
          <a:bodyPr wrap="square" rtlCol="0" anchor="ctr"/>
          <a:lstStyle/>
          <a:p>
            <a:pPr indent="0" marL="0">
              <a:buNone/>
            </a:pPr>
            <a:r>
              <a:rPr lang="en-US" sz="950" b="1" dirty="0">
                <a:solidFill>
                  <a:srgbClr val="34D399"/>
                </a:solidFill>
                <a:latin typeface="Calibri" pitchFamily="34" charset="0"/>
                <a:ea typeface="Calibri" pitchFamily="34" charset="-122"/>
                <a:cs typeface="Calibri" pitchFamily="34" charset="-120"/>
              </a:rPr>
              <a:t>Özellik:</a:t>
            </a:r>
            <a:endParaRPr lang="en-US" sz="950" dirty="0"/>
          </a:p>
        </p:txBody>
      </p:sp>
      <p:sp>
        <p:nvSpPr>
          <p:cNvPr id="18" name="Text 16"/>
          <p:cNvSpPr/>
          <p:nvPr/>
        </p:nvSpPr>
        <p:spPr>
          <a:xfrm>
            <a:off x="1572768" y="3566160"/>
            <a:ext cx="2834640" cy="274320"/>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HOG (9 yön, 8×8 hücre, 2×2 blok)</a:t>
            </a:r>
            <a:endParaRPr lang="en-US" sz="950" dirty="0"/>
          </a:p>
        </p:txBody>
      </p:sp>
      <p:sp>
        <p:nvSpPr>
          <p:cNvPr id="19" name="Text 17"/>
          <p:cNvSpPr/>
          <p:nvPr/>
        </p:nvSpPr>
        <p:spPr>
          <a:xfrm>
            <a:off x="502920" y="3886200"/>
            <a:ext cx="1051560" cy="274320"/>
          </a:xfrm>
          <a:prstGeom prst="rect">
            <a:avLst/>
          </a:prstGeom>
          <a:noFill/>
          <a:ln/>
        </p:spPr>
        <p:txBody>
          <a:bodyPr wrap="square" rtlCol="0" anchor="ctr"/>
          <a:lstStyle/>
          <a:p>
            <a:pPr indent="0" marL="0">
              <a:buNone/>
            </a:pPr>
            <a:r>
              <a:rPr lang="en-US" sz="950" b="1" dirty="0">
                <a:solidFill>
                  <a:srgbClr val="34D399"/>
                </a:solidFill>
                <a:latin typeface="Calibri" pitchFamily="34" charset="0"/>
                <a:ea typeface="Calibri" pitchFamily="34" charset="-122"/>
                <a:cs typeface="Calibri" pitchFamily="34" charset="-120"/>
              </a:rPr>
              <a:t>Ek özellik:</a:t>
            </a:r>
            <a:endParaRPr lang="en-US" sz="950" dirty="0"/>
          </a:p>
        </p:txBody>
      </p:sp>
      <p:sp>
        <p:nvSpPr>
          <p:cNvPr id="20" name="Text 18"/>
          <p:cNvSpPr/>
          <p:nvPr/>
        </p:nvSpPr>
        <p:spPr>
          <a:xfrm>
            <a:off x="1572768" y="3886200"/>
            <a:ext cx="2834640" cy="274320"/>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8 istatistiksel: sol/sağ yarı ort., std, Canny kenar</a:t>
            </a:r>
            <a:endParaRPr lang="en-US" sz="950" dirty="0"/>
          </a:p>
        </p:txBody>
      </p:sp>
      <p:sp>
        <p:nvSpPr>
          <p:cNvPr id="21" name="Text 19"/>
          <p:cNvSpPr/>
          <p:nvPr/>
        </p:nvSpPr>
        <p:spPr>
          <a:xfrm>
            <a:off x="502920" y="4206240"/>
            <a:ext cx="1051560" cy="274320"/>
          </a:xfrm>
          <a:prstGeom prst="rect">
            <a:avLst/>
          </a:prstGeom>
          <a:noFill/>
          <a:ln/>
        </p:spPr>
        <p:txBody>
          <a:bodyPr wrap="square" rtlCol="0" anchor="ctr"/>
          <a:lstStyle/>
          <a:p>
            <a:pPr indent="0" marL="0">
              <a:buNone/>
            </a:pPr>
            <a:r>
              <a:rPr lang="en-US" sz="950" b="1" dirty="0">
                <a:solidFill>
                  <a:srgbClr val="34D399"/>
                </a:solidFill>
                <a:latin typeface="Calibri" pitchFamily="34" charset="0"/>
                <a:ea typeface="Calibri" pitchFamily="34" charset="-122"/>
                <a:cs typeface="Calibri" pitchFamily="34" charset="-120"/>
              </a:rPr>
              <a:t>Model:</a:t>
            </a:r>
            <a:endParaRPr lang="en-US" sz="950" dirty="0"/>
          </a:p>
        </p:txBody>
      </p:sp>
      <p:sp>
        <p:nvSpPr>
          <p:cNvPr id="22" name="Text 20"/>
          <p:cNvSpPr/>
          <p:nvPr/>
        </p:nvSpPr>
        <p:spPr>
          <a:xfrm>
            <a:off x="1572768" y="4206240"/>
            <a:ext cx="2834640" cy="274320"/>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StandardScaler + LinearSVC(C=1.0, balanced)</a:t>
            </a:r>
            <a:endParaRPr lang="en-US" sz="950" dirty="0"/>
          </a:p>
        </p:txBody>
      </p:sp>
      <p:sp>
        <p:nvSpPr>
          <p:cNvPr id="23" name="Text 21"/>
          <p:cNvSpPr/>
          <p:nvPr/>
        </p:nvSpPr>
        <p:spPr>
          <a:xfrm>
            <a:off x="502920" y="4526280"/>
            <a:ext cx="1051560" cy="274320"/>
          </a:xfrm>
          <a:prstGeom prst="rect">
            <a:avLst/>
          </a:prstGeom>
          <a:noFill/>
          <a:ln/>
        </p:spPr>
        <p:txBody>
          <a:bodyPr wrap="square" rtlCol="0" anchor="ctr"/>
          <a:lstStyle/>
          <a:p>
            <a:pPr indent="0" marL="0">
              <a:buNone/>
            </a:pPr>
            <a:r>
              <a:rPr lang="en-US" sz="950" b="1" dirty="0">
                <a:solidFill>
                  <a:srgbClr val="34D399"/>
                </a:solidFill>
                <a:latin typeface="Calibri" pitchFamily="34" charset="0"/>
                <a:ea typeface="Calibri" pitchFamily="34" charset="-122"/>
                <a:cs typeface="Calibri" pitchFamily="34" charset="-120"/>
              </a:rPr>
              <a:t>Kayıt:</a:t>
            </a:r>
            <a:endParaRPr lang="en-US" sz="950" dirty="0"/>
          </a:p>
        </p:txBody>
      </p:sp>
      <p:sp>
        <p:nvSpPr>
          <p:cNvPr id="24" name="Text 22"/>
          <p:cNvSpPr/>
          <p:nvPr/>
        </p:nvSpPr>
        <p:spPr>
          <a:xfrm>
            <a:off x="1572768" y="4526280"/>
            <a:ext cx="2834640" cy="274320"/>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veriler/goz_yonu_model.pkl</a:t>
            </a:r>
            <a:endParaRPr lang="en-US" sz="950" dirty="0"/>
          </a:p>
        </p:txBody>
      </p:sp>
      <p:sp>
        <p:nvSpPr>
          <p:cNvPr id="25" name="Shape 23"/>
          <p:cNvSpPr/>
          <p:nvPr/>
        </p:nvSpPr>
        <p:spPr>
          <a:xfrm>
            <a:off x="4663440" y="1737360"/>
            <a:ext cx="4206240" cy="3291840"/>
          </a:xfrm>
          <a:prstGeom prst="rect">
            <a:avLst/>
          </a:prstGeom>
          <a:solidFill>
            <a:srgbClr val="0C1829"/>
          </a:solidFill>
          <a:ln w="19050">
            <a:solidFill>
              <a:srgbClr val="818CF8"/>
            </a:solidFill>
            <a:prstDash val="solid"/>
          </a:ln>
        </p:spPr>
      </p:sp>
      <p:sp>
        <p:nvSpPr>
          <p:cNvPr id="26" name="Shape 24"/>
          <p:cNvSpPr/>
          <p:nvPr/>
        </p:nvSpPr>
        <p:spPr>
          <a:xfrm>
            <a:off x="4663440" y="1737360"/>
            <a:ext cx="4206240" cy="457200"/>
          </a:xfrm>
          <a:prstGeom prst="rect">
            <a:avLst/>
          </a:prstGeom>
          <a:solidFill>
            <a:srgbClr val="818CF8"/>
          </a:solidFill>
          <a:ln w="12700">
            <a:solidFill>
              <a:srgbClr val="818CF8"/>
            </a:solidFill>
            <a:prstDash val="solid"/>
          </a:ln>
        </p:spPr>
      </p:sp>
      <p:sp>
        <p:nvSpPr>
          <p:cNvPr id="27" name="Text 25"/>
          <p:cNvSpPr/>
          <p:nvPr/>
        </p:nvSpPr>
        <p:spPr>
          <a:xfrm>
            <a:off x="4773168" y="1755648"/>
            <a:ext cx="3986784" cy="420624"/>
          </a:xfrm>
          <a:prstGeom prst="rect">
            <a:avLst/>
          </a:prstGeom>
          <a:noFill/>
          <a:ln/>
        </p:spPr>
        <p:txBody>
          <a:bodyPr wrap="square" rtlCol="0" anchor="ctr"/>
          <a:lstStyle/>
          <a:p>
            <a:pPr indent="0" marL="0">
              <a:buNone/>
            </a:pPr>
            <a:r>
              <a:rPr lang="en-US" sz="1100" b="1" dirty="0">
                <a:solidFill>
                  <a:srgbClr val="030810"/>
                </a:solidFill>
                <a:latin typeface="Calibri" pitchFamily="34" charset="0"/>
                <a:ea typeface="Calibri" pitchFamily="34" charset="-122"/>
                <a:cs typeface="Calibri" pitchFamily="34" charset="-120"/>
              </a:rPr>
              <a:t>HOG Nedir?  (Histogram of Oriented Gradients)</a:t>
            </a:r>
            <a:endParaRPr lang="en-US" sz="1100" dirty="0"/>
          </a:p>
        </p:txBody>
      </p:sp>
      <p:sp>
        <p:nvSpPr>
          <p:cNvPr id="28" name="Text 26"/>
          <p:cNvSpPr/>
          <p:nvPr/>
        </p:nvSpPr>
        <p:spPr>
          <a:xfrm>
            <a:off x="4800600" y="2286000"/>
            <a:ext cx="3931920" cy="402336"/>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1.  Görüntü 8×8 piksellik küçük hücrelere bölünür</a:t>
            </a:r>
            <a:endParaRPr lang="en-US" sz="950" dirty="0"/>
          </a:p>
        </p:txBody>
      </p:sp>
      <p:sp>
        <p:nvSpPr>
          <p:cNvPr id="29" name="Text 27"/>
          <p:cNvSpPr/>
          <p:nvPr/>
        </p:nvSpPr>
        <p:spPr>
          <a:xfrm>
            <a:off x="4800600" y="2743200"/>
            <a:ext cx="3931920" cy="402336"/>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2.  Her hücrede piksel gradyanlarının yön histogramı</a:t>
            </a:r>
            <a:endParaRPr lang="en-US" sz="950" dirty="0"/>
          </a:p>
          <a:p>
            <a:pPr indent="0" marL="0">
              <a:buNone/>
            </a:pPr>
            <a:r>
              <a:rPr lang="en-US" sz="950" dirty="0">
                <a:solidFill>
                  <a:srgbClr val="F1F5F9"/>
                </a:solidFill>
                <a:latin typeface="Calibri" pitchFamily="34" charset="0"/>
                <a:ea typeface="Calibri" pitchFamily="34" charset="-122"/>
                <a:cs typeface="Calibri" pitchFamily="34" charset="-120"/>
              </a:rPr>
              <a:t>     hesaplanır (9 açı kutusu, 0°–180°)</a:t>
            </a:r>
            <a:endParaRPr lang="en-US" sz="950" dirty="0"/>
          </a:p>
        </p:txBody>
      </p:sp>
      <p:sp>
        <p:nvSpPr>
          <p:cNvPr id="30" name="Text 28"/>
          <p:cNvSpPr/>
          <p:nvPr/>
        </p:nvSpPr>
        <p:spPr>
          <a:xfrm>
            <a:off x="4800600" y="3200400"/>
            <a:ext cx="3931920" cy="402336"/>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3.  2×2 hücrelik bloklar L2-Hys normalize edilir</a:t>
            </a:r>
            <a:endParaRPr lang="en-US" sz="950" dirty="0"/>
          </a:p>
          <a:p>
            <a:pPr indent="0" marL="0">
              <a:buNone/>
            </a:pPr>
            <a:r>
              <a:rPr lang="en-US" sz="950" dirty="0">
                <a:solidFill>
                  <a:srgbClr val="F1F5F9"/>
                </a:solidFill>
                <a:latin typeface="Calibri" pitchFamily="34" charset="0"/>
                <a:ea typeface="Calibri" pitchFamily="34" charset="-122"/>
                <a:cs typeface="Calibri" pitchFamily="34" charset="-120"/>
              </a:rPr>
              <a:t>     (blok normalizasyon kontrast değişimlerini dengeler)</a:t>
            </a:r>
            <a:endParaRPr lang="en-US" sz="950" dirty="0"/>
          </a:p>
        </p:txBody>
      </p:sp>
      <p:sp>
        <p:nvSpPr>
          <p:cNvPr id="31" name="Text 29"/>
          <p:cNvSpPr/>
          <p:nvPr/>
        </p:nvSpPr>
        <p:spPr>
          <a:xfrm>
            <a:off x="4800600" y="3657600"/>
            <a:ext cx="3931920" cy="402336"/>
          </a:xfrm>
          <a:prstGeom prst="rect">
            <a:avLst/>
          </a:prstGeom>
          <a:noFill/>
          <a:ln/>
        </p:spPr>
        <p:txBody>
          <a:bodyPr wrap="square" rtlCol="0" anchor="ctr"/>
          <a:lstStyle/>
          <a:p>
            <a:pPr indent="0" marL="0">
              <a:buNone/>
            </a:pPr>
            <a:r>
              <a:rPr lang="en-US" sz="950" dirty="0">
                <a:solidFill>
                  <a:srgbClr val="F1F5F9"/>
                </a:solidFill>
                <a:latin typeface="Calibri" pitchFamily="34" charset="0"/>
                <a:ea typeface="Calibri" pitchFamily="34" charset="-122"/>
                <a:cs typeface="Calibri" pitchFamily="34" charset="-120"/>
              </a:rPr>
              <a:t>4.  Tüm histogramlar birleştirilerek tek özellik vektörü</a:t>
            </a:r>
            <a:endParaRPr lang="en-US" sz="950" dirty="0"/>
          </a:p>
        </p:txBody>
      </p:sp>
      <p:sp>
        <p:nvSpPr>
          <p:cNvPr id="32" name="Text 30"/>
          <p:cNvSpPr/>
          <p:nvPr/>
        </p:nvSpPr>
        <p:spPr>
          <a:xfrm>
            <a:off x="4800600" y="4572000"/>
            <a:ext cx="3931920" cy="402336"/>
          </a:xfrm>
          <a:prstGeom prst="rect">
            <a:avLst/>
          </a:prstGeom>
          <a:noFill/>
          <a:ln/>
        </p:spPr>
        <p:txBody>
          <a:bodyPr wrap="square" rtlCol="0" anchor="ctr"/>
          <a:lstStyle/>
          <a:p>
            <a:pPr indent="0" marL="0">
              <a:buNone/>
            </a:pPr>
            <a:r>
              <a:rPr lang="en-US" sz="950" dirty="0">
                <a:solidFill>
                  <a:srgbClr val="FB923C"/>
                </a:solidFill>
                <a:latin typeface="Calibri" pitchFamily="34" charset="0"/>
                <a:ea typeface="Calibri" pitchFamily="34" charset="-122"/>
                <a:cs typeface="Calibri" pitchFamily="34" charset="-120"/>
              </a:rPr>
              <a:t>💡  Neden HOG işe yarıyor?</a:t>
            </a:r>
            <a:endParaRPr lang="en-US" sz="950" dirty="0"/>
          </a:p>
          <a:p>
            <a:pPr indent="0" marL="0">
              <a:buNone/>
            </a:pPr>
            <a:r>
              <a:rPr lang="en-US" sz="950" dirty="0">
                <a:solidFill>
                  <a:srgbClr val="FB923C"/>
                </a:solidFill>
                <a:latin typeface="Calibri" pitchFamily="34" charset="0"/>
                <a:ea typeface="Calibri" pitchFamily="34" charset="-122"/>
                <a:cs typeface="Calibri" pitchFamily="34" charset="-120"/>
              </a:rPr>
              <a:t>     Sağ gözde burun tarafı sol gözde dış taraftadır.</a:t>
            </a:r>
            <a:endParaRPr lang="en-US" sz="950" dirty="0"/>
          </a:p>
          <a:p>
            <a:pPr indent="0" marL="0">
              <a:buNone/>
            </a:pPr>
            <a:r>
              <a:rPr lang="en-US" sz="950" dirty="0">
                <a:solidFill>
                  <a:srgbClr val="FB923C"/>
                </a:solidFill>
                <a:latin typeface="Calibri" pitchFamily="34" charset="0"/>
                <a:ea typeface="Calibri" pitchFamily="34" charset="-122"/>
                <a:cs typeface="Calibri" pitchFamily="34" charset="-120"/>
              </a:rPr>
              <a:t>     Parlaklık ve kenar dağılımı fiziksel olarak asimetriktir.</a:t>
            </a:r>
            <a:endParaRPr lang="en-US" sz="950" dirty="0"/>
          </a:p>
          <a:p>
            <a:pPr indent="0" marL="0">
              <a:buNone/>
            </a:pPr>
            <a:r>
              <a:rPr lang="en-US" sz="950" dirty="0">
                <a:solidFill>
                  <a:srgbClr val="FB923C"/>
                </a:solidFill>
                <a:latin typeface="Calibri" pitchFamily="34" charset="0"/>
                <a:ea typeface="Calibri" pitchFamily="34" charset="-122"/>
                <a:cs typeface="Calibri" pitchFamily="34" charset="-120"/>
              </a:rPr>
              <a:t>     HOG bu yapısal asimetriyi yakalar.</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70E1B"/>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Adım 7  —  Karşılaştırma Algoritması</a:t>
            </a:r>
            <a:endParaRPr lang="en-US" sz="3200" dirty="0"/>
          </a:p>
        </p:txBody>
      </p:sp>
      <p:sp>
        <p:nvSpPr>
          <p:cNvPr id="3" name="Text 1"/>
          <p:cNvSpPr/>
          <p:nvPr/>
        </p:nvSpPr>
        <p:spPr>
          <a:xfrm>
            <a:off x="457200" y="749808"/>
            <a:ext cx="8229600" cy="292608"/>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kaydirmali_karsilastir() — Kosinüs benzerliği + Pearson korelasyonu + rotasyon toleransı</a:t>
            </a:r>
            <a:endParaRPr lang="en-US" sz="1200" dirty="0"/>
          </a:p>
        </p:txBody>
      </p:sp>
      <p:sp>
        <p:nvSpPr>
          <p:cNvPr id="4" name="Shape 2"/>
          <p:cNvSpPr/>
          <p:nvPr/>
        </p:nvSpPr>
        <p:spPr>
          <a:xfrm>
            <a:off x="365760" y="1097280"/>
            <a:ext cx="4023360" cy="1600200"/>
          </a:xfrm>
          <a:prstGeom prst="rect">
            <a:avLst/>
          </a:prstGeom>
          <a:solidFill>
            <a:srgbClr val="0C1829"/>
          </a:solidFill>
          <a:ln w="19050">
            <a:solidFill>
              <a:srgbClr val="38BDF8"/>
            </a:solidFill>
            <a:prstDash val="solid"/>
          </a:ln>
        </p:spPr>
      </p:sp>
      <p:sp>
        <p:nvSpPr>
          <p:cNvPr id="5" name="Shape 3"/>
          <p:cNvSpPr/>
          <p:nvPr/>
        </p:nvSpPr>
        <p:spPr>
          <a:xfrm>
            <a:off x="365760" y="1097280"/>
            <a:ext cx="4023360" cy="438912"/>
          </a:xfrm>
          <a:prstGeom prst="rect">
            <a:avLst/>
          </a:prstGeom>
          <a:solidFill>
            <a:srgbClr val="38BDF8"/>
          </a:solidFill>
          <a:ln w="12700">
            <a:solidFill>
              <a:srgbClr val="38BDF8"/>
            </a:solidFill>
            <a:prstDash val="solid"/>
          </a:ln>
        </p:spPr>
      </p:sp>
      <p:sp>
        <p:nvSpPr>
          <p:cNvPr id="6" name="Text 4"/>
          <p:cNvSpPr/>
          <p:nvPr/>
        </p:nvSpPr>
        <p:spPr>
          <a:xfrm>
            <a:off x="475488" y="1115568"/>
            <a:ext cx="3803904" cy="402336"/>
          </a:xfrm>
          <a:prstGeom prst="rect">
            <a:avLst/>
          </a:prstGeom>
          <a:noFill/>
          <a:ln/>
        </p:spPr>
        <p:txBody>
          <a:bodyPr wrap="square" rtlCol="0" anchor="ctr"/>
          <a:lstStyle/>
          <a:p>
            <a:pPr indent="0" marL="0">
              <a:buNone/>
            </a:pPr>
            <a:r>
              <a:rPr lang="en-US" sz="1200" b="1" dirty="0">
                <a:solidFill>
                  <a:srgbClr val="030810"/>
                </a:solidFill>
                <a:latin typeface="Calibri" pitchFamily="34" charset="0"/>
                <a:ea typeface="Calibri" pitchFamily="34" charset="-122"/>
                <a:cs typeface="Calibri" pitchFamily="34" charset="-120"/>
              </a:rPr>
              <a:t>Kosinüs Benzerliği  ×0.60</a:t>
            </a:r>
            <a:endParaRPr lang="en-US" sz="1200" dirty="0"/>
          </a:p>
        </p:txBody>
      </p:sp>
      <p:sp>
        <p:nvSpPr>
          <p:cNvPr id="7" name="Shape 5"/>
          <p:cNvSpPr/>
          <p:nvPr/>
        </p:nvSpPr>
        <p:spPr>
          <a:xfrm>
            <a:off x="475488" y="1609344"/>
            <a:ext cx="3803904" cy="365760"/>
          </a:xfrm>
          <a:prstGeom prst="rect">
            <a:avLst/>
          </a:prstGeom>
          <a:solidFill>
            <a:srgbClr val="04090F"/>
          </a:solidFill>
          <a:ln w="12700">
            <a:solidFill>
              <a:srgbClr val="1E3A5F"/>
            </a:solidFill>
            <a:prstDash val="solid"/>
          </a:ln>
        </p:spPr>
      </p:sp>
      <p:sp>
        <p:nvSpPr>
          <p:cNvPr id="8" name="Text 6"/>
          <p:cNvSpPr/>
          <p:nvPr/>
        </p:nvSpPr>
        <p:spPr>
          <a:xfrm>
            <a:off x="475488" y="1609344"/>
            <a:ext cx="3803904" cy="365760"/>
          </a:xfrm>
          <a:prstGeom prst="rect">
            <a:avLst/>
          </a:prstGeom>
          <a:noFill/>
          <a:ln/>
        </p:spPr>
        <p:txBody>
          <a:bodyPr wrap="square" rtlCol="0" anchor="ctr"/>
          <a:lstStyle/>
          <a:p>
            <a:pPr algn="ctr" indent="0" marL="0">
              <a:buNone/>
            </a:pPr>
            <a:r>
              <a:rPr lang="en-US" sz="1000" dirty="0">
                <a:solidFill>
                  <a:srgbClr val="38BDF8"/>
                </a:solidFill>
                <a:latin typeface="Consolas" pitchFamily="34" charset="0"/>
                <a:ea typeface="Consolas" pitchFamily="34" charset="-122"/>
                <a:cs typeface="Consolas" pitchFamily="34" charset="-120"/>
              </a:rPr>
              <a:t>cos(v₁,v₂) = (v₁ · v₂) / (||v₁|| · ||v₂||)</a:t>
            </a:r>
            <a:endParaRPr lang="en-US" sz="1000" dirty="0"/>
          </a:p>
        </p:txBody>
      </p:sp>
      <p:sp>
        <p:nvSpPr>
          <p:cNvPr id="9" name="Text 7"/>
          <p:cNvSpPr/>
          <p:nvPr/>
        </p:nvSpPr>
        <p:spPr>
          <a:xfrm>
            <a:off x="475488" y="2011680"/>
            <a:ext cx="3803904" cy="5943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İki profil vektörünün uzaydaki açısını ölçer. L2 normalize vektörler için sadece nokta çarpımı yeterlidir. 1.0 = tam eşleşme, 0.0 = hiç ilişki yok.</a:t>
            </a:r>
            <a:endParaRPr lang="en-US" sz="1000" dirty="0"/>
          </a:p>
        </p:txBody>
      </p:sp>
      <p:sp>
        <p:nvSpPr>
          <p:cNvPr id="10" name="Shape 8"/>
          <p:cNvSpPr/>
          <p:nvPr/>
        </p:nvSpPr>
        <p:spPr>
          <a:xfrm>
            <a:off x="4754880" y="1097280"/>
            <a:ext cx="4023360" cy="1600200"/>
          </a:xfrm>
          <a:prstGeom prst="rect">
            <a:avLst/>
          </a:prstGeom>
          <a:solidFill>
            <a:srgbClr val="0C1829"/>
          </a:solidFill>
          <a:ln w="19050">
            <a:solidFill>
              <a:srgbClr val="818CF8"/>
            </a:solidFill>
            <a:prstDash val="solid"/>
          </a:ln>
        </p:spPr>
      </p:sp>
      <p:sp>
        <p:nvSpPr>
          <p:cNvPr id="11" name="Shape 9"/>
          <p:cNvSpPr/>
          <p:nvPr/>
        </p:nvSpPr>
        <p:spPr>
          <a:xfrm>
            <a:off x="4754880" y="1097280"/>
            <a:ext cx="4023360" cy="438912"/>
          </a:xfrm>
          <a:prstGeom prst="rect">
            <a:avLst/>
          </a:prstGeom>
          <a:solidFill>
            <a:srgbClr val="818CF8"/>
          </a:solidFill>
          <a:ln w="12700">
            <a:solidFill>
              <a:srgbClr val="818CF8"/>
            </a:solidFill>
            <a:prstDash val="solid"/>
          </a:ln>
        </p:spPr>
      </p:sp>
      <p:sp>
        <p:nvSpPr>
          <p:cNvPr id="12" name="Text 10"/>
          <p:cNvSpPr/>
          <p:nvPr/>
        </p:nvSpPr>
        <p:spPr>
          <a:xfrm>
            <a:off x="4864608" y="1115568"/>
            <a:ext cx="3803904" cy="402336"/>
          </a:xfrm>
          <a:prstGeom prst="rect">
            <a:avLst/>
          </a:prstGeom>
          <a:noFill/>
          <a:ln/>
        </p:spPr>
        <p:txBody>
          <a:bodyPr wrap="square" rtlCol="0" anchor="ctr"/>
          <a:lstStyle/>
          <a:p>
            <a:pPr indent="0" marL="0">
              <a:buNone/>
            </a:pPr>
            <a:r>
              <a:rPr lang="en-US" sz="1200" b="1" dirty="0">
                <a:solidFill>
                  <a:srgbClr val="030810"/>
                </a:solidFill>
                <a:latin typeface="Calibri" pitchFamily="34" charset="0"/>
                <a:ea typeface="Calibri" pitchFamily="34" charset="-122"/>
                <a:cs typeface="Calibri" pitchFamily="34" charset="-120"/>
              </a:rPr>
              <a:t>Pearson Korelasyonu  ×0.40</a:t>
            </a:r>
            <a:endParaRPr lang="en-US" sz="1200" dirty="0"/>
          </a:p>
        </p:txBody>
      </p:sp>
      <p:sp>
        <p:nvSpPr>
          <p:cNvPr id="13" name="Shape 11"/>
          <p:cNvSpPr/>
          <p:nvPr/>
        </p:nvSpPr>
        <p:spPr>
          <a:xfrm>
            <a:off x="4864608" y="1609344"/>
            <a:ext cx="3803904" cy="365760"/>
          </a:xfrm>
          <a:prstGeom prst="rect">
            <a:avLst/>
          </a:prstGeom>
          <a:solidFill>
            <a:srgbClr val="04090F"/>
          </a:solidFill>
          <a:ln w="12700">
            <a:solidFill>
              <a:srgbClr val="1E3A5F"/>
            </a:solidFill>
            <a:prstDash val="solid"/>
          </a:ln>
        </p:spPr>
      </p:sp>
      <p:sp>
        <p:nvSpPr>
          <p:cNvPr id="14" name="Text 12"/>
          <p:cNvSpPr/>
          <p:nvPr/>
        </p:nvSpPr>
        <p:spPr>
          <a:xfrm>
            <a:off x="4864608" y="1609344"/>
            <a:ext cx="3803904" cy="365760"/>
          </a:xfrm>
          <a:prstGeom prst="rect">
            <a:avLst/>
          </a:prstGeom>
          <a:noFill/>
          <a:ln/>
        </p:spPr>
        <p:txBody>
          <a:bodyPr wrap="square" rtlCol="0" anchor="ctr"/>
          <a:lstStyle/>
          <a:p>
            <a:pPr algn="ctr" indent="0" marL="0">
              <a:buNone/>
            </a:pPr>
            <a:r>
              <a:rPr lang="en-US" sz="1000" dirty="0">
                <a:solidFill>
                  <a:srgbClr val="818CF8"/>
                </a:solidFill>
                <a:latin typeface="Consolas" pitchFamily="34" charset="0"/>
                <a:ea typeface="Consolas" pitchFamily="34" charset="-122"/>
                <a:cs typeface="Consolas" pitchFamily="34" charset="-120"/>
              </a:rPr>
              <a:t>r = Σ(a−ā)(b−b̄) / (||a−ā|| · ||b−b̄||)</a:t>
            </a:r>
            <a:endParaRPr lang="en-US" sz="1000" dirty="0"/>
          </a:p>
        </p:txBody>
      </p:sp>
      <p:sp>
        <p:nvSpPr>
          <p:cNvPr id="15" name="Text 13"/>
          <p:cNvSpPr/>
          <p:nvPr/>
        </p:nvSpPr>
        <p:spPr>
          <a:xfrm>
            <a:off x="4864608" y="2011680"/>
            <a:ext cx="3803904" cy="594360"/>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Polar görüntüler piksel piksel karşılaştırılır. Ortalama çıkarma sayesinde parlaklık değişimine duyarsızdır. Aynı kişinin farklı ışık koşullarındaki görüntüleri bile eşleşir.</a:t>
            </a:r>
            <a:endParaRPr lang="en-US" sz="1000" dirty="0"/>
          </a:p>
        </p:txBody>
      </p:sp>
      <p:sp>
        <p:nvSpPr>
          <p:cNvPr id="16" name="Shape 14"/>
          <p:cNvSpPr/>
          <p:nvPr/>
        </p:nvSpPr>
        <p:spPr>
          <a:xfrm>
            <a:off x="365760" y="2834640"/>
            <a:ext cx="8412480" cy="1234440"/>
          </a:xfrm>
          <a:prstGeom prst="rect">
            <a:avLst/>
          </a:prstGeom>
          <a:solidFill>
            <a:srgbClr val="0C1829"/>
          </a:solidFill>
          <a:ln w="19050">
            <a:solidFill>
              <a:srgbClr val="FB923C"/>
            </a:solidFill>
            <a:prstDash val="solid"/>
          </a:ln>
        </p:spPr>
      </p:sp>
      <p:sp>
        <p:nvSpPr>
          <p:cNvPr id="17" name="Shape 15"/>
          <p:cNvSpPr/>
          <p:nvPr/>
        </p:nvSpPr>
        <p:spPr>
          <a:xfrm>
            <a:off x="365760" y="2834640"/>
            <a:ext cx="8412480" cy="438912"/>
          </a:xfrm>
          <a:prstGeom prst="rect">
            <a:avLst/>
          </a:prstGeom>
          <a:solidFill>
            <a:srgbClr val="0F2040"/>
          </a:solidFill>
          <a:ln w="12700">
            <a:solidFill>
              <a:srgbClr val="FB923C"/>
            </a:solidFill>
            <a:prstDash val="solid"/>
          </a:ln>
        </p:spPr>
      </p:sp>
      <p:sp>
        <p:nvSpPr>
          <p:cNvPr id="18" name="Text 16"/>
          <p:cNvSpPr/>
          <p:nvPr/>
        </p:nvSpPr>
        <p:spPr>
          <a:xfrm>
            <a:off x="475488" y="2852928"/>
            <a:ext cx="8193024" cy="402336"/>
          </a:xfrm>
          <a:prstGeom prst="rect">
            <a:avLst/>
          </a:prstGeom>
          <a:noFill/>
          <a:ln/>
        </p:spPr>
        <p:txBody>
          <a:bodyPr wrap="square" rtlCol="0" anchor="ctr"/>
          <a:lstStyle/>
          <a:p>
            <a:pPr indent="0" marL="0">
              <a:buNone/>
            </a:pPr>
            <a:r>
              <a:rPr lang="en-US" sz="1300" b="1" dirty="0">
                <a:solidFill>
                  <a:srgbClr val="FB923C"/>
                </a:solidFill>
                <a:latin typeface="Calibri" pitchFamily="34" charset="0"/>
                <a:ea typeface="Calibri" pitchFamily="34" charset="-122"/>
                <a:cs typeface="Calibri" pitchFamily="34" charset="-120"/>
              </a:rPr>
              <a:t>🔄  Kaydırmalı Eşleştirme — Rotasyon Toleransı</a:t>
            </a:r>
            <a:endParaRPr lang="en-US" sz="1300" dirty="0"/>
          </a:p>
        </p:txBody>
      </p:sp>
      <p:sp>
        <p:nvSpPr>
          <p:cNvPr id="19" name="Text 17"/>
          <p:cNvSpPr/>
          <p:nvPr/>
        </p:nvSpPr>
        <p:spPr>
          <a:xfrm>
            <a:off x="502920" y="3310128"/>
            <a:ext cx="8138160" cy="685800"/>
          </a:xfrm>
          <a:prstGeom prst="rect">
            <a:avLst/>
          </a:prstGeom>
          <a:noFill/>
          <a:ln/>
        </p:spPr>
        <p:txBody>
          <a:bodyPr wrap="square" rtlCol="0" anchor="ctr"/>
          <a:lstStyle/>
          <a:p>
            <a:pPr indent="0" marL="0">
              <a:buNone/>
            </a:pPr>
            <a:r>
              <a:rPr lang="en-US" sz="1100" dirty="0">
                <a:solidFill>
                  <a:srgbClr val="F1F5F9"/>
                </a:solidFill>
                <a:latin typeface="Calibri" pitchFamily="34" charset="0"/>
                <a:ea typeface="Calibri" pitchFamily="34" charset="-122"/>
                <a:cs typeface="Calibri" pitchFamily="34" charset="-120"/>
              </a:rPr>
              <a:t>Aynı gözün farklı fotoğraflarda hafif dönme açısı olabilir. Polar görüntü yatay eksende −20 ile +20 piksel arasında kaydırılarak 41 farklı pozisyonda denenir. En yüksek Pearson korelasyonunu veren kaydırma seçilir. Bu mekanizma sayesinde gözün kamera açısına duyarsız eşleştirme sağlanır.</a:t>
            </a:r>
            <a:endParaRPr lang="en-US" sz="1100" dirty="0"/>
          </a:p>
        </p:txBody>
      </p:sp>
      <p:sp>
        <p:nvSpPr>
          <p:cNvPr id="20" name="Shape 18"/>
          <p:cNvSpPr/>
          <p:nvPr/>
        </p:nvSpPr>
        <p:spPr>
          <a:xfrm>
            <a:off x="365760" y="4160520"/>
            <a:ext cx="8412480" cy="530352"/>
          </a:xfrm>
          <a:prstGeom prst="rect">
            <a:avLst/>
          </a:prstGeom>
          <a:solidFill>
            <a:srgbClr val="04090F"/>
          </a:solidFill>
          <a:ln w="25400">
            <a:solidFill>
              <a:srgbClr val="34D399"/>
            </a:solidFill>
            <a:prstDash val="solid"/>
          </a:ln>
        </p:spPr>
      </p:sp>
      <p:sp>
        <p:nvSpPr>
          <p:cNvPr id="21" name="Text 19"/>
          <p:cNvSpPr/>
          <p:nvPr/>
        </p:nvSpPr>
        <p:spPr>
          <a:xfrm>
            <a:off x="457200" y="4169664"/>
            <a:ext cx="8229600" cy="512064"/>
          </a:xfrm>
          <a:prstGeom prst="rect">
            <a:avLst/>
          </a:prstGeom>
          <a:noFill/>
          <a:ln/>
        </p:spPr>
        <p:txBody>
          <a:bodyPr wrap="square" rtlCol="0" anchor="ctr"/>
          <a:lstStyle/>
          <a:p>
            <a:pPr algn="ctr" indent="0" marL="0">
              <a:buNone/>
            </a:pPr>
            <a:r>
              <a:rPr lang="en-US" sz="1300" b="1" dirty="0">
                <a:solidFill>
                  <a:srgbClr val="34D399"/>
                </a:solidFill>
                <a:latin typeface="Consolas" pitchFamily="34" charset="0"/>
                <a:ea typeface="Consolas" pitchFamily="34" charset="-122"/>
                <a:cs typeface="Consolas" pitchFamily="34" charset="-120"/>
              </a:rPr>
              <a:t>GENEL SKOR  =  0.60 × kosinüs_benzerliği  +  0.40 × en_yüksek_pearson_korelasyonu</a:t>
            </a:r>
            <a:endParaRPr lang="en-US" sz="1300" dirty="0"/>
          </a:p>
        </p:txBody>
      </p:sp>
      <p:sp>
        <p:nvSpPr>
          <p:cNvPr id="22" name="Shape 20"/>
          <p:cNvSpPr/>
          <p:nvPr/>
        </p:nvSpPr>
        <p:spPr>
          <a:xfrm>
            <a:off x="365760" y="4773168"/>
            <a:ext cx="8412480" cy="347472"/>
          </a:xfrm>
          <a:prstGeom prst="rect">
            <a:avLst/>
          </a:prstGeom>
          <a:solidFill>
            <a:srgbClr val="0C1829"/>
          </a:solidFill>
          <a:ln w="12700">
            <a:solidFill>
              <a:srgbClr val="1E3A5F"/>
            </a:solidFill>
            <a:prstDash val="solid"/>
          </a:ln>
        </p:spPr>
      </p:sp>
      <p:sp>
        <p:nvSpPr>
          <p:cNvPr id="23" name="Text 21"/>
          <p:cNvSpPr/>
          <p:nvPr/>
        </p:nvSpPr>
        <p:spPr>
          <a:xfrm>
            <a:off x="475488" y="4782312"/>
            <a:ext cx="8138160" cy="329184"/>
          </a:xfrm>
          <a:prstGeom prst="rect">
            <a:avLst/>
          </a:prstGeom>
          <a:noFill/>
          <a:ln/>
        </p:spPr>
        <p:txBody>
          <a:bodyPr wrap="square" rtlCol="0" anchor="ctr"/>
          <a:lstStyle/>
          <a:p>
            <a:pPr indent="0" marL="0">
              <a:buNone/>
            </a:pPr>
            <a:r>
              <a:rPr lang="en-US" sz="1050" dirty="0">
                <a:solidFill>
                  <a:srgbClr val="64748B"/>
                </a:solidFill>
                <a:latin typeface="Calibri" pitchFamily="34" charset="0"/>
                <a:ea typeface="Calibri" pitchFamily="34" charset="-122"/>
                <a:cs typeface="Calibri" pitchFamily="34" charset="-120"/>
              </a:rPr>
              <a:t>Ek kontrol: L2 Öklid mesafesi de hesaplanır — kosinüs benzerliğini destekler ve aykırı değerleri yakalar</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070E1B"/>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Adım 8  —  Karar Mekanizması</a:t>
            </a:r>
            <a:endParaRPr lang="en-US" sz="3200" dirty="0"/>
          </a:p>
        </p:txBody>
      </p:sp>
      <p:sp>
        <p:nvSpPr>
          <p:cNvPr id="3" name="Text 1"/>
          <p:cNvSpPr/>
          <p:nvPr/>
        </p:nvSpPr>
        <p:spPr>
          <a:xfrm>
            <a:off x="457200" y="749808"/>
            <a:ext cx="8229600" cy="292608"/>
          </a:xfrm>
          <a:prstGeom prst="rect">
            <a:avLst/>
          </a:prstGeom>
          <a:noFill/>
          <a:ln/>
        </p:spPr>
        <p:txBody>
          <a:bodyPr wrap="square" rtlCol="0" anchor="ctr"/>
          <a:lstStyle/>
          <a:p>
            <a:pPr indent="0" marL="0">
              <a:buNone/>
            </a:pPr>
            <a:r>
              <a:rPr lang="en-US" sz="1200" dirty="0">
                <a:solidFill>
                  <a:srgbClr val="64748B"/>
                </a:solidFill>
                <a:latin typeface="Calibri" pitchFamily="34" charset="0"/>
                <a:ea typeface="Calibri" pitchFamily="34" charset="-122"/>
                <a:cs typeface="Calibri" pitchFamily="34" charset="-120"/>
              </a:rPr>
              <a:t>karar_ver() — Adaptif eşikler + çapraz kontrol + çok katmanlı doğrulama</a:t>
            </a:r>
            <a:endParaRPr lang="en-US" sz="1200" dirty="0"/>
          </a:p>
        </p:txBody>
      </p:sp>
      <p:sp>
        <p:nvSpPr>
          <p:cNvPr id="4" name="Shape 2"/>
          <p:cNvSpPr/>
          <p:nvPr/>
        </p:nvSpPr>
        <p:spPr>
          <a:xfrm>
            <a:off x="365760" y="1051560"/>
            <a:ext cx="5029200" cy="2286000"/>
          </a:xfrm>
          <a:prstGeom prst="rect">
            <a:avLst/>
          </a:prstGeom>
          <a:solidFill>
            <a:srgbClr val="0C1829"/>
          </a:solidFill>
          <a:ln w="19050">
            <a:solidFill>
              <a:srgbClr val="818CF8"/>
            </a:solidFill>
            <a:prstDash val="solid"/>
          </a:ln>
        </p:spPr>
      </p:sp>
      <p:sp>
        <p:nvSpPr>
          <p:cNvPr id="5" name="Shape 3"/>
          <p:cNvSpPr/>
          <p:nvPr/>
        </p:nvSpPr>
        <p:spPr>
          <a:xfrm>
            <a:off x="365760" y="1051560"/>
            <a:ext cx="5029200" cy="438912"/>
          </a:xfrm>
          <a:prstGeom prst="rect">
            <a:avLst/>
          </a:prstGeom>
          <a:solidFill>
            <a:srgbClr val="818CF8"/>
          </a:solidFill>
          <a:ln w="12700">
            <a:solidFill>
              <a:srgbClr val="818CF8"/>
            </a:solidFill>
            <a:prstDash val="solid"/>
          </a:ln>
        </p:spPr>
      </p:sp>
      <p:sp>
        <p:nvSpPr>
          <p:cNvPr id="6" name="Text 4"/>
          <p:cNvSpPr/>
          <p:nvPr/>
        </p:nvSpPr>
        <p:spPr>
          <a:xfrm>
            <a:off x="475488" y="1069848"/>
            <a:ext cx="4809744" cy="402336"/>
          </a:xfrm>
          <a:prstGeom prst="rect">
            <a:avLst/>
          </a:prstGeom>
          <a:noFill/>
          <a:ln/>
        </p:spPr>
        <p:txBody>
          <a:bodyPr wrap="square" rtlCol="0" anchor="ctr"/>
          <a:lstStyle/>
          <a:p>
            <a:pPr indent="0" marL="0">
              <a:buNone/>
            </a:pPr>
            <a:r>
              <a:rPr lang="en-US" sz="1100" b="1" dirty="0">
                <a:solidFill>
                  <a:srgbClr val="030810"/>
                </a:solidFill>
                <a:latin typeface="Calibri" pitchFamily="34" charset="0"/>
                <a:ea typeface="Calibri" pitchFamily="34" charset="-122"/>
                <a:cs typeface="Calibri" pitchFamily="34" charset="-120"/>
              </a:rPr>
              <a:t>Adaptif Kalite Eşikleri — Sabit değil, dinamik!</a:t>
            </a:r>
            <a:endParaRPr lang="en-US" sz="1100" dirty="0"/>
          </a:p>
        </p:txBody>
      </p:sp>
      <p:sp>
        <p:nvSpPr>
          <p:cNvPr id="7" name="Shape 5"/>
          <p:cNvSpPr/>
          <p:nvPr/>
        </p:nvSpPr>
        <p:spPr>
          <a:xfrm>
            <a:off x="457200" y="1554480"/>
            <a:ext cx="1170432" cy="374904"/>
          </a:xfrm>
          <a:prstGeom prst="rect">
            <a:avLst/>
          </a:prstGeom>
          <a:solidFill>
            <a:srgbClr val="0F2040"/>
          </a:solidFill>
          <a:ln w="6350">
            <a:solidFill>
              <a:srgbClr val="1E3A5F"/>
            </a:solidFill>
            <a:prstDash val="solid"/>
          </a:ln>
        </p:spPr>
      </p:sp>
      <p:sp>
        <p:nvSpPr>
          <p:cNvPr id="8" name="Text 6"/>
          <p:cNvSpPr/>
          <p:nvPr/>
        </p:nvSpPr>
        <p:spPr>
          <a:xfrm>
            <a:off x="457200" y="1554480"/>
            <a:ext cx="1170432" cy="374904"/>
          </a:xfrm>
          <a:prstGeom prst="rect">
            <a:avLst/>
          </a:prstGeom>
          <a:noFill/>
          <a:ln/>
        </p:spPr>
        <p:txBody>
          <a:bodyPr wrap="square" rtlCol="0" anchor="ctr"/>
          <a:lstStyle/>
          <a:p>
            <a:pPr algn="ctr" indent="0" marL="0">
              <a:buNone/>
            </a:pPr>
            <a:r>
              <a:rPr lang="en-US" sz="900" b="1" dirty="0">
                <a:solidFill>
                  <a:srgbClr val="818CF8"/>
                </a:solidFill>
                <a:latin typeface="Calibri" pitchFamily="34" charset="0"/>
                <a:ea typeface="Calibri" pitchFamily="34" charset="-122"/>
                <a:cs typeface="Calibri" pitchFamily="34" charset="-120"/>
              </a:rPr>
              <a:t>Görüntü Kalitesi</a:t>
            </a:r>
            <a:endParaRPr lang="en-US" sz="900" dirty="0"/>
          </a:p>
        </p:txBody>
      </p:sp>
      <p:sp>
        <p:nvSpPr>
          <p:cNvPr id="9" name="Shape 7"/>
          <p:cNvSpPr/>
          <p:nvPr/>
        </p:nvSpPr>
        <p:spPr>
          <a:xfrm>
            <a:off x="1645920" y="1554480"/>
            <a:ext cx="1170432" cy="374904"/>
          </a:xfrm>
          <a:prstGeom prst="rect">
            <a:avLst/>
          </a:prstGeom>
          <a:solidFill>
            <a:srgbClr val="0F2040"/>
          </a:solidFill>
          <a:ln w="6350">
            <a:solidFill>
              <a:srgbClr val="1E3A5F"/>
            </a:solidFill>
            <a:prstDash val="solid"/>
          </a:ln>
        </p:spPr>
      </p:sp>
      <p:sp>
        <p:nvSpPr>
          <p:cNvPr id="10" name="Text 8"/>
          <p:cNvSpPr/>
          <p:nvPr/>
        </p:nvSpPr>
        <p:spPr>
          <a:xfrm>
            <a:off x="1645920" y="1554480"/>
            <a:ext cx="1170432" cy="374904"/>
          </a:xfrm>
          <a:prstGeom prst="rect">
            <a:avLst/>
          </a:prstGeom>
          <a:noFill/>
          <a:ln/>
        </p:spPr>
        <p:txBody>
          <a:bodyPr wrap="square" rtlCol="0" anchor="ctr"/>
          <a:lstStyle/>
          <a:p>
            <a:pPr algn="ctr" indent="0" marL="0">
              <a:buNone/>
            </a:pPr>
            <a:r>
              <a:rPr lang="en-US" sz="900" b="1" dirty="0">
                <a:solidFill>
                  <a:srgbClr val="818CF8"/>
                </a:solidFill>
                <a:latin typeface="Calibri" pitchFamily="34" charset="0"/>
                <a:ea typeface="Calibri" pitchFamily="34" charset="-122"/>
                <a:cs typeface="Calibri" pitchFamily="34" charset="-120"/>
              </a:rPr>
              <a:t>Göz Min</a:t>
            </a:r>
            <a:endParaRPr lang="en-US" sz="900" dirty="0"/>
          </a:p>
        </p:txBody>
      </p:sp>
      <p:sp>
        <p:nvSpPr>
          <p:cNvPr id="11" name="Shape 9"/>
          <p:cNvSpPr/>
          <p:nvPr/>
        </p:nvSpPr>
        <p:spPr>
          <a:xfrm>
            <a:off x="2834640" y="1554480"/>
            <a:ext cx="1170432" cy="374904"/>
          </a:xfrm>
          <a:prstGeom prst="rect">
            <a:avLst/>
          </a:prstGeom>
          <a:solidFill>
            <a:srgbClr val="0F2040"/>
          </a:solidFill>
          <a:ln w="6350">
            <a:solidFill>
              <a:srgbClr val="1E3A5F"/>
            </a:solidFill>
            <a:prstDash val="solid"/>
          </a:ln>
        </p:spPr>
      </p:sp>
      <p:sp>
        <p:nvSpPr>
          <p:cNvPr id="12" name="Text 10"/>
          <p:cNvSpPr/>
          <p:nvPr/>
        </p:nvSpPr>
        <p:spPr>
          <a:xfrm>
            <a:off x="2834640" y="1554480"/>
            <a:ext cx="1170432" cy="374904"/>
          </a:xfrm>
          <a:prstGeom prst="rect">
            <a:avLst/>
          </a:prstGeom>
          <a:noFill/>
          <a:ln/>
        </p:spPr>
        <p:txBody>
          <a:bodyPr wrap="square" rtlCol="0" anchor="ctr"/>
          <a:lstStyle/>
          <a:p>
            <a:pPr algn="ctr" indent="0" marL="0">
              <a:buNone/>
            </a:pPr>
            <a:r>
              <a:rPr lang="en-US" sz="900" b="1" dirty="0">
                <a:solidFill>
                  <a:srgbClr val="818CF8"/>
                </a:solidFill>
                <a:latin typeface="Calibri" pitchFamily="34" charset="0"/>
                <a:ea typeface="Calibri" pitchFamily="34" charset="-122"/>
                <a:cs typeface="Calibri" pitchFamily="34" charset="-120"/>
              </a:rPr>
              <a:t>Ort. Min</a:t>
            </a:r>
            <a:endParaRPr lang="en-US" sz="900" dirty="0"/>
          </a:p>
        </p:txBody>
      </p:sp>
      <p:sp>
        <p:nvSpPr>
          <p:cNvPr id="13" name="Shape 11"/>
          <p:cNvSpPr/>
          <p:nvPr/>
        </p:nvSpPr>
        <p:spPr>
          <a:xfrm>
            <a:off x="4023360" y="1554480"/>
            <a:ext cx="1170432" cy="374904"/>
          </a:xfrm>
          <a:prstGeom prst="rect">
            <a:avLst/>
          </a:prstGeom>
          <a:solidFill>
            <a:srgbClr val="0F2040"/>
          </a:solidFill>
          <a:ln w="6350">
            <a:solidFill>
              <a:srgbClr val="1E3A5F"/>
            </a:solidFill>
            <a:prstDash val="solid"/>
          </a:ln>
        </p:spPr>
      </p:sp>
      <p:sp>
        <p:nvSpPr>
          <p:cNvPr id="14" name="Text 12"/>
          <p:cNvSpPr/>
          <p:nvPr/>
        </p:nvSpPr>
        <p:spPr>
          <a:xfrm>
            <a:off x="4023360" y="1554480"/>
            <a:ext cx="1170432" cy="374904"/>
          </a:xfrm>
          <a:prstGeom prst="rect">
            <a:avLst/>
          </a:prstGeom>
          <a:noFill/>
          <a:ln/>
        </p:spPr>
        <p:txBody>
          <a:bodyPr wrap="square" rtlCol="0" anchor="ctr"/>
          <a:lstStyle/>
          <a:p>
            <a:pPr algn="ctr" indent="0" marL="0">
              <a:buNone/>
            </a:pPr>
            <a:r>
              <a:rPr lang="en-US" sz="900" b="1" dirty="0">
                <a:solidFill>
                  <a:srgbClr val="818CF8"/>
                </a:solidFill>
                <a:latin typeface="Calibri" pitchFamily="34" charset="0"/>
                <a:ea typeface="Calibri" pitchFamily="34" charset="-122"/>
                <a:cs typeface="Calibri" pitchFamily="34" charset="-120"/>
              </a:rPr>
              <a:t>L2 Max</a:t>
            </a:r>
            <a:endParaRPr lang="en-US" sz="900" dirty="0"/>
          </a:p>
        </p:txBody>
      </p:sp>
      <p:sp>
        <p:nvSpPr>
          <p:cNvPr id="15" name="Shape 13"/>
          <p:cNvSpPr/>
          <p:nvPr/>
        </p:nvSpPr>
        <p:spPr>
          <a:xfrm>
            <a:off x="457200" y="1947672"/>
            <a:ext cx="1170432" cy="374904"/>
          </a:xfrm>
          <a:prstGeom prst="rect">
            <a:avLst/>
          </a:prstGeom>
          <a:solidFill>
            <a:srgbClr val="040A14"/>
          </a:solidFill>
          <a:ln w="6350">
            <a:solidFill>
              <a:srgbClr val="1E3A5F"/>
            </a:solidFill>
            <a:prstDash val="solid"/>
          </a:ln>
        </p:spPr>
      </p:sp>
      <p:sp>
        <p:nvSpPr>
          <p:cNvPr id="16" name="Text 14"/>
          <p:cNvSpPr/>
          <p:nvPr/>
        </p:nvSpPr>
        <p:spPr>
          <a:xfrm>
            <a:off x="457200" y="1947672"/>
            <a:ext cx="1170432" cy="374904"/>
          </a:xfrm>
          <a:prstGeom prst="rect">
            <a:avLst/>
          </a:prstGeom>
          <a:noFill/>
          <a:ln/>
        </p:spPr>
        <p:txBody>
          <a:bodyPr wrap="square" rtlCol="0" anchor="ctr"/>
          <a:lstStyle/>
          <a:p>
            <a:pPr algn="ctr" indent="0" marL="0">
              <a:buNone/>
            </a:pPr>
            <a:r>
              <a:rPr lang="en-US" sz="950" b="1" dirty="0">
                <a:solidFill>
                  <a:srgbClr val="64748B"/>
                </a:solidFill>
                <a:latin typeface="Consolas" pitchFamily="34" charset="0"/>
                <a:ea typeface="Consolas" pitchFamily="34" charset="-122"/>
                <a:cs typeface="Consolas" pitchFamily="34" charset="-120"/>
              </a:rPr>
              <a:t>Düşük (&lt;0.30)</a:t>
            </a:r>
            <a:endParaRPr lang="en-US" sz="950" dirty="0"/>
          </a:p>
        </p:txBody>
      </p:sp>
      <p:sp>
        <p:nvSpPr>
          <p:cNvPr id="17" name="Shape 15"/>
          <p:cNvSpPr/>
          <p:nvPr/>
        </p:nvSpPr>
        <p:spPr>
          <a:xfrm>
            <a:off x="1645920" y="1947672"/>
            <a:ext cx="1170432" cy="374904"/>
          </a:xfrm>
          <a:prstGeom prst="rect">
            <a:avLst/>
          </a:prstGeom>
          <a:solidFill>
            <a:srgbClr val="040A14"/>
          </a:solidFill>
          <a:ln w="6350">
            <a:solidFill>
              <a:srgbClr val="1E3A5F"/>
            </a:solidFill>
            <a:prstDash val="solid"/>
          </a:ln>
        </p:spPr>
      </p:sp>
      <p:sp>
        <p:nvSpPr>
          <p:cNvPr id="18" name="Text 16"/>
          <p:cNvSpPr/>
          <p:nvPr/>
        </p:nvSpPr>
        <p:spPr>
          <a:xfrm>
            <a:off x="1645920" y="1947672"/>
            <a:ext cx="1170432" cy="374904"/>
          </a:xfrm>
          <a:prstGeom prst="rect">
            <a:avLst/>
          </a:prstGeom>
          <a:noFill/>
          <a:ln/>
        </p:spPr>
        <p:txBody>
          <a:bodyPr wrap="square" rtlCol="0" anchor="ctr"/>
          <a:lstStyle/>
          <a:p>
            <a:pPr algn="ctr" indent="0" marL="0">
              <a:buNone/>
            </a:pPr>
            <a:r>
              <a:rPr lang="en-US" sz="950" dirty="0">
                <a:solidFill>
                  <a:srgbClr val="F1F5F9"/>
                </a:solidFill>
                <a:latin typeface="Consolas" pitchFamily="34" charset="0"/>
                <a:ea typeface="Consolas" pitchFamily="34" charset="-122"/>
                <a:cs typeface="Consolas" pitchFamily="34" charset="-120"/>
              </a:rPr>
              <a:t>0.72</a:t>
            </a:r>
            <a:endParaRPr lang="en-US" sz="950" dirty="0"/>
          </a:p>
        </p:txBody>
      </p:sp>
      <p:sp>
        <p:nvSpPr>
          <p:cNvPr id="19" name="Shape 17"/>
          <p:cNvSpPr/>
          <p:nvPr/>
        </p:nvSpPr>
        <p:spPr>
          <a:xfrm>
            <a:off x="2834640" y="1947672"/>
            <a:ext cx="1170432" cy="374904"/>
          </a:xfrm>
          <a:prstGeom prst="rect">
            <a:avLst/>
          </a:prstGeom>
          <a:solidFill>
            <a:srgbClr val="040A14"/>
          </a:solidFill>
          <a:ln w="6350">
            <a:solidFill>
              <a:srgbClr val="1E3A5F"/>
            </a:solidFill>
            <a:prstDash val="solid"/>
          </a:ln>
        </p:spPr>
      </p:sp>
      <p:sp>
        <p:nvSpPr>
          <p:cNvPr id="20" name="Text 18"/>
          <p:cNvSpPr/>
          <p:nvPr/>
        </p:nvSpPr>
        <p:spPr>
          <a:xfrm>
            <a:off x="2834640" y="1947672"/>
            <a:ext cx="1170432" cy="374904"/>
          </a:xfrm>
          <a:prstGeom prst="rect">
            <a:avLst/>
          </a:prstGeom>
          <a:noFill/>
          <a:ln/>
        </p:spPr>
        <p:txBody>
          <a:bodyPr wrap="square" rtlCol="0" anchor="ctr"/>
          <a:lstStyle/>
          <a:p>
            <a:pPr algn="ctr" indent="0" marL="0">
              <a:buNone/>
            </a:pPr>
            <a:r>
              <a:rPr lang="en-US" sz="950" dirty="0">
                <a:solidFill>
                  <a:srgbClr val="F1F5F9"/>
                </a:solidFill>
                <a:latin typeface="Consolas" pitchFamily="34" charset="0"/>
                <a:ea typeface="Consolas" pitchFamily="34" charset="-122"/>
                <a:cs typeface="Consolas" pitchFamily="34" charset="-120"/>
              </a:rPr>
              <a:t>0.76</a:t>
            </a:r>
            <a:endParaRPr lang="en-US" sz="950" dirty="0"/>
          </a:p>
        </p:txBody>
      </p:sp>
      <p:sp>
        <p:nvSpPr>
          <p:cNvPr id="21" name="Shape 19"/>
          <p:cNvSpPr/>
          <p:nvPr/>
        </p:nvSpPr>
        <p:spPr>
          <a:xfrm>
            <a:off x="4023360" y="1947672"/>
            <a:ext cx="1170432" cy="374904"/>
          </a:xfrm>
          <a:prstGeom prst="rect">
            <a:avLst/>
          </a:prstGeom>
          <a:solidFill>
            <a:srgbClr val="040A14"/>
          </a:solidFill>
          <a:ln w="6350">
            <a:solidFill>
              <a:srgbClr val="1E3A5F"/>
            </a:solidFill>
            <a:prstDash val="solid"/>
          </a:ln>
        </p:spPr>
      </p:sp>
      <p:sp>
        <p:nvSpPr>
          <p:cNvPr id="22" name="Text 20"/>
          <p:cNvSpPr/>
          <p:nvPr/>
        </p:nvSpPr>
        <p:spPr>
          <a:xfrm>
            <a:off x="4023360" y="1947672"/>
            <a:ext cx="1170432" cy="374904"/>
          </a:xfrm>
          <a:prstGeom prst="rect">
            <a:avLst/>
          </a:prstGeom>
          <a:noFill/>
          <a:ln/>
        </p:spPr>
        <p:txBody>
          <a:bodyPr wrap="square" rtlCol="0" anchor="ctr"/>
          <a:lstStyle/>
          <a:p>
            <a:pPr algn="ctr" indent="0" marL="0">
              <a:buNone/>
            </a:pPr>
            <a:r>
              <a:rPr lang="en-US" sz="950" dirty="0">
                <a:solidFill>
                  <a:srgbClr val="F1F5F9"/>
                </a:solidFill>
                <a:latin typeface="Consolas" pitchFamily="34" charset="0"/>
                <a:ea typeface="Consolas" pitchFamily="34" charset="-122"/>
                <a:cs typeface="Consolas" pitchFamily="34" charset="-120"/>
              </a:rPr>
              <a:t>0.68</a:t>
            </a:r>
            <a:endParaRPr lang="en-US" sz="950" dirty="0"/>
          </a:p>
        </p:txBody>
      </p:sp>
      <p:sp>
        <p:nvSpPr>
          <p:cNvPr id="23" name="Shape 21"/>
          <p:cNvSpPr/>
          <p:nvPr/>
        </p:nvSpPr>
        <p:spPr>
          <a:xfrm>
            <a:off x="457200" y="2340864"/>
            <a:ext cx="1170432" cy="374904"/>
          </a:xfrm>
          <a:prstGeom prst="rect">
            <a:avLst/>
          </a:prstGeom>
          <a:solidFill>
            <a:srgbClr val="040A14"/>
          </a:solidFill>
          <a:ln w="6350">
            <a:solidFill>
              <a:srgbClr val="1E3A5F"/>
            </a:solidFill>
            <a:prstDash val="solid"/>
          </a:ln>
        </p:spPr>
      </p:sp>
      <p:sp>
        <p:nvSpPr>
          <p:cNvPr id="24" name="Text 22"/>
          <p:cNvSpPr/>
          <p:nvPr/>
        </p:nvSpPr>
        <p:spPr>
          <a:xfrm>
            <a:off x="457200" y="2340864"/>
            <a:ext cx="1170432" cy="374904"/>
          </a:xfrm>
          <a:prstGeom prst="rect">
            <a:avLst/>
          </a:prstGeom>
          <a:noFill/>
          <a:ln/>
        </p:spPr>
        <p:txBody>
          <a:bodyPr wrap="square" rtlCol="0" anchor="ctr"/>
          <a:lstStyle/>
          <a:p>
            <a:pPr algn="ctr" indent="0" marL="0">
              <a:buNone/>
            </a:pPr>
            <a:r>
              <a:rPr lang="en-US" sz="950" b="1" dirty="0">
                <a:solidFill>
                  <a:srgbClr val="64748B"/>
                </a:solidFill>
                <a:latin typeface="Consolas" pitchFamily="34" charset="0"/>
                <a:ea typeface="Consolas" pitchFamily="34" charset="-122"/>
                <a:cs typeface="Consolas" pitchFamily="34" charset="-120"/>
              </a:rPr>
              <a:t>Orta (0.30–0.55)</a:t>
            </a:r>
            <a:endParaRPr lang="en-US" sz="950" dirty="0"/>
          </a:p>
        </p:txBody>
      </p:sp>
      <p:sp>
        <p:nvSpPr>
          <p:cNvPr id="25" name="Shape 23"/>
          <p:cNvSpPr/>
          <p:nvPr/>
        </p:nvSpPr>
        <p:spPr>
          <a:xfrm>
            <a:off x="1645920" y="2340864"/>
            <a:ext cx="1170432" cy="374904"/>
          </a:xfrm>
          <a:prstGeom prst="rect">
            <a:avLst/>
          </a:prstGeom>
          <a:solidFill>
            <a:srgbClr val="040A14"/>
          </a:solidFill>
          <a:ln w="6350">
            <a:solidFill>
              <a:srgbClr val="1E3A5F"/>
            </a:solidFill>
            <a:prstDash val="solid"/>
          </a:ln>
        </p:spPr>
      </p:sp>
      <p:sp>
        <p:nvSpPr>
          <p:cNvPr id="26" name="Text 24"/>
          <p:cNvSpPr/>
          <p:nvPr/>
        </p:nvSpPr>
        <p:spPr>
          <a:xfrm>
            <a:off x="1645920" y="2340864"/>
            <a:ext cx="1170432" cy="374904"/>
          </a:xfrm>
          <a:prstGeom prst="rect">
            <a:avLst/>
          </a:prstGeom>
          <a:noFill/>
          <a:ln/>
        </p:spPr>
        <p:txBody>
          <a:bodyPr wrap="square" rtlCol="0" anchor="ctr"/>
          <a:lstStyle/>
          <a:p>
            <a:pPr algn="ctr" indent="0" marL="0">
              <a:buNone/>
            </a:pPr>
            <a:r>
              <a:rPr lang="en-US" sz="950" dirty="0">
                <a:solidFill>
                  <a:srgbClr val="F1F5F9"/>
                </a:solidFill>
                <a:latin typeface="Consolas" pitchFamily="34" charset="0"/>
                <a:ea typeface="Consolas" pitchFamily="34" charset="-122"/>
                <a:cs typeface="Consolas" pitchFamily="34" charset="-120"/>
              </a:rPr>
              <a:t>0.78</a:t>
            </a:r>
            <a:endParaRPr lang="en-US" sz="950" dirty="0"/>
          </a:p>
        </p:txBody>
      </p:sp>
      <p:sp>
        <p:nvSpPr>
          <p:cNvPr id="27" name="Shape 25"/>
          <p:cNvSpPr/>
          <p:nvPr/>
        </p:nvSpPr>
        <p:spPr>
          <a:xfrm>
            <a:off x="2834640" y="2340864"/>
            <a:ext cx="1170432" cy="374904"/>
          </a:xfrm>
          <a:prstGeom prst="rect">
            <a:avLst/>
          </a:prstGeom>
          <a:solidFill>
            <a:srgbClr val="040A14"/>
          </a:solidFill>
          <a:ln w="6350">
            <a:solidFill>
              <a:srgbClr val="1E3A5F"/>
            </a:solidFill>
            <a:prstDash val="solid"/>
          </a:ln>
        </p:spPr>
      </p:sp>
      <p:sp>
        <p:nvSpPr>
          <p:cNvPr id="28" name="Text 26"/>
          <p:cNvSpPr/>
          <p:nvPr/>
        </p:nvSpPr>
        <p:spPr>
          <a:xfrm>
            <a:off x="2834640" y="2340864"/>
            <a:ext cx="1170432" cy="374904"/>
          </a:xfrm>
          <a:prstGeom prst="rect">
            <a:avLst/>
          </a:prstGeom>
          <a:noFill/>
          <a:ln/>
        </p:spPr>
        <p:txBody>
          <a:bodyPr wrap="square" rtlCol="0" anchor="ctr"/>
          <a:lstStyle/>
          <a:p>
            <a:pPr algn="ctr" indent="0" marL="0">
              <a:buNone/>
            </a:pPr>
            <a:r>
              <a:rPr lang="en-US" sz="950" dirty="0">
                <a:solidFill>
                  <a:srgbClr val="F1F5F9"/>
                </a:solidFill>
                <a:latin typeface="Consolas" pitchFamily="34" charset="0"/>
                <a:ea typeface="Consolas" pitchFamily="34" charset="-122"/>
                <a:cs typeface="Consolas" pitchFamily="34" charset="-120"/>
              </a:rPr>
              <a:t>0.82</a:t>
            </a:r>
            <a:endParaRPr lang="en-US" sz="950" dirty="0"/>
          </a:p>
        </p:txBody>
      </p:sp>
      <p:sp>
        <p:nvSpPr>
          <p:cNvPr id="29" name="Shape 27"/>
          <p:cNvSpPr/>
          <p:nvPr/>
        </p:nvSpPr>
        <p:spPr>
          <a:xfrm>
            <a:off x="4023360" y="2340864"/>
            <a:ext cx="1170432" cy="374904"/>
          </a:xfrm>
          <a:prstGeom prst="rect">
            <a:avLst/>
          </a:prstGeom>
          <a:solidFill>
            <a:srgbClr val="040A14"/>
          </a:solidFill>
          <a:ln w="6350">
            <a:solidFill>
              <a:srgbClr val="1E3A5F"/>
            </a:solidFill>
            <a:prstDash val="solid"/>
          </a:ln>
        </p:spPr>
      </p:sp>
      <p:sp>
        <p:nvSpPr>
          <p:cNvPr id="30" name="Text 28"/>
          <p:cNvSpPr/>
          <p:nvPr/>
        </p:nvSpPr>
        <p:spPr>
          <a:xfrm>
            <a:off x="4023360" y="2340864"/>
            <a:ext cx="1170432" cy="374904"/>
          </a:xfrm>
          <a:prstGeom prst="rect">
            <a:avLst/>
          </a:prstGeom>
          <a:noFill/>
          <a:ln/>
        </p:spPr>
        <p:txBody>
          <a:bodyPr wrap="square" rtlCol="0" anchor="ctr"/>
          <a:lstStyle/>
          <a:p>
            <a:pPr algn="ctr" indent="0" marL="0">
              <a:buNone/>
            </a:pPr>
            <a:r>
              <a:rPr lang="en-US" sz="950" dirty="0">
                <a:solidFill>
                  <a:srgbClr val="F1F5F9"/>
                </a:solidFill>
                <a:latin typeface="Consolas" pitchFamily="34" charset="0"/>
                <a:ea typeface="Consolas" pitchFamily="34" charset="-122"/>
                <a:cs typeface="Consolas" pitchFamily="34" charset="-120"/>
              </a:rPr>
              <a:t>0.58</a:t>
            </a:r>
            <a:endParaRPr lang="en-US" sz="950" dirty="0"/>
          </a:p>
        </p:txBody>
      </p:sp>
      <p:sp>
        <p:nvSpPr>
          <p:cNvPr id="31" name="Shape 29"/>
          <p:cNvSpPr/>
          <p:nvPr/>
        </p:nvSpPr>
        <p:spPr>
          <a:xfrm>
            <a:off x="457200" y="2734056"/>
            <a:ext cx="1170432" cy="374904"/>
          </a:xfrm>
          <a:prstGeom prst="rect">
            <a:avLst/>
          </a:prstGeom>
          <a:solidFill>
            <a:srgbClr val="040A14"/>
          </a:solidFill>
          <a:ln w="6350">
            <a:solidFill>
              <a:srgbClr val="1E3A5F"/>
            </a:solidFill>
            <a:prstDash val="solid"/>
          </a:ln>
        </p:spPr>
      </p:sp>
      <p:sp>
        <p:nvSpPr>
          <p:cNvPr id="32" name="Text 30"/>
          <p:cNvSpPr/>
          <p:nvPr/>
        </p:nvSpPr>
        <p:spPr>
          <a:xfrm>
            <a:off x="457200" y="2734056"/>
            <a:ext cx="1170432" cy="374904"/>
          </a:xfrm>
          <a:prstGeom prst="rect">
            <a:avLst/>
          </a:prstGeom>
          <a:noFill/>
          <a:ln/>
        </p:spPr>
        <p:txBody>
          <a:bodyPr wrap="square" rtlCol="0" anchor="ctr"/>
          <a:lstStyle/>
          <a:p>
            <a:pPr algn="ctr" indent="0" marL="0">
              <a:buNone/>
            </a:pPr>
            <a:r>
              <a:rPr lang="en-US" sz="950" b="1" dirty="0">
                <a:solidFill>
                  <a:srgbClr val="64748B"/>
                </a:solidFill>
                <a:latin typeface="Consolas" pitchFamily="34" charset="0"/>
                <a:ea typeface="Consolas" pitchFamily="34" charset="-122"/>
                <a:cs typeface="Consolas" pitchFamily="34" charset="-120"/>
              </a:rPr>
              <a:t>Yüksek (&gt;0.55)</a:t>
            </a:r>
            <a:endParaRPr lang="en-US" sz="950" dirty="0"/>
          </a:p>
        </p:txBody>
      </p:sp>
      <p:sp>
        <p:nvSpPr>
          <p:cNvPr id="33" name="Shape 31"/>
          <p:cNvSpPr/>
          <p:nvPr/>
        </p:nvSpPr>
        <p:spPr>
          <a:xfrm>
            <a:off x="1645920" y="2734056"/>
            <a:ext cx="1170432" cy="374904"/>
          </a:xfrm>
          <a:prstGeom prst="rect">
            <a:avLst/>
          </a:prstGeom>
          <a:solidFill>
            <a:srgbClr val="040A14"/>
          </a:solidFill>
          <a:ln w="6350">
            <a:solidFill>
              <a:srgbClr val="1E3A5F"/>
            </a:solidFill>
            <a:prstDash val="solid"/>
          </a:ln>
        </p:spPr>
      </p:sp>
      <p:sp>
        <p:nvSpPr>
          <p:cNvPr id="34" name="Text 32"/>
          <p:cNvSpPr/>
          <p:nvPr/>
        </p:nvSpPr>
        <p:spPr>
          <a:xfrm>
            <a:off x="1645920" y="2734056"/>
            <a:ext cx="1170432" cy="374904"/>
          </a:xfrm>
          <a:prstGeom prst="rect">
            <a:avLst/>
          </a:prstGeom>
          <a:noFill/>
          <a:ln/>
        </p:spPr>
        <p:txBody>
          <a:bodyPr wrap="square" rtlCol="0" anchor="ctr"/>
          <a:lstStyle/>
          <a:p>
            <a:pPr algn="ctr" indent="0" marL="0">
              <a:buNone/>
            </a:pPr>
            <a:r>
              <a:rPr lang="en-US" sz="950" dirty="0">
                <a:solidFill>
                  <a:srgbClr val="F1F5F9"/>
                </a:solidFill>
                <a:latin typeface="Consolas" pitchFamily="34" charset="0"/>
                <a:ea typeface="Consolas" pitchFamily="34" charset="-122"/>
                <a:cs typeface="Consolas" pitchFamily="34" charset="-120"/>
              </a:rPr>
              <a:t>0.80</a:t>
            </a:r>
            <a:endParaRPr lang="en-US" sz="950" dirty="0"/>
          </a:p>
        </p:txBody>
      </p:sp>
      <p:sp>
        <p:nvSpPr>
          <p:cNvPr id="35" name="Shape 33"/>
          <p:cNvSpPr/>
          <p:nvPr/>
        </p:nvSpPr>
        <p:spPr>
          <a:xfrm>
            <a:off x="2834640" y="2734056"/>
            <a:ext cx="1170432" cy="374904"/>
          </a:xfrm>
          <a:prstGeom prst="rect">
            <a:avLst/>
          </a:prstGeom>
          <a:solidFill>
            <a:srgbClr val="040A14"/>
          </a:solidFill>
          <a:ln w="6350">
            <a:solidFill>
              <a:srgbClr val="1E3A5F"/>
            </a:solidFill>
            <a:prstDash val="solid"/>
          </a:ln>
        </p:spPr>
      </p:sp>
      <p:sp>
        <p:nvSpPr>
          <p:cNvPr id="36" name="Text 34"/>
          <p:cNvSpPr/>
          <p:nvPr/>
        </p:nvSpPr>
        <p:spPr>
          <a:xfrm>
            <a:off x="2834640" y="2734056"/>
            <a:ext cx="1170432" cy="374904"/>
          </a:xfrm>
          <a:prstGeom prst="rect">
            <a:avLst/>
          </a:prstGeom>
          <a:noFill/>
          <a:ln/>
        </p:spPr>
        <p:txBody>
          <a:bodyPr wrap="square" rtlCol="0" anchor="ctr"/>
          <a:lstStyle/>
          <a:p>
            <a:pPr algn="ctr" indent="0" marL="0">
              <a:buNone/>
            </a:pPr>
            <a:r>
              <a:rPr lang="en-US" sz="950" dirty="0">
                <a:solidFill>
                  <a:srgbClr val="F1F5F9"/>
                </a:solidFill>
                <a:latin typeface="Consolas" pitchFamily="34" charset="0"/>
                <a:ea typeface="Consolas" pitchFamily="34" charset="-122"/>
                <a:cs typeface="Consolas" pitchFamily="34" charset="-120"/>
              </a:rPr>
              <a:t>0.84</a:t>
            </a:r>
            <a:endParaRPr lang="en-US" sz="950" dirty="0"/>
          </a:p>
        </p:txBody>
      </p:sp>
      <p:sp>
        <p:nvSpPr>
          <p:cNvPr id="37" name="Shape 35"/>
          <p:cNvSpPr/>
          <p:nvPr/>
        </p:nvSpPr>
        <p:spPr>
          <a:xfrm>
            <a:off x="4023360" y="2734056"/>
            <a:ext cx="1170432" cy="374904"/>
          </a:xfrm>
          <a:prstGeom prst="rect">
            <a:avLst/>
          </a:prstGeom>
          <a:solidFill>
            <a:srgbClr val="040A14"/>
          </a:solidFill>
          <a:ln w="6350">
            <a:solidFill>
              <a:srgbClr val="1E3A5F"/>
            </a:solidFill>
            <a:prstDash val="solid"/>
          </a:ln>
        </p:spPr>
      </p:sp>
      <p:sp>
        <p:nvSpPr>
          <p:cNvPr id="38" name="Text 36"/>
          <p:cNvSpPr/>
          <p:nvPr/>
        </p:nvSpPr>
        <p:spPr>
          <a:xfrm>
            <a:off x="4023360" y="2734056"/>
            <a:ext cx="1170432" cy="374904"/>
          </a:xfrm>
          <a:prstGeom prst="rect">
            <a:avLst/>
          </a:prstGeom>
          <a:noFill/>
          <a:ln/>
        </p:spPr>
        <p:txBody>
          <a:bodyPr wrap="square" rtlCol="0" anchor="ctr"/>
          <a:lstStyle/>
          <a:p>
            <a:pPr algn="ctr" indent="0" marL="0">
              <a:buNone/>
            </a:pPr>
            <a:r>
              <a:rPr lang="en-US" sz="950" dirty="0">
                <a:solidFill>
                  <a:srgbClr val="F1F5F9"/>
                </a:solidFill>
                <a:latin typeface="Consolas" pitchFamily="34" charset="0"/>
                <a:ea typeface="Consolas" pitchFamily="34" charset="-122"/>
                <a:cs typeface="Consolas" pitchFamily="34" charset="-120"/>
              </a:rPr>
              <a:t>0.55</a:t>
            </a:r>
            <a:endParaRPr lang="en-US" sz="950" dirty="0"/>
          </a:p>
        </p:txBody>
      </p:sp>
      <p:sp>
        <p:nvSpPr>
          <p:cNvPr id="39" name="Text 37"/>
          <p:cNvSpPr/>
          <p:nvPr/>
        </p:nvSpPr>
        <p:spPr>
          <a:xfrm>
            <a:off x="475488" y="3364992"/>
            <a:ext cx="4809744" cy="32004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 Neden adaptif? Düşük kaliteli görüntü zaten skor düşürür. Sabit yüksek eşik böyle görüntüleri tamamen reddeder — pratik değil. Eşiği kaliteye göre ayarlamak daha adil.</a:t>
            </a:r>
            <a:endParaRPr lang="en-US" sz="900" dirty="0"/>
          </a:p>
        </p:txBody>
      </p:sp>
      <p:sp>
        <p:nvSpPr>
          <p:cNvPr id="40" name="Shape 38"/>
          <p:cNvSpPr/>
          <p:nvPr/>
        </p:nvSpPr>
        <p:spPr>
          <a:xfrm>
            <a:off x="5623560" y="1051560"/>
            <a:ext cx="3246120" cy="2286000"/>
          </a:xfrm>
          <a:prstGeom prst="rect">
            <a:avLst/>
          </a:prstGeom>
          <a:solidFill>
            <a:srgbClr val="0C1829"/>
          </a:solidFill>
          <a:ln w="19050">
            <a:solidFill>
              <a:srgbClr val="F87171"/>
            </a:solidFill>
            <a:prstDash val="solid"/>
          </a:ln>
        </p:spPr>
      </p:sp>
      <p:sp>
        <p:nvSpPr>
          <p:cNvPr id="41" name="Shape 39"/>
          <p:cNvSpPr/>
          <p:nvPr/>
        </p:nvSpPr>
        <p:spPr>
          <a:xfrm>
            <a:off x="5623560" y="1051560"/>
            <a:ext cx="3246120" cy="438912"/>
          </a:xfrm>
          <a:prstGeom prst="rect">
            <a:avLst/>
          </a:prstGeom>
          <a:solidFill>
            <a:srgbClr val="F87171"/>
          </a:solidFill>
          <a:ln w="12700">
            <a:solidFill>
              <a:srgbClr val="F87171"/>
            </a:solidFill>
            <a:prstDash val="solid"/>
          </a:ln>
        </p:spPr>
      </p:sp>
      <p:sp>
        <p:nvSpPr>
          <p:cNvPr id="42" name="Text 40"/>
          <p:cNvSpPr/>
          <p:nvPr/>
        </p:nvSpPr>
        <p:spPr>
          <a:xfrm>
            <a:off x="5733288" y="1069848"/>
            <a:ext cx="3026664" cy="402336"/>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 Çapraz Kontrol — Anti-Spoof</a:t>
            </a:r>
            <a:endParaRPr lang="en-US" sz="1100" dirty="0"/>
          </a:p>
        </p:txBody>
      </p:sp>
      <p:sp>
        <p:nvSpPr>
          <p:cNvPr id="43" name="Text 41"/>
          <p:cNvSpPr/>
          <p:nvPr/>
        </p:nvSpPr>
        <p:spPr>
          <a:xfrm>
            <a:off x="5733288" y="1554480"/>
            <a:ext cx="3026664" cy="1691640"/>
          </a:xfrm>
          <a:prstGeom prst="rect">
            <a:avLst/>
          </a:prstGeom>
          <a:noFill/>
          <a:ln/>
        </p:spPr>
        <p:txBody>
          <a:bodyPr wrap="square" rtlCol="0" anchor="ctr"/>
          <a:lstStyle/>
          <a:p>
            <a:pPr indent="0" marL="0">
              <a:buNone/>
            </a:pPr>
            <a:r>
              <a:rPr lang="en-US" sz="1000" dirty="0">
                <a:solidFill>
                  <a:srgbClr val="F1F5F9"/>
                </a:solidFill>
                <a:latin typeface="Calibri" pitchFamily="34" charset="0"/>
                <a:ea typeface="Calibri" pitchFamily="34" charset="-122"/>
                <a:cs typeface="Calibri" pitchFamily="34" charset="-120"/>
              </a:rPr>
              <a:t>Sağ göz → Kayıtlı sol profil karşılaştırılır (ve tersi).</a:t>
            </a:r>
            <a:endParaRPr lang="en-US" sz="1000" dirty="0"/>
          </a:p>
          <a:p>
            <a:pPr indent="0" marL="0">
              <a:buNone/>
            </a:pPr>
            <a:endParaRPr lang="en-US" sz="1000" dirty="0"/>
          </a:p>
          <a:p>
            <a:pPr indent="0" marL="0">
              <a:buNone/>
            </a:pPr>
            <a:r>
              <a:rPr lang="en-US" sz="1000" dirty="0">
                <a:solidFill>
                  <a:srgbClr val="F1F5F9"/>
                </a:solidFill>
                <a:latin typeface="Calibri" pitchFamily="34" charset="0"/>
                <a:ea typeface="Calibri" pitchFamily="34" charset="-122"/>
                <a:cs typeface="Calibri" pitchFamily="34" charset="-120"/>
              </a:rPr>
              <a:t>Eğer çapraz skor &gt; düz eşleşme skoru ise gözler karışmış demektir — sistem bunu "şüpheli" olarak işaretler ve girişi reddeder.</a:t>
            </a:r>
            <a:endParaRPr lang="en-US" sz="1000" dirty="0"/>
          </a:p>
          <a:p>
            <a:pPr indent="0" marL="0">
              <a:buNone/>
            </a:pPr>
            <a:endParaRPr lang="en-US" sz="1000" dirty="0"/>
          </a:p>
          <a:p>
            <a:pPr indent="0" marL="0">
              <a:buNone/>
            </a:pPr>
            <a:r>
              <a:rPr lang="en-US" sz="1000" dirty="0">
                <a:solidFill>
                  <a:srgbClr val="F1F5F9"/>
                </a:solidFill>
                <a:latin typeface="Calibri" pitchFamily="34" charset="0"/>
                <a:ea typeface="Calibri" pitchFamily="34" charset="-122"/>
                <a:cs typeface="Calibri" pitchFamily="34" charset="-120"/>
              </a:rPr>
              <a:t>Bu, tek fotoğrafla kandırma girişimlerini de engeller. Benim eklediğim özgün güvenlik katmanı.</a:t>
            </a:r>
            <a:endParaRPr lang="en-US" sz="1000" dirty="0"/>
          </a:p>
        </p:txBody>
      </p:sp>
      <p:sp>
        <p:nvSpPr>
          <p:cNvPr id="44" name="Shape 42"/>
          <p:cNvSpPr/>
          <p:nvPr/>
        </p:nvSpPr>
        <p:spPr>
          <a:xfrm>
            <a:off x="365760" y="3767328"/>
            <a:ext cx="4114800" cy="1353312"/>
          </a:xfrm>
          <a:prstGeom prst="rect">
            <a:avLst/>
          </a:prstGeom>
          <a:solidFill>
            <a:srgbClr val="03100A"/>
          </a:solidFill>
          <a:ln w="19050">
            <a:solidFill>
              <a:srgbClr val="34D399"/>
            </a:solidFill>
            <a:prstDash val="solid"/>
          </a:ln>
        </p:spPr>
      </p:sp>
      <p:sp>
        <p:nvSpPr>
          <p:cNvPr id="45" name="Text 43"/>
          <p:cNvSpPr/>
          <p:nvPr/>
        </p:nvSpPr>
        <p:spPr>
          <a:xfrm>
            <a:off x="475488" y="3813048"/>
            <a:ext cx="3895344" cy="274320"/>
          </a:xfrm>
          <a:prstGeom prst="rect">
            <a:avLst/>
          </a:prstGeom>
          <a:noFill/>
          <a:ln/>
        </p:spPr>
        <p:txBody>
          <a:bodyPr wrap="square" rtlCol="0" anchor="ctr"/>
          <a:lstStyle/>
          <a:p>
            <a:pPr indent="0" marL="0">
              <a:buNone/>
            </a:pPr>
            <a:r>
              <a:rPr lang="en-US" sz="1100" b="1" dirty="0">
                <a:solidFill>
                  <a:srgbClr val="34D399"/>
                </a:solidFill>
                <a:latin typeface="Calibri" pitchFamily="34" charset="0"/>
                <a:ea typeface="Calibri" pitchFamily="34" charset="-122"/>
                <a:cs typeface="Calibri" pitchFamily="34" charset="-120"/>
              </a:rPr>
              <a:t>✓  KABUL — hepsi sağlanmalı</a:t>
            </a:r>
            <a:endParaRPr lang="en-US" sz="1100" dirty="0"/>
          </a:p>
        </p:txBody>
      </p:sp>
      <p:sp>
        <p:nvSpPr>
          <p:cNvPr id="46" name="Text 44"/>
          <p:cNvSpPr/>
          <p:nvPr/>
        </p:nvSpPr>
        <p:spPr>
          <a:xfrm>
            <a:off x="502920" y="4133088"/>
            <a:ext cx="3840480" cy="164592"/>
          </a:xfrm>
          <a:prstGeom prst="rect">
            <a:avLst/>
          </a:prstGeom>
          <a:noFill/>
          <a:ln/>
        </p:spPr>
        <p:txBody>
          <a:bodyPr wrap="square" rtlCol="0" anchor="ctr"/>
          <a:lstStyle/>
          <a:p>
            <a:pPr indent="0" marL="0">
              <a:buNone/>
            </a:pPr>
            <a:r>
              <a:rPr lang="en-US" sz="950" dirty="0">
                <a:solidFill>
                  <a:srgbClr val="34D399"/>
                </a:solidFill>
                <a:latin typeface="Calibri" pitchFamily="34" charset="0"/>
                <a:ea typeface="Calibri" pitchFamily="34" charset="-122"/>
                <a:cs typeface="Calibri" pitchFamily="34" charset="-120"/>
              </a:rPr>
              <a:t>● Sağ göz skoru ≥ eşik</a:t>
            </a:r>
            <a:endParaRPr lang="en-US" sz="950" dirty="0"/>
          </a:p>
        </p:txBody>
      </p:sp>
      <p:sp>
        <p:nvSpPr>
          <p:cNvPr id="47" name="Text 45"/>
          <p:cNvSpPr/>
          <p:nvPr/>
        </p:nvSpPr>
        <p:spPr>
          <a:xfrm>
            <a:off x="502920" y="4306824"/>
            <a:ext cx="3840480" cy="164592"/>
          </a:xfrm>
          <a:prstGeom prst="rect">
            <a:avLst/>
          </a:prstGeom>
          <a:noFill/>
          <a:ln/>
        </p:spPr>
        <p:txBody>
          <a:bodyPr wrap="square" rtlCol="0" anchor="ctr"/>
          <a:lstStyle/>
          <a:p>
            <a:pPr indent="0" marL="0">
              <a:buNone/>
            </a:pPr>
            <a:r>
              <a:rPr lang="en-US" sz="950" dirty="0">
                <a:solidFill>
                  <a:srgbClr val="34D399"/>
                </a:solidFill>
                <a:latin typeface="Calibri" pitchFamily="34" charset="0"/>
                <a:ea typeface="Calibri" pitchFamily="34" charset="-122"/>
                <a:cs typeface="Calibri" pitchFamily="34" charset="-120"/>
              </a:rPr>
              <a:t>● Sol göz skoru ≥ eşik</a:t>
            </a:r>
            <a:endParaRPr lang="en-US" sz="950" dirty="0"/>
          </a:p>
        </p:txBody>
      </p:sp>
      <p:sp>
        <p:nvSpPr>
          <p:cNvPr id="48" name="Text 46"/>
          <p:cNvSpPr/>
          <p:nvPr/>
        </p:nvSpPr>
        <p:spPr>
          <a:xfrm>
            <a:off x="502920" y="4480560"/>
            <a:ext cx="3840480" cy="164592"/>
          </a:xfrm>
          <a:prstGeom prst="rect">
            <a:avLst/>
          </a:prstGeom>
          <a:noFill/>
          <a:ln/>
        </p:spPr>
        <p:txBody>
          <a:bodyPr wrap="square" rtlCol="0" anchor="ctr"/>
          <a:lstStyle/>
          <a:p>
            <a:pPr indent="0" marL="0">
              <a:buNone/>
            </a:pPr>
            <a:r>
              <a:rPr lang="en-US" sz="950" dirty="0">
                <a:solidFill>
                  <a:srgbClr val="34D399"/>
                </a:solidFill>
                <a:latin typeface="Calibri" pitchFamily="34" charset="0"/>
                <a:ea typeface="Calibri" pitchFamily="34" charset="-122"/>
                <a:cs typeface="Calibri" pitchFamily="34" charset="-120"/>
              </a:rPr>
              <a:t>● Ort. skor ≥ eşik</a:t>
            </a:r>
            <a:endParaRPr lang="en-US" sz="950" dirty="0"/>
          </a:p>
        </p:txBody>
      </p:sp>
      <p:sp>
        <p:nvSpPr>
          <p:cNvPr id="49" name="Text 47"/>
          <p:cNvSpPr/>
          <p:nvPr/>
        </p:nvSpPr>
        <p:spPr>
          <a:xfrm>
            <a:off x="502920" y="4654296"/>
            <a:ext cx="3840480" cy="164592"/>
          </a:xfrm>
          <a:prstGeom prst="rect">
            <a:avLst/>
          </a:prstGeom>
          <a:noFill/>
          <a:ln/>
        </p:spPr>
        <p:txBody>
          <a:bodyPr wrap="square" rtlCol="0" anchor="ctr"/>
          <a:lstStyle/>
          <a:p>
            <a:pPr indent="0" marL="0">
              <a:buNone/>
            </a:pPr>
            <a:r>
              <a:rPr lang="en-US" sz="950" dirty="0">
                <a:solidFill>
                  <a:srgbClr val="34D399"/>
                </a:solidFill>
                <a:latin typeface="Calibri" pitchFamily="34" charset="0"/>
                <a:ea typeface="Calibri" pitchFamily="34" charset="-122"/>
                <a:cs typeface="Calibri" pitchFamily="34" charset="-120"/>
              </a:rPr>
              <a:t>● Sağ-sol fark ≤ 0.14–0.16</a:t>
            </a:r>
            <a:endParaRPr lang="en-US" sz="950" dirty="0"/>
          </a:p>
        </p:txBody>
      </p:sp>
      <p:sp>
        <p:nvSpPr>
          <p:cNvPr id="50" name="Text 48"/>
          <p:cNvSpPr/>
          <p:nvPr/>
        </p:nvSpPr>
        <p:spPr>
          <a:xfrm>
            <a:off x="502920" y="4828032"/>
            <a:ext cx="3840480" cy="164592"/>
          </a:xfrm>
          <a:prstGeom prst="rect">
            <a:avLst/>
          </a:prstGeom>
          <a:noFill/>
          <a:ln/>
        </p:spPr>
        <p:txBody>
          <a:bodyPr wrap="square" rtlCol="0" anchor="ctr"/>
          <a:lstStyle/>
          <a:p>
            <a:pPr indent="0" marL="0">
              <a:buNone/>
            </a:pPr>
            <a:r>
              <a:rPr lang="en-US" sz="950" dirty="0">
                <a:solidFill>
                  <a:srgbClr val="34D399"/>
                </a:solidFill>
                <a:latin typeface="Calibri" pitchFamily="34" charset="0"/>
                <a:ea typeface="Calibri" pitchFamily="34" charset="-122"/>
                <a:cs typeface="Calibri" pitchFamily="34" charset="-120"/>
              </a:rPr>
              <a:t>● Çapraz kontrol geçti</a:t>
            </a:r>
            <a:endParaRPr lang="en-US" sz="950" dirty="0"/>
          </a:p>
        </p:txBody>
      </p:sp>
      <p:sp>
        <p:nvSpPr>
          <p:cNvPr id="51" name="Shape 49"/>
          <p:cNvSpPr/>
          <p:nvPr/>
        </p:nvSpPr>
        <p:spPr>
          <a:xfrm>
            <a:off x="4663440" y="3767328"/>
            <a:ext cx="4206240" cy="1353312"/>
          </a:xfrm>
          <a:prstGeom prst="rect">
            <a:avLst/>
          </a:prstGeom>
          <a:solidFill>
            <a:srgbClr val="100303"/>
          </a:solidFill>
          <a:ln w="19050">
            <a:solidFill>
              <a:srgbClr val="F87171"/>
            </a:solidFill>
            <a:prstDash val="solid"/>
          </a:ln>
        </p:spPr>
      </p:sp>
      <p:sp>
        <p:nvSpPr>
          <p:cNvPr id="52" name="Text 50"/>
          <p:cNvSpPr/>
          <p:nvPr/>
        </p:nvSpPr>
        <p:spPr>
          <a:xfrm>
            <a:off x="4773168" y="3813048"/>
            <a:ext cx="3986784" cy="274320"/>
          </a:xfrm>
          <a:prstGeom prst="rect">
            <a:avLst/>
          </a:prstGeom>
          <a:noFill/>
          <a:ln/>
        </p:spPr>
        <p:txBody>
          <a:bodyPr wrap="square" rtlCol="0" anchor="ctr"/>
          <a:lstStyle/>
          <a:p>
            <a:pPr indent="0" marL="0">
              <a:buNone/>
            </a:pPr>
            <a:r>
              <a:rPr lang="en-US" sz="1100" b="1" dirty="0">
                <a:solidFill>
                  <a:srgbClr val="F87171"/>
                </a:solidFill>
                <a:latin typeface="Calibri" pitchFamily="34" charset="0"/>
                <a:ea typeface="Calibri" pitchFamily="34" charset="-122"/>
                <a:cs typeface="Calibri" pitchFamily="34" charset="-120"/>
              </a:rPr>
              <a:t>✗  RED — herhangi biri yeterliyse</a:t>
            </a:r>
            <a:endParaRPr lang="en-US" sz="1100" dirty="0"/>
          </a:p>
        </p:txBody>
      </p:sp>
      <p:sp>
        <p:nvSpPr>
          <p:cNvPr id="53" name="Text 51"/>
          <p:cNvSpPr/>
          <p:nvPr/>
        </p:nvSpPr>
        <p:spPr>
          <a:xfrm>
            <a:off x="4800600" y="4133088"/>
            <a:ext cx="3931920" cy="16459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Herhangi bir göz eşiğin altında</a:t>
            </a:r>
            <a:endParaRPr lang="en-US" sz="950" dirty="0"/>
          </a:p>
        </p:txBody>
      </p:sp>
      <p:sp>
        <p:nvSpPr>
          <p:cNvPr id="54" name="Text 52"/>
          <p:cNvSpPr/>
          <p:nvPr/>
        </p:nvSpPr>
        <p:spPr>
          <a:xfrm>
            <a:off x="4800600" y="4306824"/>
            <a:ext cx="3931920" cy="16459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Çapraz skor &gt; düz skor</a:t>
            </a:r>
            <a:endParaRPr lang="en-US" sz="950" dirty="0"/>
          </a:p>
        </p:txBody>
      </p:sp>
      <p:sp>
        <p:nvSpPr>
          <p:cNvPr id="55" name="Text 53"/>
          <p:cNvSpPr/>
          <p:nvPr/>
        </p:nvSpPr>
        <p:spPr>
          <a:xfrm>
            <a:off x="4800600" y="4480560"/>
            <a:ext cx="3931920" cy="16459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Görüntü kalitesi kritik eşiğin altı</a:t>
            </a:r>
            <a:endParaRPr lang="en-US" sz="950" dirty="0"/>
          </a:p>
        </p:txBody>
      </p:sp>
      <p:sp>
        <p:nvSpPr>
          <p:cNvPr id="56" name="Text 54"/>
          <p:cNvSpPr/>
          <p:nvPr/>
        </p:nvSpPr>
        <p:spPr>
          <a:xfrm>
            <a:off x="4800600" y="4654296"/>
            <a:ext cx="3931920" cy="16459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L2 mesafesi üst sınırı aşıyor</a:t>
            </a:r>
            <a:endParaRPr lang="en-US" sz="950" dirty="0"/>
          </a:p>
        </p:txBody>
      </p:sp>
      <p:sp>
        <p:nvSpPr>
          <p:cNvPr id="57" name="Text 55"/>
          <p:cNvSpPr/>
          <p:nvPr/>
        </p:nvSpPr>
        <p:spPr>
          <a:xfrm>
            <a:off x="4800600" y="4828032"/>
            <a:ext cx="3931920" cy="164592"/>
          </a:xfrm>
          <a:prstGeom prst="rect">
            <a:avLst/>
          </a:prstGeom>
          <a:noFill/>
          <a:ln/>
        </p:spPr>
        <p:txBody>
          <a:bodyPr wrap="square" rtlCol="0" anchor="ctr"/>
          <a:lstStyle/>
          <a:p>
            <a:pPr indent="0" marL="0">
              <a:buNone/>
            </a:pPr>
            <a:r>
              <a:rPr lang="en-US" sz="950" dirty="0">
                <a:solidFill>
                  <a:srgbClr val="F87171"/>
                </a:solidFill>
                <a:latin typeface="Calibri" pitchFamily="34" charset="0"/>
                <a:ea typeface="Calibri" pitchFamily="34" charset="-122"/>
                <a:cs typeface="Calibri" pitchFamily="34" charset="-120"/>
              </a:rPr>
              <a:t>● Kullanıcı kayıtlı değil</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070E1B"/>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Veritabanı &amp; Kullanıcı Arayüzü</a:t>
            </a:r>
            <a:endParaRPr lang="en-US" sz="3200" dirty="0"/>
          </a:p>
        </p:txBody>
      </p:sp>
      <p:sp>
        <p:nvSpPr>
          <p:cNvPr id="3" name="Text 1"/>
          <p:cNvSpPr/>
          <p:nvPr/>
        </p:nvSpPr>
        <p:spPr>
          <a:xfrm>
            <a:off x="457200" y="749808"/>
            <a:ext cx="8229600" cy="292608"/>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veritabani.py + arayuz/ana_pencere.py — Veri katmanı ve PyQt5 arayüzü</a:t>
            </a:r>
            <a:endParaRPr lang="en-US" sz="1300" dirty="0"/>
          </a:p>
        </p:txBody>
      </p:sp>
      <p:sp>
        <p:nvSpPr>
          <p:cNvPr id="4" name="Shape 2"/>
          <p:cNvSpPr/>
          <p:nvPr/>
        </p:nvSpPr>
        <p:spPr>
          <a:xfrm>
            <a:off x="365760" y="1078992"/>
            <a:ext cx="4937760" cy="3931920"/>
          </a:xfrm>
          <a:prstGeom prst="rect">
            <a:avLst/>
          </a:prstGeom>
          <a:solidFill>
            <a:srgbClr val="040912"/>
          </a:solidFill>
          <a:ln w="19050">
            <a:solidFill>
              <a:srgbClr val="38BDF8"/>
            </a:solidFill>
            <a:prstDash val="solid"/>
          </a:ln>
        </p:spPr>
      </p:sp>
      <p:sp>
        <p:nvSpPr>
          <p:cNvPr id="5" name="Shape 3"/>
          <p:cNvSpPr/>
          <p:nvPr/>
        </p:nvSpPr>
        <p:spPr>
          <a:xfrm>
            <a:off x="365760" y="1078992"/>
            <a:ext cx="4937760" cy="438912"/>
          </a:xfrm>
          <a:prstGeom prst="rect">
            <a:avLst/>
          </a:prstGeom>
          <a:solidFill>
            <a:srgbClr val="0F2040"/>
          </a:solidFill>
          <a:ln w="12700">
            <a:solidFill>
              <a:srgbClr val="1E3A5F"/>
            </a:solidFill>
            <a:prstDash val="solid"/>
          </a:ln>
        </p:spPr>
      </p:sp>
      <p:sp>
        <p:nvSpPr>
          <p:cNvPr id="6" name="Text 4"/>
          <p:cNvSpPr/>
          <p:nvPr/>
        </p:nvSpPr>
        <p:spPr>
          <a:xfrm>
            <a:off x="475488" y="1097280"/>
            <a:ext cx="4718304" cy="402336"/>
          </a:xfrm>
          <a:prstGeom prst="rect">
            <a:avLst/>
          </a:prstGeom>
          <a:noFill/>
          <a:ln/>
        </p:spPr>
        <p:txBody>
          <a:bodyPr wrap="square" rtlCol="0" anchor="ctr"/>
          <a:lstStyle/>
          <a:p>
            <a:pPr indent="0" marL="0">
              <a:buNone/>
            </a:pPr>
            <a:r>
              <a:rPr lang="en-US" sz="1100" b="1" dirty="0">
                <a:solidFill>
                  <a:srgbClr val="38BDF8"/>
                </a:solidFill>
                <a:latin typeface="Consolas" pitchFamily="34" charset="0"/>
                <a:ea typeface="Consolas" pitchFamily="34" charset="-122"/>
                <a:cs typeface="Consolas" pitchFamily="34" charset="-120"/>
              </a:rPr>
              <a:t>kullanicilar.json — Veri Yapısı</a:t>
            </a:r>
            <a:endParaRPr lang="en-US" sz="1100" dirty="0"/>
          </a:p>
        </p:txBody>
      </p:sp>
      <p:sp>
        <p:nvSpPr>
          <p:cNvPr id="7" name="Text 5"/>
          <p:cNvSpPr/>
          <p:nvPr/>
        </p:nvSpPr>
        <p:spPr>
          <a:xfrm>
            <a:off x="502920" y="1600200"/>
            <a:ext cx="4663440" cy="274320"/>
          </a:xfrm>
          <a:prstGeom prst="rect">
            <a:avLst/>
          </a:prstGeom>
          <a:noFill/>
          <a:ln/>
        </p:spPr>
        <p:txBody>
          <a:bodyPr wrap="square" rtlCol="0" anchor="ctr"/>
          <a:lstStyle/>
          <a:p>
            <a:pPr indent="0" marL="0">
              <a:buNone/>
            </a:pPr>
            <a:r>
              <a:rPr lang="en-US" sz="1000" dirty="0">
                <a:solidFill>
                  <a:srgbClr val="1E3A5F"/>
                </a:solidFill>
                <a:latin typeface="Consolas" pitchFamily="34" charset="0"/>
                <a:ea typeface="Consolas" pitchFamily="34" charset="-122"/>
                <a:cs typeface="Consolas" pitchFamily="34" charset="-120"/>
              </a:rPr>
              <a:t>{</a:t>
            </a:r>
            <a:endParaRPr lang="en-US" sz="1000" dirty="0"/>
          </a:p>
        </p:txBody>
      </p:sp>
      <p:sp>
        <p:nvSpPr>
          <p:cNvPr id="8" name="Text 6"/>
          <p:cNvSpPr/>
          <p:nvPr/>
        </p:nvSpPr>
        <p:spPr>
          <a:xfrm>
            <a:off x="502920" y="1901952"/>
            <a:ext cx="4663440" cy="274320"/>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  "ahmet_yilmaz": {</a:t>
            </a:r>
            <a:endParaRPr lang="en-US" sz="1000" dirty="0"/>
          </a:p>
        </p:txBody>
      </p:sp>
      <p:sp>
        <p:nvSpPr>
          <p:cNvPr id="9" name="Text 7"/>
          <p:cNvSpPr/>
          <p:nvPr/>
        </p:nvSpPr>
        <p:spPr>
          <a:xfrm>
            <a:off x="502920" y="2203704"/>
            <a:ext cx="4663440" cy="274320"/>
          </a:xfrm>
          <a:prstGeom prst="rect">
            <a:avLst/>
          </a:prstGeom>
          <a:noFill/>
          <a:ln/>
        </p:spPr>
        <p:txBody>
          <a:bodyPr wrap="square" rtlCol="0" anchor="ctr"/>
          <a:lstStyle/>
          <a:p>
            <a:pPr indent="0" marL="0">
              <a:buNone/>
            </a:pPr>
            <a:r>
              <a:rPr lang="en-US" sz="1000" dirty="0">
                <a:solidFill>
                  <a:srgbClr val="818CF8"/>
                </a:solidFill>
                <a:latin typeface="Consolas" pitchFamily="34" charset="0"/>
                <a:ea typeface="Consolas" pitchFamily="34" charset="-122"/>
                <a:cs typeface="Consolas" pitchFamily="34" charset="-120"/>
              </a:rPr>
              <a:t>    "sag_iris_profili": "AAAB...",</a:t>
            </a:r>
            <a:endParaRPr lang="en-US" sz="1000" dirty="0"/>
          </a:p>
        </p:txBody>
      </p:sp>
      <p:sp>
        <p:nvSpPr>
          <p:cNvPr id="10" name="Text 8"/>
          <p:cNvSpPr/>
          <p:nvPr/>
        </p:nvSpPr>
        <p:spPr>
          <a:xfrm>
            <a:off x="502920" y="2505456"/>
            <a:ext cx="4663440" cy="274320"/>
          </a:xfrm>
          <a:prstGeom prst="rect">
            <a:avLst/>
          </a:prstGeom>
          <a:noFill/>
          <a:ln/>
        </p:spPr>
        <p:txBody>
          <a:bodyPr wrap="square" rtlCol="0" anchor="ctr"/>
          <a:lstStyle/>
          <a:p>
            <a:pPr indent="0" marL="0">
              <a:buNone/>
            </a:pPr>
            <a:r>
              <a:rPr lang="en-US" sz="1000" dirty="0">
                <a:solidFill>
                  <a:srgbClr val="818CF8"/>
                </a:solidFill>
                <a:latin typeface="Consolas" pitchFamily="34" charset="0"/>
                <a:ea typeface="Consolas" pitchFamily="34" charset="-122"/>
                <a:cs typeface="Consolas" pitchFamily="34" charset="-120"/>
              </a:rPr>
              <a:t>    "sol_iris_profili": "AAAC...",</a:t>
            </a:r>
            <a:endParaRPr lang="en-US" sz="1000" dirty="0"/>
          </a:p>
        </p:txBody>
      </p:sp>
      <p:sp>
        <p:nvSpPr>
          <p:cNvPr id="11" name="Text 9"/>
          <p:cNvSpPr/>
          <p:nvPr/>
        </p:nvSpPr>
        <p:spPr>
          <a:xfrm>
            <a:off x="502920" y="2807208"/>
            <a:ext cx="4663440" cy="274320"/>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    "sag_gorsel": "/path/sag.jpg",</a:t>
            </a:r>
            <a:endParaRPr lang="en-US" sz="1000" dirty="0"/>
          </a:p>
        </p:txBody>
      </p:sp>
      <p:sp>
        <p:nvSpPr>
          <p:cNvPr id="12" name="Text 10"/>
          <p:cNvSpPr/>
          <p:nvPr/>
        </p:nvSpPr>
        <p:spPr>
          <a:xfrm>
            <a:off x="502920" y="3108960"/>
            <a:ext cx="4663440" cy="274320"/>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    "sol_gorsel": "/path/sol.jpg"</a:t>
            </a:r>
            <a:endParaRPr lang="en-US" sz="1000" dirty="0"/>
          </a:p>
        </p:txBody>
      </p:sp>
      <p:sp>
        <p:nvSpPr>
          <p:cNvPr id="13" name="Text 11"/>
          <p:cNvSpPr/>
          <p:nvPr/>
        </p:nvSpPr>
        <p:spPr>
          <a:xfrm>
            <a:off x="502920" y="3410712"/>
            <a:ext cx="4663440" cy="274320"/>
          </a:xfrm>
          <a:prstGeom prst="rect">
            <a:avLst/>
          </a:prstGeom>
          <a:noFill/>
          <a:ln/>
        </p:spPr>
        <p:txBody>
          <a:bodyPr wrap="square" rtlCol="0" anchor="ctr"/>
          <a:lstStyle/>
          <a:p>
            <a:pPr indent="0" marL="0">
              <a:buNone/>
            </a:pPr>
            <a:r>
              <a:rPr lang="en-US" sz="1000" dirty="0">
                <a:solidFill>
                  <a:srgbClr val="64748B"/>
                </a:solidFill>
                <a:latin typeface="Consolas" pitchFamily="34" charset="0"/>
                <a:ea typeface="Consolas" pitchFamily="34" charset="-122"/>
                <a:cs typeface="Consolas" pitchFamily="34" charset="-120"/>
              </a:rPr>
              <a:t>  }</a:t>
            </a:r>
            <a:endParaRPr lang="en-US" sz="1000" dirty="0"/>
          </a:p>
        </p:txBody>
      </p:sp>
      <p:sp>
        <p:nvSpPr>
          <p:cNvPr id="14" name="Text 12"/>
          <p:cNvSpPr/>
          <p:nvPr/>
        </p:nvSpPr>
        <p:spPr>
          <a:xfrm>
            <a:off x="502920" y="3712464"/>
            <a:ext cx="4663440" cy="274320"/>
          </a:xfrm>
          <a:prstGeom prst="rect">
            <a:avLst/>
          </a:prstGeom>
          <a:noFill/>
          <a:ln/>
        </p:spPr>
        <p:txBody>
          <a:bodyPr wrap="square" rtlCol="0" anchor="ctr"/>
          <a:lstStyle/>
          <a:p>
            <a:pPr indent="0" marL="0">
              <a:buNone/>
            </a:pPr>
            <a:r>
              <a:rPr lang="en-US" sz="1000" dirty="0">
                <a:solidFill>
                  <a:srgbClr val="1E3A5F"/>
                </a:solidFill>
                <a:latin typeface="Consolas" pitchFamily="34" charset="0"/>
                <a:ea typeface="Consolas" pitchFamily="34" charset="-122"/>
                <a:cs typeface="Consolas" pitchFamily="34" charset="-120"/>
              </a:rPr>
              <a:t>}</a:t>
            </a:r>
            <a:endParaRPr lang="en-US" sz="1000" dirty="0"/>
          </a:p>
        </p:txBody>
      </p:sp>
      <p:sp>
        <p:nvSpPr>
          <p:cNvPr id="15" name="Shape 13"/>
          <p:cNvSpPr/>
          <p:nvPr/>
        </p:nvSpPr>
        <p:spPr>
          <a:xfrm>
            <a:off x="365760" y="4041648"/>
            <a:ext cx="4937760" cy="804672"/>
          </a:xfrm>
          <a:prstGeom prst="rect">
            <a:avLst/>
          </a:prstGeom>
          <a:solidFill>
            <a:srgbClr val="0C1829"/>
          </a:solidFill>
          <a:ln w="12700">
            <a:solidFill>
              <a:srgbClr val="1E3A5F"/>
            </a:solidFill>
            <a:prstDash val="solid"/>
          </a:ln>
        </p:spPr>
      </p:sp>
      <p:sp>
        <p:nvSpPr>
          <p:cNvPr id="16" name="Text 14"/>
          <p:cNvSpPr/>
          <p:nvPr/>
        </p:nvSpPr>
        <p:spPr>
          <a:xfrm>
            <a:off x="475488" y="4087368"/>
            <a:ext cx="4736592" cy="713232"/>
          </a:xfrm>
          <a:prstGeom prst="rect">
            <a:avLst/>
          </a:prstGeom>
          <a:noFill/>
          <a:ln/>
        </p:spPr>
        <p:txBody>
          <a:bodyPr wrap="square" rtlCol="0" anchor="ctr"/>
          <a:lstStyle/>
          <a:p>
            <a:pPr indent="0" marL="0">
              <a:buNone/>
            </a:pPr>
            <a:r>
              <a:rPr lang="en-US" sz="1000" dirty="0">
                <a:solidFill>
                  <a:srgbClr val="64748B"/>
                </a:solidFill>
                <a:latin typeface="Calibri" pitchFamily="34" charset="0"/>
                <a:ea typeface="Calibri" pitchFamily="34" charset="-122"/>
                <a:cs typeface="Calibri" pitchFamily="34" charset="-120"/>
              </a:rPr>
              <a:t>Neden JSON?</a:t>
            </a:r>
            <a:endParaRPr lang="en-US" sz="1000" dirty="0"/>
          </a:p>
          <a:p>
            <a:pPr indent="0" marL="0">
              <a:buNone/>
            </a:pPr>
            <a:r>
              <a:rPr lang="en-US" sz="1000" dirty="0">
                <a:solidFill>
                  <a:srgbClr val="64748B"/>
                </a:solidFill>
                <a:latin typeface="Calibri" pitchFamily="34" charset="0"/>
                <a:ea typeface="Calibri" pitchFamily="34" charset="-122"/>
                <a:cs typeface="Calibri" pitchFamily="34" charset="-120"/>
              </a:rPr>
              <a:t>SQLite/PostgreSQL kurulum ister. JSON dosyası taşınabilir, okunabilir, ek bağımlılık yok. Bu proje ölçeği için fazlasıyla yeterli.</a:t>
            </a:r>
            <a:endParaRPr lang="en-US" sz="1000" dirty="0"/>
          </a:p>
        </p:txBody>
      </p:sp>
      <p:sp>
        <p:nvSpPr>
          <p:cNvPr id="17" name="Shape 15"/>
          <p:cNvSpPr/>
          <p:nvPr/>
        </p:nvSpPr>
        <p:spPr>
          <a:xfrm>
            <a:off x="5532120" y="1078992"/>
            <a:ext cx="3337560" cy="1828800"/>
          </a:xfrm>
          <a:prstGeom prst="rect">
            <a:avLst/>
          </a:prstGeom>
          <a:solidFill>
            <a:srgbClr val="0C1829"/>
          </a:solidFill>
          <a:ln w="19050">
            <a:solidFill>
              <a:srgbClr val="818CF8"/>
            </a:solidFill>
            <a:prstDash val="solid"/>
          </a:ln>
        </p:spPr>
      </p:sp>
      <p:sp>
        <p:nvSpPr>
          <p:cNvPr id="18" name="Shape 16"/>
          <p:cNvSpPr/>
          <p:nvPr/>
        </p:nvSpPr>
        <p:spPr>
          <a:xfrm>
            <a:off x="5532120" y="1078992"/>
            <a:ext cx="3337560" cy="438912"/>
          </a:xfrm>
          <a:prstGeom prst="rect">
            <a:avLst/>
          </a:prstGeom>
          <a:solidFill>
            <a:srgbClr val="818CF8"/>
          </a:solidFill>
          <a:ln w="12700">
            <a:solidFill>
              <a:srgbClr val="818CF8"/>
            </a:solidFill>
            <a:prstDash val="solid"/>
          </a:ln>
        </p:spPr>
      </p:sp>
      <p:sp>
        <p:nvSpPr>
          <p:cNvPr id="19" name="Text 17"/>
          <p:cNvSpPr/>
          <p:nvPr/>
        </p:nvSpPr>
        <p:spPr>
          <a:xfrm>
            <a:off x="5641848" y="1097280"/>
            <a:ext cx="3118104" cy="402336"/>
          </a:xfrm>
          <a:prstGeom prst="rect">
            <a:avLst/>
          </a:prstGeom>
          <a:noFill/>
          <a:ln/>
        </p:spPr>
        <p:txBody>
          <a:bodyPr wrap="square" rtlCol="0" anchor="ctr"/>
          <a:lstStyle/>
          <a:p>
            <a:pPr indent="0" marL="0">
              <a:buNone/>
            </a:pPr>
            <a:r>
              <a:rPr lang="en-US" sz="1200" b="1" dirty="0">
                <a:solidFill>
                  <a:srgbClr val="030810"/>
                </a:solidFill>
                <a:latin typeface="Calibri" pitchFamily="34" charset="0"/>
                <a:ea typeface="Calibri" pitchFamily="34" charset="-122"/>
                <a:cs typeface="Calibri" pitchFamily="34" charset="-120"/>
              </a:rPr>
              <a:t>Arayüz (PyQt5)</a:t>
            </a:r>
            <a:endParaRPr lang="en-US" sz="1200" dirty="0"/>
          </a:p>
        </p:txBody>
      </p:sp>
      <p:sp>
        <p:nvSpPr>
          <p:cNvPr id="20" name="Text 18"/>
          <p:cNvSpPr/>
          <p:nvPr/>
        </p:nvSpPr>
        <p:spPr>
          <a:xfrm>
            <a:off x="5641848" y="1591056"/>
            <a:ext cx="3118104" cy="274320"/>
          </a:xfrm>
          <a:prstGeom prst="rect">
            <a:avLst/>
          </a:prstGeom>
          <a:noFill/>
          <a:ln/>
        </p:spPr>
        <p:txBody>
          <a:bodyPr wrap="square" rtlCol="0" anchor="ctr"/>
          <a:lstStyle/>
          <a:p>
            <a:pPr indent="0" marL="0">
              <a:buNone/>
            </a:pPr>
            <a:r>
              <a:rPr lang="en-US" sz="1000" dirty="0">
                <a:solidFill>
                  <a:srgbClr val="F1F5F9"/>
                </a:solidFill>
                <a:latin typeface="Calibri" pitchFamily="34" charset="0"/>
                <a:ea typeface="Calibri" pitchFamily="34" charset="-122"/>
                <a:cs typeface="Calibri" pitchFamily="34" charset="-120"/>
              </a:rPr>
              <a:t>· QStackedWidget — çok sayfalı yapı</a:t>
            </a:r>
            <a:endParaRPr lang="en-US" sz="1000" dirty="0"/>
          </a:p>
        </p:txBody>
      </p:sp>
      <p:sp>
        <p:nvSpPr>
          <p:cNvPr id="21" name="Text 19"/>
          <p:cNvSpPr/>
          <p:nvPr/>
        </p:nvSpPr>
        <p:spPr>
          <a:xfrm>
            <a:off x="5641848" y="1892808"/>
            <a:ext cx="3118104" cy="274320"/>
          </a:xfrm>
          <a:prstGeom prst="rect">
            <a:avLst/>
          </a:prstGeom>
          <a:noFill/>
          <a:ln/>
        </p:spPr>
        <p:txBody>
          <a:bodyPr wrap="square" rtlCol="0" anchor="ctr"/>
          <a:lstStyle/>
          <a:p>
            <a:pPr indent="0" marL="0">
              <a:buNone/>
            </a:pPr>
            <a:r>
              <a:rPr lang="en-US" sz="1000" dirty="0">
                <a:solidFill>
                  <a:srgbClr val="F1F5F9"/>
                </a:solidFill>
                <a:latin typeface="Calibri" pitchFamily="34" charset="0"/>
                <a:ea typeface="Calibri" pitchFamily="34" charset="-122"/>
                <a:cs typeface="Calibri" pitchFamily="34" charset="-120"/>
              </a:rPr>
              <a:t>· Kayıt + Doğrulama modları</a:t>
            </a:r>
            <a:endParaRPr lang="en-US" sz="1000" dirty="0"/>
          </a:p>
        </p:txBody>
      </p:sp>
      <p:sp>
        <p:nvSpPr>
          <p:cNvPr id="22" name="Text 20"/>
          <p:cNvSpPr/>
          <p:nvPr/>
        </p:nvSpPr>
        <p:spPr>
          <a:xfrm>
            <a:off x="5641848" y="2194560"/>
            <a:ext cx="3118104" cy="274320"/>
          </a:xfrm>
          <a:prstGeom prst="rect">
            <a:avLst/>
          </a:prstGeom>
          <a:noFill/>
          <a:ln/>
        </p:spPr>
        <p:txBody>
          <a:bodyPr wrap="square" rtlCol="0" anchor="ctr"/>
          <a:lstStyle/>
          <a:p>
            <a:pPr indent="0" marL="0">
              <a:buNone/>
            </a:pPr>
            <a:r>
              <a:rPr lang="en-US" sz="1000" dirty="0">
                <a:solidFill>
                  <a:srgbClr val="F1F5F9"/>
                </a:solidFill>
                <a:latin typeface="Calibri" pitchFamily="34" charset="0"/>
                <a:ea typeface="Calibri" pitchFamily="34" charset="-122"/>
                <a:cs typeface="Calibri" pitchFamily="34" charset="-120"/>
              </a:rPr>
              <a:t>· QStyleSheet dark tema</a:t>
            </a:r>
            <a:endParaRPr lang="en-US" sz="1000" dirty="0"/>
          </a:p>
        </p:txBody>
      </p:sp>
      <p:sp>
        <p:nvSpPr>
          <p:cNvPr id="23" name="Text 21"/>
          <p:cNvSpPr/>
          <p:nvPr/>
        </p:nvSpPr>
        <p:spPr>
          <a:xfrm>
            <a:off x="5641848" y="2496312"/>
            <a:ext cx="3118104" cy="274320"/>
          </a:xfrm>
          <a:prstGeom prst="rect">
            <a:avLst/>
          </a:prstGeom>
          <a:noFill/>
          <a:ln/>
        </p:spPr>
        <p:txBody>
          <a:bodyPr wrap="square" rtlCol="0" anchor="ctr"/>
          <a:lstStyle/>
          <a:p>
            <a:pPr indent="0" marL="0">
              <a:buNone/>
            </a:pPr>
            <a:r>
              <a:rPr lang="en-US" sz="1000" dirty="0">
                <a:solidFill>
                  <a:srgbClr val="F1F5F9"/>
                </a:solidFill>
                <a:latin typeface="Calibri" pitchFamily="34" charset="0"/>
                <a:ea typeface="Calibri" pitchFamily="34" charset="-122"/>
                <a:cs typeface="Calibri" pitchFamily="34" charset="-120"/>
              </a:rPr>
              <a:t>· Canlı log · Metrik kartları</a:t>
            </a:r>
            <a:endParaRPr lang="en-US" sz="1000" dirty="0"/>
          </a:p>
        </p:txBody>
      </p:sp>
      <p:sp>
        <p:nvSpPr>
          <p:cNvPr id="24" name="Text 22"/>
          <p:cNvSpPr/>
          <p:nvPr/>
        </p:nvSpPr>
        <p:spPr>
          <a:xfrm>
            <a:off x="5641848" y="2798064"/>
            <a:ext cx="3118104" cy="274320"/>
          </a:xfrm>
          <a:prstGeom prst="rect">
            <a:avLst/>
          </a:prstGeom>
          <a:noFill/>
          <a:ln/>
        </p:spPr>
        <p:txBody>
          <a:bodyPr wrap="square" rtlCol="0" anchor="ctr"/>
          <a:lstStyle/>
          <a:p>
            <a:pPr indent="0" marL="0">
              <a:buNone/>
            </a:pPr>
            <a:r>
              <a:rPr lang="en-US" sz="1000" dirty="0">
                <a:solidFill>
                  <a:srgbClr val="F1F5F9"/>
                </a:solidFill>
                <a:latin typeface="Calibri" pitchFamily="34" charset="0"/>
                <a:ea typeface="Calibri" pitchFamily="34" charset="-122"/>
                <a:cs typeface="Calibri" pitchFamily="34" charset="-120"/>
              </a:rPr>
              <a:t>· Skor &amp; karar ekranı</a:t>
            </a:r>
            <a:endParaRPr lang="en-US" sz="1000" dirty="0"/>
          </a:p>
        </p:txBody>
      </p:sp>
      <p:sp>
        <p:nvSpPr>
          <p:cNvPr id="25" name="Shape 23"/>
          <p:cNvSpPr/>
          <p:nvPr/>
        </p:nvSpPr>
        <p:spPr>
          <a:xfrm>
            <a:off x="5532120" y="2999232"/>
            <a:ext cx="3337560" cy="1965960"/>
          </a:xfrm>
          <a:prstGeom prst="rect">
            <a:avLst/>
          </a:prstGeom>
          <a:solidFill>
            <a:srgbClr val="0C1829"/>
          </a:solidFill>
          <a:ln w="19050">
            <a:solidFill>
              <a:srgbClr val="34D399"/>
            </a:solidFill>
            <a:prstDash val="solid"/>
          </a:ln>
        </p:spPr>
      </p:sp>
      <p:sp>
        <p:nvSpPr>
          <p:cNvPr id="26" name="Shape 24"/>
          <p:cNvSpPr/>
          <p:nvPr/>
        </p:nvSpPr>
        <p:spPr>
          <a:xfrm>
            <a:off x="5532120" y="2999232"/>
            <a:ext cx="3337560" cy="438912"/>
          </a:xfrm>
          <a:prstGeom prst="rect">
            <a:avLst/>
          </a:prstGeom>
          <a:solidFill>
            <a:srgbClr val="34D399"/>
          </a:solidFill>
          <a:ln w="12700">
            <a:solidFill>
              <a:srgbClr val="34D399"/>
            </a:solidFill>
            <a:prstDash val="solid"/>
          </a:ln>
        </p:spPr>
      </p:sp>
      <p:sp>
        <p:nvSpPr>
          <p:cNvPr id="27" name="Text 25"/>
          <p:cNvSpPr/>
          <p:nvPr/>
        </p:nvSpPr>
        <p:spPr>
          <a:xfrm>
            <a:off x="5641848" y="3017520"/>
            <a:ext cx="3118104" cy="402336"/>
          </a:xfrm>
          <a:prstGeom prst="rect">
            <a:avLst/>
          </a:prstGeom>
          <a:noFill/>
          <a:ln/>
        </p:spPr>
        <p:txBody>
          <a:bodyPr wrap="square" rtlCol="0" anchor="ctr"/>
          <a:lstStyle/>
          <a:p>
            <a:pPr indent="0" marL="0">
              <a:buNone/>
            </a:pPr>
            <a:r>
              <a:rPr lang="en-US" sz="1200" b="1" dirty="0">
                <a:solidFill>
                  <a:srgbClr val="030810"/>
                </a:solidFill>
                <a:latin typeface="Calibri" pitchFamily="34" charset="0"/>
                <a:ea typeface="Calibri" pitchFamily="34" charset="-122"/>
                <a:cs typeface="Calibri" pitchFamily="34" charset="-120"/>
              </a:rPr>
              <a:t>VeriTabani Metodları</a:t>
            </a:r>
            <a:endParaRPr lang="en-US" sz="1200" dirty="0"/>
          </a:p>
        </p:txBody>
      </p:sp>
      <p:sp>
        <p:nvSpPr>
          <p:cNvPr id="28" name="Shape 26"/>
          <p:cNvSpPr/>
          <p:nvPr/>
        </p:nvSpPr>
        <p:spPr>
          <a:xfrm>
            <a:off x="5623560" y="3511296"/>
            <a:ext cx="3154680" cy="310896"/>
          </a:xfrm>
          <a:prstGeom prst="rect">
            <a:avLst/>
          </a:prstGeom>
          <a:solidFill>
            <a:srgbClr val="0F2040"/>
          </a:solidFill>
          <a:ln w="6350">
            <a:solidFill>
              <a:srgbClr val="1E3A5F"/>
            </a:solidFill>
            <a:prstDash val="solid"/>
          </a:ln>
        </p:spPr>
      </p:sp>
      <p:sp>
        <p:nvSpPr>
          <p:cNvPr id="29" name="Text 27"/>
          <p:cNvSpPr/>
          <p:nvPr/>
        </p:nvSpPr>
        <p:spPr>
          <a:xfrm>
            <a:off x="5669280" y="3520440"/>
            <a:ext cx="1463040" cy="274320"/>
          </a:xfrm>
          <a:prstGeom prst="rect">
            <a:avLst/>
          </a:prstGeom>
          <a:noFill/>
          <a:ln/>
        </p:spPr>
        <p:txBody>
          <a:bodyPr wrap="square" rtlCol="0" anchor="ctr"/>
          <a:lstStyle/>
          <a:p>
            <a:pPr indent="0" marL="0">
              <a:buNone/>
            </a:pPr>
            <a:r>
              <a:rPr lang="en-US" sz="850" dirty="0">
                <a:solidFill>
                  <a:srgbClr val="34D399"/>
                </a:solidFill>
                <a:latin typeface="Consolas" pitchFamily="34" charset="0"/>
                <a:ea typeface="Consolas" pitchFamily="34" charset="-122"/>
                <a:cs typeface="Consolas" pitchFamily="34" charset="-120"/>
              </a:rPr>
              <a:t>kullanici_kaydet()</a:t>
            </a:r>
            <a:endParaRPr lang="en-US" sz="850" dirty="0"/>
          </a:p>
        </p:txBody>
      </p:sp>
      <p:sp>
        <p:nvSpPr>
          <p:cNvPr id="30" name="Text 28"/>
          <p:cNvSpPr/>
          <p:nvPr/>
        </p:nvSpPr>
        <p:spPr>
          <a:xfrm>
            <a:off x="7150608" y="3520440"/>
            <a:ext cx="1572768"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Profil → base64 → JSON</a:t>
            </a:r>
            <a:endParaRPr lang="en-US" sz="900" dirty="0"/>
          </a:p>
        </p:txBody>
      </p:sp>
      <p:sp>
        <p:nvSpPr>
          <p:cNvPr id="31" name="Shape 29"/>
          <p:cNvSpPr/>
          <p:nvPr/>
        </p:nvSpPr>
        <p:spPr>
          <a:xfrm>
            <a:off x="5623560" y="3858768"/>
            <a:ext cx="3154680" cy="310896"/>
          </a:xfrm>
          <a:prstGeom prst="rect">
            <a:avLst/>
          </a:prstGeom>
          <a:solidFill>
            <a:srgbClr val="0F2040"/>
          </a:solidFill>
          <a:ln w="6350">
            <a:solidFill>
              <a:srgbClr val="1E3A5F"/>
            </a:solidFill>
            <a:prstDash val="solid"/>
          </a:ln>
        </p:spPr>
      </p:sp>
      <p:sp>
        <p:nvSpPr>
          <p:cNvPr id="32" name="Text 30"/>
          <p:cNvSpPr/>
          <p:nvPr/>
        </p:nvSpPr>
        <p:spPr>
          <a:xfrm>
            <a:off x="5669280" y="3867912"/>
            <a:ext cx="1463040" cy="274320"/>
          </a:xfrm>
          <a:prstGeom prst="rect">
            <a:avLst/>
          </a:prstGeom>
          <a:noFill/>
          <a:ln/>
        </p:spPr>
        <p:txBody>
          <a:bodyPr wrap="square" rtlCol="0" anchor="ctr"/>
          <a:lstStyle/>
          <a:p>
            <a:pPr indent="0" marL="0">
              <a:buNone/>
            </a:pPr>
            <a:r>
              <a:rPr lang="en-US" sz="850" dirty="0">
                <a:solidFill>
                  <a:srgbClr val="34D399"/>
                </a:solidFill>
                <a:latin typeface="Consolas" pitchFamily="34" charset="0"/>
                <a:ea typeface="Consolas" pitchFamily="34" charset="-122"/>
                <a:cs typeface="Consolas" pitchFamily="34" charset="-120"/>
              </a:rPr>
              <a:t>kullanici_getir()</a:t>
            </a:r>
            <a:endParaRPr lang="en-US" sz="850" dirty="0"/>
          </a:p>
        </p:txBody>
      </p:sp>
      <p:sp>
        <p:nvSpPr>
          <p:cNvPr id="33" name="Text 31"/>
          <p:cNvSpPr/>
          <p:nvPr/>
        </p:nvSpPr>
        <p:spPr>
          <a:xfrm>
            <a:off x="7150608" y="3867912"/>
            <a:ext cx="1572768"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base64 → numpy array</a:t>
            </a:r>
            <a:endParaRPr lang="en-US" sz="900" dirty="0"/>
          </a:p>
        </p:txBody>
      </p:sp>
      <p:sp>
        <p:nvSpPr>
          <p:cNvPr id="34" name="Shape 32"/>
          <p:cNvSpPr/>
          <p:nvPr/>
        </p:nvSpPr>
        <p:spPr>
          <a:xfrm>
            <a:off x="5623560" y="4206240"/>
            <a:ext cx="3154680" cy="310896"/>
          </a:xfrm>
          <a:prstGeom prst="rect">
            <a:avLst/>
          </a:prstGeom>
          <a:solidFill>
            <a:srgbClr val="0F2040"/>
          </a:solidFill>
          <a:ln w="6350">
            <a:solidFill>
              <a:srgbClr val="1E3A5F"/>
            </a:solidFill>
            <a:prstDash val="solid"/>
          </a:ln>
        </p:spPr>
      </p:sp>
      <p:sp>
        <p:nvSpPr>
          <p:cNvPr id="35" name="Text 33"/>
          <p:cNvSpPr/>
          <p:nvPr/>
        </p:nvSpPr>
        <p:spPr>
          <a:xfrm>
            <a:off x="5669280" y="4215384"/>
            <a:ext cx="1463040" cy="274320"/>
          </a:xfrm>
          <a:prstGeom prst="rect">
            <a:avLst/>
          </a:prstGeom>
          <a:noFill/>
          <a:ln/>
        </p:spPr>
        <p:txBody>
          <a:bodyPr wrap="square" rtlCol="0" anchor="ctr"/>
          <a:lstStyle/>
          <a:p>
            <a:pPr indent="0" marL="0">
              <a:buNone/>
            </a:pPr>
            <a:r>
              <a:rPr lang="en-US" sz="850" dirty="0">
                <a:solidFill>
                  <a:srgbClr val="34D399"/>
                </a:solidFill>
                <a:latin typeface="Consolas" pitchFamily="34" charset="0"/>
                <a:ea typeface="Consolas" pitchFamily="34" charset="-122"/>
                <a:cs typeface="Consolas" pitchFamily="34" charset="-120"/>
              </a:rPr>
              <a:t>kullanici_var_mi()</a:t>
            </a:r>
            <a:endParaRPr lang="en-US" sz="850" dirty="0"/>
          </a:p>
        </p:txBody>
      </p:sp>
      <p:sp>
        <p:nvSpPr>
          <p:cNvPr id="36" name="Text 34"/>
          <p:cNvSpPr/>
          <p:nvPr/>
        </p:nvSpPr>
        <p:spPr>
          <a:xfrm>
            <a:off x="7150608" y="4215384"/>
            <a:ext cx="1572768"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Varlık kontrolü</a:t>
            </a:r>
            <a:endParaRPr lang="en-US" sz="900" dirty="0"/>
          </a:p>
        </p:txBody>
      </p:sp>
      <p:sp>
        <p:nvSpPr>
          <p:cNvPr id="37" name="Shape 35"/>
          <p:cNvSpPr/>
          <p:nvPr/>
        </p:nvSpPr>
        <p:spPr>
          <a:xfrm>
            <a:off x="5623560" y="4553712"/>
            <a:ext cx="3154680" cy="310896"/>
          </a:xfrm>
          <a:prstGeom prst="rect">
            <a:avLst/>
          </a:prstGeom>
          <a:solidFill>
            <a:srgbClr val="0F2040"/>
          </a:solidFill>
          <a:ln w="6350">
            <a:solidFill>
              <a:srgbClr val="1E3A5F"/>
            </a:solidFill>
            <a:prstDash val="solid"/>
          </a:ln>
        </p:spPr>
      </p:sp>
      <p:sp>
        <p:nvSpPr>
          <p:cNvPr id="38" name="Text 36"/>
          <p:cNvSpPr/>
          <p:nvPr/>
        </p:nvSpPr>
        <p:spPr>
          <a:xfrm>
            <a:off x="5669280" y="4562856"/>
            <a:ext cx="1463040" cy="274320"/>
          </a:xfrm>
          <a:prstGeom prst="rect">
            <a:avLst/>
          </a:prstGeom>
          <a:noFill/>
          <a:ln/>
        </p:spPr>
        <p:txBody>
          <a:bodyPr wrap="square" rtlCol="0" anchor="ctr"/>
          <a:lstStyle/>
          <a:p>
            <a:pPr indent="0" marL="0">
              <a:buNone/>
            </a:pPr>
            <a:r>
              <a:rPr lang="en-US" sz="850" dirty="0">
                <a:solidFill>
                  <a:srgbClr val="34D399"/>
                </a:solidFill>
                <a:latin typeface="Consolas" pitchFamily="34" charset="0"/>
                <a:ea typeface="Consolas" pitchFamily="34" charset="-122"/>
                <a:cs typeface="Consolas" pitchFamily="34" charset="-120"/>
              </a:rPr>
              <a:t>vektoru_metne_cevir()</a:t>
            </a:r>
            <a:endParaRPr lang="en-US" sz="850" dirty="0"/>
          </a:p>
        </p:txBody>
      </p:sp>
      <p:sp>
        <p:nvSpPr>
          <p:cNvPr id="39" name="Text 37"/>
          <p:cNvSpPr/>
          <p:nvPr/>
        </p:nvSpPr>
        <p:spPr>
          <a:xfrm>
            <a:off x="7150608" y="4562856"/>
            <a:ext cx="1572768"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float32 → base64 string</a:t>
            </a:r>
            <a:endParaRPr lang="en-US" sz="900" dirty="0"/>
          </a:p>
        </p:txBody>
      </p:sp>
      <p:sp>
        <p:nvSpPr>
          <p:cNvPr id="40" name="Shape 38"/>
          <p:cNvSpPr/>
          <p:nvPr/>
        </p:nvSpPr>
        <p:spPr>
          <a:xfrm>
            <a:off x="5623560" y="4901184"/>
            <a:ext cx="3154680" cy="310896"/>
          </a:xfrm>
          <a:prstGeom prst="rect">
            <a:avLst/>
          </a:prstGeom>
          <a:solidFill>
            <a:srgbClr val="0F2040"/>
          </a:solidFill>
          <a:ln w="6350">
            <a:solidFill>
              <a:srgbClr val="1E3A5F"/>
            </a:solidFill>
            <a:prstDash val="solid"/>
          </a:ln>
        </p:spPr>
      </p:sp>
      <p:sp>
        <p:nvSpPr>
          <p:cNvPr id="41" name="Text 39"/>
          <p:cNvSpPr/>
          <p:nvPr/>
        </p:nvSpPr>
        <p:spPr>
          <a:xfrm>
            <a:off x="5669280" y="4910328"/>
            <a:ext cx="1463040" cy="274320"/>
          </a:xfrm>
          <a:prstGeom prst="rect">
            <a:avLst/>
          </a:prstGeom>
          <a:noFill/>
          <a:ln/>
        </p:spPr>
        <p:txBody>
          <a:bodyPr wrap="square" rtlCol="0" anchor="ctr"/>
          <a:lstStyle/>
          <a:p>
            <a:pPr indent="0" marL="0">
              <a:buNone/>
            </a:pPr>
            <a:r>
              <a:rPr lang="en-US" sz="850" dirty="0">
                <a:solidFill>
                  <a:srgbClr val="34D399"/>
                </a:solidFill>
                <a:latin typeface="Consolas" pitchFamily="34" charset="0"/>
                <a:ea typeface="Consolas" pitchFamily="34" charset="-122"/>
                <a:cs typeface="Consolas" pitchFamily="34" charset="-120"/>
              </a:rPr>
              <a:t>metni_vektore_cevir()</a:t>
            </a:r>
            <a:endParaRPr lang="en-US" sz="850" dirty="0"/>
          </a:p>
        </p:txBody>
      </p:sp>
      <p:sp>
        <p:nvSpPr>
          <p:cNvPr id="42" name="Text 40"/>
          <p:cNvSpPr/>
          <p:nvPr/>
        </p:nvSpPr>
        <p:spPr>
          <a:xfrm>
            <a:off x="7150608" y="4910328"/>
            <a:ext cx="1572768" cy="274320"/>
          </a:xfrm>
          <a:prstGeom prst="rect">
            <a:avLst/>
          </a:prstGeom>
          <a:noFill/>
          <a:ln/>
        </p:spPr>
        <p:txBody>
          <a:bodyPr wrap="square" rtlCol="0" anchor="ctr"/>
          <a:lstStyle/>
          <a:p>
            <a:pPr indent="0" marL="0">
              <a:buNone/>
            </a:pPr>
            <a:r>
              <a:rPr lang="en-US" sz="900" dirty="0">
                <a:solidFill>
                  <a:srgbClr val="64748B"/>
                </a:solidFill>
                <a:latin typeface="Calibri" pitchFamily="34" charset="0"/>
                <a:ea typeface="Calibri" pitchFamily="34" charset="-122"/>
                <a:cs typeface="Calibri" pitchFamily="34" charset="-120"/>
              </a:rPr>
              <a:t>base64 → np.frombuffer</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070E1B"/>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Tam Sistem Akışı</a:t>
            </a:r>
            <a:endParaRPr lang="en-US" sz="3200" dirty="0"/>
          </a:p>
        </p:txBody>
      </p:sp>
      <p:sp>
        <p:nvSpPr>
          <p:cNvPr id="3" name="Text 1"/>
          <p:cNvSpPr/>
          <p:nvPr/>
        </p:nvSpPr>
        <p:spPr>
          <a:xfrm>
            <a:off x="457200" y="749808"/>
            <a:ext cx="8229600" cy="292608"/>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Kayıttan karara — her adım kısaca</a:t>
            </a:r>
            <a:endParaRPr lang="en-US" sz="1300" dirty="0"/>
          </a:p>
        </p:txBody>
      </p:sp>
      <p:sp>
        <p:nvSpPr>
          <p:cNvPr id="4" name="Shape 2"/>
          <p:cNvSpPr/>
          <p:nvPr/>
        </p:nvSpPr>
        <p:spPr>
          <a:xfrm>
            <a:off x="320040" y="1051560"/>
            <a:ext cx="3977640" cy="457200"/>
          </a:xfrm>
          <a:prstGeom prst="rect">
            <a:avLst/>
          </a:prstGeom>
          <a:solidFill>
            <a:srgbClr val="818CF8"/>
          </a:solidFill>
          <a:ln w="12700">
            <a:solidFill>
              <a:srgbClr val="818CF8"/>
            </a:solidFill>
            <a:prstDash val="solid"/>
          </a:ln>
        </p:spPr>
      </p:sp>
      <p:sp>
        <p:nvSpPr>
          <p:cNvPr id="5" name="Text 3"/>
          <p:cNvSpPr/>
          <p:nvPr/>
        </p:nvSpPr>
        <p:spPr>
          <a:xfrm>
            <a:off x="320040" y="1051560"/>
            <a:ext cx="3977640" cy="457200"/>
          </a:xfrm>
          <a:prstGeom prst="rect">
            <a:avLst/>
          </a:prstGeom>
          <a:noFill/>
          <a:ln/>
        </p:spPr>
        <p:txBody>
          <a:bodyPr wrap="square" rtlCol="0" anchor="ctr"/>
          <a:lstStyle/>
          <a:p>
            <a:pPr algn="ctr" indent="0" marL="0">
              <a:buNone/>
            </a:pPr>
            <a:r>
              <a:rPr lang="en-US" sz="1400" b="1" dirty="0">
                <a:solidFill>
                  <a:srgbClr val="030810"/>
                </a:solidFill>
                <a:latin typeface="Calibri" pitchFamily="34" charset="0"/>
                <a:ea typeface="Calibri" pitchFamily="34" charset="-122"/>
                <a:cs typeface="Calibri" pitchFamily="34" charset="-120"/>
              </a:rPr>
              <a:t>KAYIT</a:t>
            </a:r>
            <a:endParaRPr lang="en-US" sz="1400" dirty="0"/>
          </a:p>
        </p:txBody>
      </p:sp>
      <p:sp>
        <p:nvSpPr>
          <p:cNvPr id="6" name="Shape 4"/>
          <p:cNvSpPr/>
          <p:nvPr/>
        </p:nvSpPr>
        <p:spPr>
          <a:xfrm>
            <a:off x="320040" y="1600200"/>
            <a:ext cx="3977640" cy="438912"/>
          </a:xfrm>
          <a:prstGeom prst="rect">
            <a:avLst/>
          </a:prstGeom>
          <a:solidFill>
            <a:srgbClr val="0C1829"/>
          </a:solidFill>
          <a:ln w="12700">
            <a:solidFill>
              <a:srgbClr val="818CF8"/>
            </a:solidFill>
            <a:prstDash val="solid"/>
          </a:ln>
        </p:spPr>
      </p:sp>
      <p:sp>
        <p:nvSpPr>
          <p:cNvPr id="7" name="Shape 5"/>
          <p:cNvSpPr/>
          <p:nvPr/>
        </p:nvSpPr>
        <p:spPr>
          <a:xfrm>
            <a:off x="320040" y="1600200"/>
            <a:ext cx="64008" cy="438912"/>
          </a:xfrm>
          <a:prstGeom prst="rect">
            <a:avLst/>
          </a:prstGeom>
          <a:solidFill>
            <a:srgbClr val="818CF8"/>
          </a:solidFill>
          <a:ln w="12700">
            <a:solidFill>
              <a:srgbClr val="818CF8"/>
            </a:solidFill>
            <a:prstDash val="solid"/>
          </a:ln>
        </p:spPr>
      </p:sp>
      <p:sp>
        <p:nvSpPr>
          <p:cNvPr id="8" name="Shape 6"/>
          <p:cNvSpPr/>
          <p:nvPr/>
        </p:nvSpPr>
        <p:spPr>
          <a:xfrm>
            <a:off x="457200" y="1691640"/>
            <a:ext cx="256032" cy="256032"/>
          </a:xfrm>
          <a:prstGeom prst="ellipse">
            <a:avLst/>
          </a:prstGeom>
          <a:solidFill>
            <a:srgbClr val="818CF8"/>
          </a:solidFill>
          <a:ln w="12700">
            <a:solidFill>
              <a:srgbClr val="818CF8"/>
            </a:solidFill>
            <a:prstDash val="solid"/>
          </a:ln>
        </p:spPr>
      </p:sp>
      <p:sp>
        <p:nvSpPr>
          <p:cNvPr id="9" name="Text 7"/>
          <p:cNvSpPr/>
          <p:nvPr/>
        </p:nvSpPr>
        <p:spPr>
          <a:xfrm>
            <a:off x="457200" y="1691640"/>
            <a:ext cx="256032" cy="256032"/>
          </a:xfrm>
          <a:prstGeom prst="rect">
            <a:avLst/>
          </a:prstGeom>
          <a:noFill/>
          <a:ln/>
        </p:spPr>
        <p:txBody>
          <a:bodyPr wrap="square" rtlCol="0" anchor="ctr"/>
          <a:lstStyle/>
          <a:p>
            <a:pPr algn="ctr" indent="0" marL="0">
              <a:buNone/>
            </a:pPr>
            <a:r>
              <a:rPr lang="en-US" sz="800" b="1" dirty="0">
                <a:solidFill>
                  <a:srgbClr val="030810"/>
                </a:solidFill>
                <a:latin typeface="Calibri" pitchFamily="34" charset="0"/>
                <a:ea typeface="Calibri" pitchFamily="34" charset="-122"/>
                <a:cs typeface="Calibri" pitchFamily="34" charset="-120"/>
              </a:rPr>
              <a:t>1</a:t>
            </a:r>
            <a:endParaRPr lang="en-US" sz="800" dirty="0"/>
          </a:p>
        </p:txBody>
      </p:sp>
      <p:sp>
        <p:nvSpPr>
          <p:cNvPr id="10" name="Text 8"/>
          <p:cNvSpPr/>
          <p:nvPr/>
        </p:nvSpPr>
        <p:spPr>
          <a:xfrm>
            <a:off x="804672" y="1600200"/>
            <a:ext cx="3401568" cy="438912"/>
          </a:xfrm>
          <a:prstGeom prst="rect">
            <a:avLst/>
          </a:prstGeom>
          <a:noFill/>
          <a:ln/>
        </p:spPr>
        <p:txBody>
          <a:bodyPr wrap="square" rtlCol="0" anchor="ctr"/>
          <a:lstStyle/>
          <a:p>
            <a:pPr indent="0" marL="0">
              <a:buNone/>
            </a:pPr>
            <a:r>
              <a:rPr lang="en-US" sz="1100" dirty="0">
                <a:solidFill>
                  <a:srgbClr val="F1F5F9"/>
                </a:solidFill>
                <a:latin typeface="Calibri" pitchFamily="34" charset="0"/>
                <a:ea typeface="Calibri" pitchFamily="34" charset="-122"/>
                <a:cs typeface="Calibri" pitchFamily="34" charset="-120"/>
              </a:rPr>
              <a:t>Sağ &amp; Sol Görsel Seç</a:t>
            </a:r>
            <a:endParaRPr lang="en-US" sz="1100" dirty="0"/>
          </a:p>
        </p:txBody>
      </p:sp>
      <p:sp>
        <p:nvSpPr>
          <p:cNvPr id="11" name="Shape 9"/>
          <p:cNvSpPr/>
          <p:nvPr/>
        </p:nvSpPr>
        <p:spPr>
          <a:xfrm>
            <a:off x="2304288" y="2039112"/>
            <a:ext cx="0" cy="73152"/>
          </a:xfrm>
          <a:prstGeom prst="line">
            <a:avLst/>
          </a:prstGeom>
          <a:noFill/>
          <a:ln w="19050">
            <a:solidFill>
              <a:srgbClr val="818CF8"/>
            </a:solidFill>
            <a:prstDash val="solid"/>
          </a:ln>
        </p:spPr>
      </p:sp>
      <p:sp>
        <p:nvSpPr>
          <p:cNvPr id="12" name="Shape 10"/>
          <p:cNvSpPr/>
          <p:nvPr/>
        </p:nvSpPr>
        <p:spPr>
          <a:xfrm>
            <a:off x="320040" y="2112264"/>
            <a:ext cx="3977640" cy="438912"/>
          </a:xfrm>
          <a:prstGeom prst="rect">
            <a:avLst/>
          </a:prstGeom>
          <a:solidFill>
            <a:srgbClr val="0C1829"/>
          </a:solidFill>
          <a:ln w="12700">
            <a:solidFill>
              <a:srgbClr val="818CF8"/>
            </a:solidFill>
            <a:prstDash val="solid"/>
          </a:ln>
        </p:spPr>
      </p:sp>
      <p:sp>
        <p:nvSpPr>
          <p:cNvPr id="13" name="Shape 11"/>
          <p:cNvSpPr/>
          <p:nvPr/>
        </p:nvSpPr>
        <p:spPr>
          <a:xfrm>
            <a:off x="320040" y="2112264"/>
            <a:ext cx="64008" cy="438912"/>
          </a:xfrm>
          <a:prstGeom prst="rect">
            <a:avLst/>
          </a:prstGeom>
          <a:solidFill>
            <a:srgbClr val="818CF8"/>
          </a:solidFill>
          <a:ln w="12700">
            <a:solidFill>
              <a:srgbClr val="818CF8"/>
            </a:solidFill>
            <a:prstDash val="solid"/>
          </a:ln>
        </p:spPr>
      </p:sp>
      <p:sp>
        <p:nvSpPr>
          <p:cNvPr id="14" name="Shape 12"/>
          <p:cNvSpPr/>
          <p:nvPr/>
        </p:nvSpPr>
        <p:spPr>
          <a:xfrm>
            <a:off x="457200" y="2203704"/>
            <a:ext cx="256032" cy="256032"/>
          </a:xfrm>
          <a:prstGeom prst="ellipse">
            <a:avLst/>
          </a:prstGeom>
          <a:solidFill>
            <a:srgbClr val="818CF8"/>
          </a:solidFill>
          <a:ln w="12700">
            <a:solidFill>
              <a:srgbClr val="818CF8"/>
            </a:solidFill>
            <a:prstDash val="solid"/>
          </a:ln>
        </p:spPr>
      </p:sp>
      <p:sp>
        <p:nvSpPr>
          <p:cNvPr id="15" name="Text 13"/>
          <p:cNvSpPr/>
          <p:nvPr/>
        </p:nvSpPr>
        <p:spPr>
          <a:xfrm>
            <a:off x="457200" y="2203704"/>
            <a:ext cx="256032" cy="256032"/>
          </a:xfrm>
          <a:prstGeom prst="rect">
            <a:avLst/>
          </a:prstGeom>
          <a:noFill/>
          <a:ln/>
        </p:spPr>
        <p:txBody>
          <a:bodyPr wrap="square" rtlCol="0" anchor="ctr"/>
          <a:lstStyle/>
          <a:p>
            <a:pPr algn="ctr" indent="0" marL="0">
              <a:buNone/>
            </a:pPr>
            <a:r>
              <a:rPr lang="en-US" sz="800" b="1" dirty="0">
                <a:solidFill>
                  <a:srgbClr val="030810"/>
                </a:solidFill>
                <a:latin typeface="Calibri" pitchFamily="34" charset="0"/>
                <a:ea typeface="Calibri" pitchFamily="34" charset="-122"/>
                <a:cs typeface="Calibri" pitchFamily="34" charset="-120"/>
              </a:rPr>
              <a:t>2</a:t>
            </a:r>
            <a:endParaRPr lang="en-US" sz="800" dirty="0"/>
          </a:p>
        </p:txBody>
      </p:sp>
      <p:sp>
        <p:nvSpPr>
          <p:cNvPr id="16" name="Text 14"/>
          <p:cNvSpPr/>
          <p:nvPr/>
        </p:nvSpPr>
        <p:spPr>
          <a:xfrm>
            <a:off x="804672" y="2112264"/>
            <a:ext cx="3401568" cy="438912"/>
          </a:xfrm>
          <a:prstGeom prst="rect">
            <a:avLst/>
          </a:prstGeom>
          <a:noFill/>
          <a:ln/>
        </p:spPr>
        <p:txBody>
          <a:bodyPr wrap="square" rtlCol="0" anchor="ctr"/>
          <a:lstStyle/>
          <a:p>
            <a:pPr indent="0" marL="0">
              <a:buNone/>
            </a:pPr>
            <a:r>
              <a:rPr lang="en-US" sz="1100" dirty="0">
                <a:solidFill>
                  <a:srgbClr val="F1F5F9"/>
                </a:solidFill>
                <a:latin typeface="Calibri" pitchFamily="34" charset="0"/>
                <a:ea typeface="Calibri" pitchFamily="34" charset="-122"/>
                <a:cs typeface="Calibri" pitchFamily="34" charset="-120"/>
              </a:rPr>
              <a:t>Göz Yönü Doğrula (ML)</a:t>
            </a:r>
            <a:endParaRPr lang="en-US" sz="1100" dirty="0"/>
          </a:p>
        </p:txBody>
      </p:sp>
      <p:sp>
        <p:nvSpPr>
          <p:cNvPr id="17" name="Shape 15"/>
          <p:cNvSpPr/>
          <p:nvPr/>
        </p:nvSpPr>
        <p:spPr>
          <a:xfrm>
            <a:off x="2304288" y="2551176"/>
            <a:ext cx="0" cy="73152"/>
          </a:xfrm>
          <a:prstGeom prst="line">
            <a:avLst/>
          </a:prstGeom>
          <a:noFill/>
          <a:ln w="19050">
            <a:solidFill>
              <a:srgbClr val="818CF8"/>
            </a:solidFill>
            <a:prstDash val="solid"/>
          </a:ln>
        </p:spPr>
      </p:sp>
      <p:sp>
        <p:nvSpPr>
          <p:cNvPr id="18" name="Shape 16"/>
          <p:cNvSpPr/>
          <p:nvPr/>
        </p:nvSpPr>
        <p:spPr>
          <a:xfrm>
            <a:off x="320040" y="2624328"/>
            <a:ext cx="3977640" cy="438912"/>
          </a:xfrm>
          <a:prstGeom prst="rect">
            <a:avLst/>
          </a:prstGeom>
          <a:solidFill>
            <a:srgbClr val="0C1829"/>
          </a:solidFill>
          <a:ln w="12700">
            <a:solidFill>
              <a:srgbClr val="818CF8"/>
            </a:solidFill>
            <a:prstDash val="solid"/>
          </a:ln>
        </p:spPr>
      </p:sp>
      <p:sp>
        <p:nvSpPr>
          <p:cNvPr id="19" name="Shape 17"/>
          <p:cNvSpPr/>
          <p:nvPr/>
        </p:nvSpPr>
        <p:spPr>
          <a:xfrm>
            <a:off x="320040" y="2624328"/>
            <a:ext cx="64008" cy="438912"/>
          </a:xfrm>
          <a:prstGeom prst="rect">
            <a:avLst/>
          </a:prstGeom>
          <a:solidFill>
            <a:srgbClr val="818CF8"/>
          </a:solidFill>
          <a:ln w="12700">
            <a:solidFill>
              <a:srgbClr val="818CF8"/>
            </a:solidFill>
            <a:prstDash val="solid"/>
          </a:ln>
        </p:spPr>
      </p:sp>
      <p:sp>
        <p:nvSpPr>
          <p:cNvPr id="20" name="Shape 18"/>
          <p:cNvSpPr/>
          <p:nvPr/>
        </p:nvSpPr>
        <p:spPr>
          <a:xfrm>
            <a:off x="457200" y="2715768"/>
            <a:ext cx="256032" cy="256032"/>
          </a:xfrm>
          <a:prstGeom prst="ellipse">
            <a:avLst/>
          </a:prstGeom>
          <a:solidFill>
            <a:srgbClr val="818CF8"/>
          </a:solidFill>
          <a:ln w="12700">
            <a:solidFill>
              <a:srgbClr val="818CF8"/>
            </a:solidFill>
            <a:prstDash val="solid"/>
          </a:ln>
        </p:spPr>
      </p:sp>
      <p:sp>
        <p:nvSpPr>
          <p:cNvPr id="21" name="Text 19"/>
          <p:cNvSpPr/>
          <p:nvPr/>
        </p:nvSpPr>
        <p:spPr>
          <a:xfrm>
            <a:off x="457200" y="2715768"/>
            <a:ext cx="256032" cy="256032"/>
          </a:xfrm>
          <a:prstGeom prst="rect">
            <a:avLst/>
          </a:prstGeom>
          <a:noFill/>
          <a:ln/>
        </p:spPr>
        <p:txBody>
          <a:bodyPr wrap="square" rtlCol="0" anchor="ctr"/>
          <a:lstStyle/>
          <a:p>
            <a:pPr algn="ctr" indent="0" marL="0">
              <a:buNone/>
            </a:pPr>
            <a:r>
              <a:rPr lang="en-US" sz="800" b="1" dirty="0">
                <a:solidFill>
                  <a:srgbClr val="030810"/>
                </a:solidFill>
                <a:latin typeface="Calibri" pitchFamily="34" charset="0"/>
                <a:ea typeface="Calibri" pitchFamily="34" charset="-122"/>
                <a:cs typeface="Calibri" pitchFamily="34" charset="-120"/>
              </a:rPr>
              <a:t>3</a:t>
            </a:r>
            <a:endParaRPr lang="en-US" sz="800" dirty="0"/>
          </a:p>
        </p:txBody>
      </p:sp>
      <p:sp>
        <p:nvSpPr>
          <p:cNvPr id="22" name="Text 20"/>
          <p:cNvSpPr/>
          <p:nvPr/>
        </p:nvSpPr>
        <p:spPr>
          <a:xfrm>
            <a:off x="804672" y="2624328"/>
            <a:ext cx="3401568" cy="438912"/>
          </a:xfrm>
          <a:prstGeom prst="rect">
            <a:avLst/>
          </a:prstGeom>
          <a:noFill/>
          <a:ln/>
        </p:spPr>
        <p:txBody>
          <a:bodyPr wrap="square" rtlCol="0" anchor="ctr"/>
          <a:lstStyle/>
          <a:p>
            <a:pPr indent="0" marL="0">
              <a:buNone/>
            </a:pPr>
            <a:r>
              <a:rPr lang="en-US" sz="1100" dirty="0">
                <a:solidFill>
                  <a:srgbClr val="F1F5F9"/>
                </a:solidFill>
                <a:latin typeface="Calibri" pitchFamily="34" charset="0"/>
                <a:ea typeface="Calibri" pitchFamily="34" charset="-122"/>
                <a:cs typeface="Calibri" pitchFamily="34" charset="-120"/>
              </a:rPr>
              <a:t>Ön İşleme (5 adım)</a:t>
            </a:r>
            <a:endParaRPr lang="en-US" sz="1100" dirty="0"/>
          </a:p>
        </p:txBody>
      </p:sp>
      <p:sp>
        <p:nvSpPr>
          <p:cNvPr id="23" name="Shape 21"/>
          <p:cNvSpPr/>
          <p:nvPr/>
        </p:nvSpPr>
        <p:spPr>
          <a:xfrm>
            <a:off x="2304288" y="3063240"/>
            <a:ext cx="0" cy="73152"/>
          </a:xfrm>
          <a:prstGeom prst="line">
            <a:avLst/>
          </a:prstGeom>
          <a:noFill/>
          <a:ln w="19050">
            <a:solidFill>
              <a:srgbClr val="818CF8"/>
            </a:solidFill>
            <a:prstDash val="solid"/>
          </a:ln>
        </p:spPr>
      </p:sp>
      <p:sp>
        <p:nvSpPr>
          <p:cNvPr id="24" name="Shape 22"/>
          <p:cNvSpPr/>
          <p:nvPr/>
        </p:nvSpPr>
        <p:spPr>
          <a:xfrm>
            <a:off x="320040" y="3136392"/>
            <a:ext cx="3977640" cy="438912"/>
          </a:xfrm>
          <a:prstGeom prst="rect">
            <a:avLst/>
          </a:prstGeom>
          <a:solidFill>
            <a:srgbClr val="0C1829"/>
          </a:solidFill>
          <a:ln w="12700">
            <a:solidFill>
              <a:srgbClr val="818CF8"/>
            </a:solidFill>
            <a:prstDash val="solid"/>
          </a:ln>
        </p:spPr>
      </p:sp>
      <p:sp>
        <p:nvSpPr>
          <p:cNvPr id="25" name="Shape 23"/>
          <p:cNvSpPr/>
          <p:nvPr/>
        </p:nvSpPr>
        <p:spPr>
          <a:xfrm>
            <a:off x="320040" y="3136392"/>
            <a:ext cx="64008" cy="438912"/>
          </a:xfrm>
          <a:prstGeom prst="rect">
            <a:avLst/>
          </a:prstGeom>
          <a:solidFill>
            <a:srgbClr val="818CF8"/>
          </a:solidFill>
          <a:ln w="12700">
            <a:solidFill>
              <a:srgbClr val="818CF8"/>
            </a:solidFill>
            <a:prstDash val="solid"/>
          </a:ln>
        </p:spPr>
      </p:sp>
      <p:sp>
        <p:nvSpPr>
          <p:cNvPr id="26" name="Shape 24"/>
          <p:cNvSpPr/>
          <p:nvPr/>
        </p:nvSpPr>
        <p:spPr>
          <a:xfrm>
            <a:off x="457200" y="3227832"/>
            <a:ext cx="256032" cy="256032"/>
          </a:xfrm>
          <a:prstGeom prst="ellipse">
            <a:avLst/>
          </a:prstGeom>
          <a:solidFill>
            <a:srgbClr val="818CF8"/>
          </a:solidFill>
          <a:ln w="12700">
            <a:solidFill>
              <a:srgbClr val="818CF8"/>
            </a:solidFill>
            <a:prstDash val="solid"/>
          </a:ln>
        </p:spPr>
      </p:sp>
      <p:sp>
        <p:nvSpPr>
          <p:cNvPr id="27" name="Text 25"/>
          <p:cNvSpPr/>
          <p:nvPr/>
        </p:nvSpPr>
        <p:spPr>
          <a:xfrm>
            <a:off x="457200" y="3227832"/>
            <a:ext cx="256032" cy="256032"/>
          </a:xfrm>
          <a:prstGeom prst="rect">
            <a:avLst/>
          </a:prstGeom>
          <a:noFill/>
          <a:ln/>
        </p:spPr>
        <p:txBody>
          <a:bodyPr wrap="square" rtlCol="0" anchor="ctr"/>
          <a:lstStyle/>
          <a:p>
            <a:pPr algn="ctr" indent="0" marL="0">
              <a:buNone/>
            </a:pPr>
            <a:r>
              <a:rPr lang="en-US" sz="800" b="1" dirty="0">
                <a:solidFill>
                  <a:srgbClr val="030810"/>
                </a:solidFill>
                <a:latin typeface="Calibri" pitchFamily="34" charset="0"/>
                <a:ea typeface="Calibri" pitchFamily="34" charset="-122"/>
                <a:cs typeface="Calibri" pitchFamily="34" charset="-120"/>
              </a:rPr>
              <a:t>4</a:t>
            </a:r>
            <a:endParaRPr lang="en-US" sz="800" dirty="0"/>
          </a:p>
        </p:txBody>
      </p:sp>
      <p:sp>
        <p:nvSpPr>
          <p:cNvPr id="28" name="Text 26"/>
          <p:cNvSpPr/>
          <p:nvPr/>
        </p:nvSpPr>
        <p:spPr>
          <a:xfrm>
            <a:off x="804672" y="3136392"/>
            <a:ext cx="3401568" cy="438912"/>
          </a:xfrm>
          <a:prstGeom prst="rect">
            <a:avLst/>
          </a:prstGeom>
          <a:noFill/>
          <a:ln/>
        </p:spPr>
        <p:txBody>
          <a:bodyPr wrap="square" rtlCol="0" anchor="ctr"/>
          <a:lstStyle/>
          <a:p>
            <a:pPr indent="0" marL="0">
              <a:buNone/>
            </a:pPr>
            <a:r>
              <a:rPr lang="en-US" sz="1100" dirty="0">
                <a:solidFill>
                  <a:srgbClr val="F1F5F9"/>
                </a:solidFill>
                <a:latin typeface="Calibri" pitchFamily="34" charset="0"/>
                <a:ea typeface="Calibri" pitchFamily="34" charset="-122"/>
                <a:cs typeface="Calibri" pitchFamily="34" charset="-120"/>
              </a:rPr>
              <a:t>Pupil + İris Segment.</a:t>
            </a:r>
            <a:endParaRPr lang="en-US" sz="1100" dirty="0"/>
          </a:p>
        </p:txBody>
      </p:sp>
      <p:sp>
        <p:nvSpPr>
          <p:cNvPr id="29" name="Shape 27"/>
          <p:cNvSpPr/>
          <p:nvPr/>
        </p:nvSpPr>
        <p:spPr>
          <a:xfrm>
            <a:off x="2304288" y="3575304"/>
            <a:ext cx="0" cy="73152"/>
          </a:xfrm>
          <a:prstGeom prst="line">
            <a:avLst/>
          </a:prstGeom>
          <a:noFill/>
          <a:ln w="19050">
            <a:solidFill>
              <a:srgbClr val="818CF8"/>
            </a:solidFill>
            <a:prstDash val="solid"/>
          </a:ln>
        </p:spPr>
      </p:sp>
      <p:sp>
        <p:nvSpPr>
          <p:cNvPr id="30" name="Shape 28"/>
          <p:cNvSpPr/>
          <p:nvPr/>
        </p:nvSpPr>
        <p:spPr>
          <a:xfrm>
            <a:off x="320040" y="3648456"/>
            <a:ext cx="3977640" cy="438912"/>
          </a:xfrm>
          <a:prstGeom prst="rect">
            <a:avLst/>
          </a:prstGeom>
          <a:solidFill>
            <a:srgbClr val="0C1829"/>
          </a:solidFill>
          <a:ln w="12700">
            <a:solidFill>
              <a:srgbClr val="818CF8"/>
            </a:solidFill>
            <a:prstDash val="solid"/>
          </a:ln>
        </p:spPr>
      </p:sp>
      <p:sp>
        <p:nvSpPr>
          <p:cNvPr id="31" name="Shape 29"/>
          <p:cNvSpPr/>
          <p:nvPr/>
        </p:nvSpPr>
        <p:spPr>
          <a:xfrm>
            <a:off x="320040" y="3648456"/>
            <a:ext cx="64008" cy="438912"/>
          </a:xfrm>
          <a:prstGeom prst="rect">
            <a:avLst/>
          </a:prstGeom>
          <a:solidFill>
            <a:srgbClr val="818CF8"/>
          </a:solidFill>
          <a:ln w="12700">
            <a:solidFill>
              <a:srgbClr val="818CF8"/>
            </a:solidFill>
            <a:prstDash val="solid"/>
          </a:ln>
        </p:spPr>
      </p:sp>
      <p:sp>
        <p:nvSpPr>
          <p:cNvPr id="32" name="Shape 30"/>
          <p:cNvSpPr/>
          <p:nvPr/>
        </p:nvSpPr>
        <p:spPr>
          <a:xfrm>
            <a:off x="457200" y="3739896"/>
            <a:ext cx="256032" cy="256032"/>
          </a:xfrm>
          <a:prstGeom prst="ellipse">
            <a:avLst/>
          </a:prstGeom>
          <a:solidFill>
            <a:srgbClr val="818CF8"/>
          </a:solidFill>
          <a:ln w="12700">
            <a:solidFill>
              <a:srgbClr val="818CF8"/>
            </a:solidFill>
            <a:prstDash val="solid"/>
          </a:ln>
        </p:spPr>
      </p:sp>
      <p:sp>
        <p:nvSpPr>
          <p:cNvPr id="33" name="Text 31"/>
          <p:cNvSpPr/>
          <p:nvPr/>
        </p:nvSpPr>
        <p:spPr>
          <a:xfrm>
            <a:off x="457200" y="3739896"/>
            <a:ext cx="256032" cy="256032"/>
          </a:xfrm>
          <a:prstGeom prst="rect">
            <a:avLst/>
          </a:prstGeom>
          <a:noFill/>
          <a:ln/>
        </p:spPr>
        <p:txBody>
          <a:bodyPr wrap="square" rtlCol="0" anchor="ctr"/>
          <a:lstStyle/>
          <a:p>
            <a:pPr algn="ctr" indent="0" marL="0">
              <a:buNone/>
            </a:pPr>
            <a:r>
              <a:rPr lang="en-US" sz="800" b="1" dirty="0">
                <a:solidFill>
                  <a:srgbClr val="030810"/>
                </a:solidFill>
                <a:latin typeface="Calibri" pitchFamily="34" charset="0"/>
                <a:ea typeface="Calibri" pitchFamily="34" charset="-122"/>
                <a:cs typeface="Calibri" pitchFamily="34" charset="-120"/>
              </a:rPr>
              <a:t>5</a:t>
            </a:r>
            <a:endParaRPr lang="en-US" sz="800" dirty="0"/>
          </a:p>
        </p:txBody>
      </p:sp>
      <p:sp>
        <p:nvSpPr>
          <p:cNvPr id="34" name="Text 32"/>
          <p:cNvSpPr/>
          <p:nvPr/>
        </p:nvSpPr>
        <p:spPr>
          <a:xfrm>
            <a:off x="804672" y="3648456"/>
            <a:ext cx="3401568" cy="438912"/>
          </a:xfrm>
          <a:prstGeom prst="rect">
            <a:avLst/>
          </a:prstGeom>
          <a:noFill/>
          <a:ln/>
        </p:spPr>
        <p:txBody>
          <a:bodyPr wrap="square" rtlCol="0" anchor="ctr"/>
          <a:lstStyle/>
          <a:p>
            <a:pPr indent="0" marL="0">
              <a:buNone/>
            </a:pPr>
            <a:r>
              <a:rPr lang="en-US" sz="1100" dirty="0">
                <a:solidFill>
                  <a:srgbClr val="F1F5F9"/>
                </a:solidFill>
                <a:latin typeface="Calibri" pitchFamily="34" charset="0"/>
                <a:ea typeface="Calibri" pitchFamily="34" charset="-122"/>
                <a:cs typeface="Calibri" pitchFamily="34" charset="-120"/>
              </a:rPr>
              <a:t>Polar Normalizasyon</a:t>
            </a:r>
            <a:endParaRPr lang="en-US" sz="1100" dirty="0"/>
          </a:p>
        </p:txBody>
      </p:sp>
      <p:sp>
        <p:nvSpPr>
          <p:cNvPr id="35" name="Shape 33"/>
          <p:cNvSpPr/>
          <p:nvPr/>
        </p:nvSpPr>
        <p:spPr>
          <a:xfrm>
            <a:off x="2304288" y="4087368"/>
            <a:ext cx="0" cy="73152"/>
          </a:xfrm>
          <a:prstGeom prst="line">
            <a:avLst/>
          </a:prstGeom>
          <a:noFill/>
          <a:ln w="19050">
            <a:solidFill>
              <a:srgbClr val="818CF8"/>
            </a:solidFill>
            <a:prstDash val="solid"/>
          </a:ln>
        </p:spPr>
      </p:sp>
      <p:sp>
        <p:nvSpPr>
          <p:cNvPr id="36" name="Shape 34"/>
          <p:cNvSpPr/>
          <p:nvPr/>
        </p:nvSpPr>
        <p:spPr>
          <a:xfrm>
            <a:off x="320040" y="4160520"/>
            <a:ext cx="3977640" cy="438912"/>
          </a:xfrm>
          <a:prstGeom prst="rect">
            <a:avLst/>
          </a:prstGeom>
          <a:solidFill>
            <a:srgbClr val="0C1829"/>
          </a:solidFill>
          <a:ln w="12700">
            <a:solidFill>
              <a:srgbClr val="818CF8"/>
            </a:solidFill>
            <a:prstDash val="solid"/>
          </a:ln>
        </p:spPr>
      </p:sp>
      <p:sp>
        <p:nvSpPr>
          <p:cNvPr id="37" name="Shape 35"/>
          <p:cNvSpPr/>
          <p:nvPr/>
        </p:nvSpPr>
        <p:spPr>
          <a:xfrm>
            <a:off x="320040" y="4160520"/>
            <a:ext cx="64008" cy="438912"/>
          </a:xfrm>
          <a:prstGeom prst="rect">
            <a:avLst/>
          </a:prstGeom>
          <a:solidFill>
            <a:srgbClr val="818CF8"/>
          </a:solidFill>
          <a:ln w="12700">
            <a:solidFill>
              <a:srgbClr val="818CF8"/>
            </a:solidFill>
            <a:prstDash val="solid"/>
          </a:ln>
        </p:spPr>
      </p:sp>
      <p:sp>
        <p:nvSpPr>
          <p:cNvPr id="38" name="Shape 36"/>
          <p:cNvSpPr/>
          <p:nvPr/>
        </p:nvSpPr>
        <p:spPr>
          <a:xfrm>
            <a:off x="457200" y="4251960"/>
            <a:ext cx="256032" cy="256032"/>
          </a:xfrm>
          <a:prstGeom prst="ellipse">
            <a:avLst/>
          </a:prstGeom>
          <a:solidFill>
            <a:srgbClr val="818CF8"/>
          </a:solidFill>
          <a:ln w="12700">
            <a:solidFill>
              <a:srgbClr val="818CF8"/>
            </a:solidFill>
            <a:prstDash val="solid"/>
          </a:ln>
        </p:spPr>
      </p:sp>
      <p:sp>
        <p:nvSpPr>
          <p:cNvPr id="39" name="Text 37"/>
          <p:cNvSpPr/>
          <p:nvPr/>
        </p:nvSpPr>
        <p:spPr>
          <a:xfrm>
            <a:off x="457200" y="4251960"/>
            <a:ext cx="256032" cy="256032"/>
          </a:xfrm>
          <a:prstGeom prst="rect">
            <a:avLst/>
          </a:prstGeom>
          <a:noFill/>
          <a:ln/>
        </p:spPr>
        <p:txBody>
          <a:bodyPr wrap="square" rtlCol="0" anchor="ctr"/>
          <a:lstStyle/>
          <a:p>
            <a:pPr algn="ctr" indent="0" marL="0">
              <a:buNone/>
            </a:pPr>
            <a:r>
              <a:rPr lang="en-US" sz="800" b="1" dirty="0">
                <a:solidFill>
                  <a:srgbClr val="030810"/>
                </a:solidFill>
                <a:latin typeface="Calibri" pitchFamily="34" charset="0"/>
                <a:ea typeface="Calibri" pitchFamily="34" charset="-122"/>
                <a:cs typeface="Calibri" pitchFamily="34" charset="-120"/>
              </a:rPr>
              <a:t>6</a:t>
            </a:r>
            <a:endParaRPr lang="en-US" sz="800" dirty="0"/>
          </a:p>
        </p:txBody>
      </p:sp>
      <p:sp>
        <p:nvSpPr>
          <p:cNvPr id="40" name="Text 38"/>
          <p:cNvSpPr/>
          <p:nvPr/>
        </p:nvSpPr>
        <p:spPr>
          <a:xfrm>
            <a:off x="804672" y="4160520"/>
            <a:ext cx="3401568" cy="438912"/>
          </a:xfrm>
          <a:prstGeom prst="rect">
            <a:avLst/>
          </a:prstGeom>
          <a:noFill/>
          <a:ln/>
        </p:spPr>
        <p:txBody>
          <a:bodyPr wrap="square" rtlCol="0" anchor="ctr"/>
          <a:lstStyle/>
          <a:p>
            <a:pPr indent="0" marL="0">
              <a:buNone/>
            </a:pPr>
            <a:r>
              <a:rPr lang="en-US" sz="1100" dirty="0">
                <a:solidFill>
                  <a:srgbClr val="F1F5F9"/>
                </a:solidFill>
                <a:latin typeface="Calibri" pitchFamily="34" charset="0"/>
                <a:ea typeface="Calibri" pitchFamily="34" charset="-122"/>
                <a:cs typeface="Calibri" pitchFamily="34" charset="-120"/>
              </a:rPr>
              <a:t>ResNet18 / Klasik Profil</a:t>
            </a:r>
            <a:endParaRPr lang="en-US" sz="1100" dirty="0"/>
          </a:p>
        </p:txBody>
      </p:sp>
      <p:sp>
        <p:nvSpPr>
          <p:cNvPr id="41" name="Shape 39"/>
          <p:cNvSpPr/>
          <p:nvPr/>
        </p:nvSpPr>
        <p:spPr>
          <a:xfrm>
            <a:off x="2304288" y="4599432"/>
            <a:ext cx="0" cy="73152"/>
          </a:xfrm>
          <a:prstGeom prst="line">
            <a:avLst/>
          </a:prstGeom>
          <a:noFill/>
          <a:ln w="19050">
            <a:solidFill>
              <a:srgbClr val="818CF8"/>
            </a:solidFill>
            <a:prstDash val="solid"/>
          </a:ln>
        </p:spPr>
      </p:sp>
      <p:sp>
        <p:nvSpPr>
          <p:cNvPr id="42" name="Shape 40"/>
          <p:cNvSpPr/>
          <p:nvPr/>
        </p:nvSpPr>
        <p:spPr>
          <a:xfrm>
            <a:off x="320040" y="4672584"/>
            <a:ext cx="3977640" cy="438912"/>
          </a:xfrm>
          <a:prstGeom prst="rect">
            <a:avLst/>
          </a:prstGeom>
          <a:solidFill>
            <a:srgbClr val="0C1829"/>
          </a:solidFill>
          <a:ln w="12700">
            <a:solidFill>
              <a:srgbClr val="818CF8"/>
            </a:solidFill>
            <a:prstDash val="solid"/>
          </a:ln>
        </p:spPr>
      </p:sp>
      <p:sp>
        <p:nvSpPr>
          <p:cNvPr id="43" name="Shape 41"/>
          <p:cNvSpPr/>
          <p:nvPr/>
        </p:nvSpPr>
        <p:spPr>
          <a:xfrm>
            <a:off x="320040" y="4672584"/>
            <a:ext cx="64008" cy="438912"/>
          </a:xfrm>
          <a:prstGeom prst="rect">
            <a:avLst/>
          </a:prstGeom>
          <a:solidFill>
            <a:srgbClr val="818CF8"/>
          </a:solidFill>
          <a:ln w="12700">
            <a:solidFill>
              <a:srgbClr val="818CF8"/>
            </a:solidFill>
            <a:prstDash val="solid"/>
          </a:ln>
        </p:spPr>
      </p:sp>
      <p:sp>
        <p:nvSpPr>
          <p:cNvPr id="44" name="Shape 42"/>
          <p:cNvSpPr/>
          <p:nvPr/>
        </p:nvSpPr>
        <p:spPr>
          <a:xfrm>
            <a:off x="457200" y="4764024"/>
            <a:ext cx="256032" cy="256032"/>
          </a:xfrm>
          <a:prstGeom prst="ellipse">
            <a:avLst/>
          </a:prstGeom>
          <a:solidFill>
            <a:srgbClr val="818CF8"/>
          </a:solidFill>
          <a:ln w="12700">
            <a:solidFill>
              <a:srgbClr val="818CF8"/>
            </a:solidFill>
            <a:prstDash val="solid"/>
          </a:ln>
        </p:spPr>
      </p:sp>
      <p:sp>
        <p:nvSpPr>
          <p:cNvPr id="45" name="Text 43"/>
          <p:cNvSpPr/>
          <p:nvPr/>
        </p:nvSpPr>
        <p:spPr>
          <a:xfrm>
            <a:off x="457200" y="4764024"/>
            <a:ext cx="256032" cy="256032"/>
          </a:xfrm>
          <a:prstGeom prst="rect">
            <a:avLst/>
          </a:prstGeom>
          <a:noFill/>
          <a:ln/>
        </p:spPr>
        <p:txBody>
          <a:bodyPr wrap="square" rtlCol="0" anchor="ctr"/>
          <a:lstStyle/>
          <a:p>
            <a:pPr algn="ctr" indent="0" marL="0">
              <a:buNone/>
            </a:pPr>
            <a:r>
              <a:rPr lang="en-US" sz="800" b="1" dirty="0">
                <a:solidFill>
                  <a:srgbClr val="030810"/>
                </a:solidFill>
                <a:latin typeface="Calibri" pitchFamily="34" charset="0"/>
                <a:ea typeface="Calibri" pitchFamily="34" charset="-122"/>
                <a:cs typeface="Calibri" pitchFamily="34" charset="-120"/>
              </a:rPr>
              <a:t>7</a:t>
            </a:r>
            <a:endParaRPr lang="en-US" sz="800" dirty="0"/>
          </a:p>
        </p:txBody>
      </p:sp>
      <p:sp>
        <p:nvSpPr>
          <p:cNvPr id="46" name="Text 44"/>
          <p:cNvSpPr/>
          <p:nvPr/>
        </p:nvSpPr>
        <p:spPr>
          <a:xfrm>
            <a:off x="804672" y="4672584"/>
            <a:ext cx="3401568" cy="438912"/>
          </a:xfrm>
          <a:prstGeom prst="rect">
            <a:avLst/>
          </a:prstGeom>
          <a:noFill/>
          <a:ln/>
        </p:spPr>
        <p:txBody>
          <a:bodyPr wrap="square" rtlCol="0" anchor="ctr"/>
          <a:lstStyle/>
          <a:p>
            <a:pPr indent="0" marL="0">
              <a:buNone/>
            </a:pPr>
            <a:r>
              <a:rPr lang="en-US" sz="1100" dirty="0">
                <a:solidFill>
                  <a:srgbClr val="F1F5F9"/>
                </a:solidFill>
                <a:latin typeface="Calibri" pitchFamily="34" charset="0"/>
                <a:ea typeface="Calibri" pitchFamily="34" charset="-122"/>
                <a:cs typeface="Calibri" pitchFamily="34" charset="-120"/>
              </a:rPr>
              <a:t>JSON'a Kaydet (base64)</a:t>
            </a:r>
            <a:endParaRPr lang="en-US" sz="1100" dirty="0"/>
          </a:p>
        </p:txBody>
      </p:sp>
      <p:sp>
        <p:nvSpPr>
          <p:cNvPr id="47" name="Shape 45"/>
          <p:cNvSpPr/>
          <p:nvPr/>
        </p:nvSpPr>
        <p:spPr>
          <a:xfrm>
            <a:off x="4663440" y="1051560"/>
            <a:ext cx="3977640" cy="457200"/>
          </a:xfrm>
          <a:prstGeom prst="rect">
            <a:avLst/>
          </a:prstGeom>
          <a:solidFill>
            <a:srgbClr val="34D399"/>
          </a:solidFill>
          <a:ln w="12700">
            <a:solidFill>
              <a:srgbClr val="34D399"/>
            </a:solidFill>
            <a:prstDash val="solid"/>
          </a:ln>
        </p:spPr>
      </p:sp>
      <p:sp>
        <p:nvSpPr>
          <p:cNvPr id="48" name="Text 46"/>
          <p:cNvSpPr/>
          <p:nvPr/>
        </p:nvSpPr>
        <p:spPr>
          <a:xfrm>
            <a:off x="4663440" y="1051560"/>
            <a:ext cx="3977640" cy="457200"/>
          </a:xfrm>
          <a:prstGeom prst="rect">
            <a:avLst/>
          </a:prstGeom>
          <a:noFill/>
          <a:ln/>
        </p:spPr>
        <p:txBody>
          <a:bodyPr wrap="square" rtlCol="0" anchor="ctr"/>
          <a:lstStyle/>
          <a:p>
            <a:pPr algn="ctr" indent="0" marL="0">
              <a:buNone/>
            </a:pPr>
            <a:r>
              <a:rPr lang="en-US" sz="1400" b="1" dirty="0">
                <a:solidFill>
                  <a:srgbClr val="030810"/>
                </a:solidFill>
                <a:latin typeface="Calibri" pitchFamily="34" charset="0"/>
                <a:ea typeface="Calibri" pitchFamily="34" charset="-122"/>
                <a:cs typeface="Calibri" pitchFamily="34" charset="-120"/>
              </a:rPr>
              <a:t>DOĞRULAMA</a:t>
            </a:r>
            <a:endParaRPr lang="en-US" sz="1400" dirty="0"/>
          </a:p>
        </p:txBody>
      </p:sp>
      <p:sp>
        <p:nvSpPr>
          <p:cNvPr id="49" name="Shape 47"/>
          <p:cNvSpPr/>
          <p:nvPr/>
        </p:nvSpPr>
        <p:spPr>
          <a:xfrm>
            <a:off x="4663440" y="1600200"/>
            <a:ext cx="3977640" cy="438912"/>
          </a:xfrm>
          <a:prstGeom prst="rect">
            <a:avLst/>
          </a:prstGeom>
          <a:solidFill>
            <a:srgbClr val="0C1829"/>
          </a:solidFill>
          <a:ln w="12700">
            <a:solidFill>
              <a:srgbClr val="34D399"/>
            </a:solidFill>
            <a:prstDash val="solid"/>
          </a:ln>
        </p:spPr>
      </p:sp>
      <p:sp>
        <p:nvSpPr>
          <p:cNvPr id="50" name="Shape 48"/>
          <p:cNvSpPr/>
          <p:nvPr/>
        </p:nvSpPr>
        <p:spPr>
          <a:xfrm>
            <a:off x="4663440" y="1600200"/>
            <a:ext cx="64008" cy="438912"/>
          </a:xfrm>
          <a:prstGeom prst="rect">
            <a:avLst/>
          </a:prstGeom>
          <a:solidFill>
            <a:srgbClr val="34D399"/>
          </a:solidFill>
          <a:ln w="12700">
            <a:solidFill>
              <a:srgbClr val="34D399"/>
            </a:solidFill>
            <a:prstDash val="solid"/>
          </a:ln>
        </p:spPr>
      </p:sp>
      <p:sp>
        <p:nvSpPr>
          <p:cNvPr id="51" name="Shape 49"/>
          <p:cNvSpPr/>
          <p:nvPr/>
        </p:nvSpPr>
        <p:spPr>
          <a:xfrm>
            <a:off x="4800600" y="1691640"/>
            <a:ext cx="256032" cy="256032"/>
          </a:xfrm>
          <a:prstGeom prst="ellipse">
            <a:avLst/>
          </a:prstGeom>
          <a:solidFill>
            <a:srgbClr val="34D399"/>
          </a:solidFill>
          <a:ln w="12700">
            <a:solidFill>
              <a:srgbClr val="34D399"/>
            </a:solidFill>
            <a:prstDash val="solid"/>
          </a:ln>
        </p:spPr>
      </p:sp>
      <p:sp>
        <p:nvSpPr>
          <p:cNvPr id="52" name="Text 50"/>
          <p:cNvSpPr/>
          <p:nvPr/>
        </p:nvSpPr>
        <p:spPr>
          <a:xfrm>
            <a:off x="4800600" y="1691640"/>
            <a:ext cx="256032" cy="256032"/>
          </a:xfrm>
          <a:prstGeom prst="rect">
            <a:avLst/>
          </a:prstGeom>
          <a:noFill/>
          <a:ln/>
        </p:spPr>
        <p:txBody>
          <a:bodyPr wrap="square" rtlCol="0" anchor="ctr"/>
          <a:lstStyle/>
          <a:p>
            <a:pPr algn="ctr" indent="0" marL="0">
              <a:buNone/>
            </a:pPr>
            <a:r>
              <a:rPr lang="en-US" sz="800" b="1" dirty="0">
                <a:solidFill>
                  <a:srgbClr val="030810"/>
                </a:solidFill>
                <a:latin typeface="Calibri" pitchFamily="34" charset="0"/>
                <a:ea typeface="Calibri" pitchFamily="34" charset="-122"/>
                <a:cs typeface="Calibri" pitchFamily="34" charset="-120"/>
              </a:rPr>
              <a:t>1</a:t>
            </a:r>
            <a:endParaRPr lang="en-US" sz="800" dirty="0"/>
          </a:p>
        </p:txBody>
      </p:sp>
      <p:sp>
        <p:nvSpPr>
          <p:cNvPr id="53" name="Text 51"/>
          <p:cNvSpPr/>
          <p:nvPr/>
        </p:nvSpPr>
        <p:spPr>
          <a:xfrm>
            <a:off x="5148072" y="1600200"/>
            <a:ext cx="3401568" cy="438912"/>
          </a:xfrm>
          <a:prstGeom prst="rect">
            <a:avLst/>
          </a:prstGeom>
          <a:noFill/>
          <a:ln/>
        </p:spPr>
        <p:txBody>
          <a:bodyPr wrap="square" rtlCol="0" anchor="ctr"/>
          <a:lstStyle/>
          <a:p>
            <a:pPr indent="0" marL="0">
              <a:buNone/>
            </a:pPr>
            <a:r>
              <a:rPr lang="en-US" sz="1100" dirty="0">
                <a:solidFill>
                  <a:srgbClr val="F1F5F9"/>
                </a:solidFill>
                <a:latin typeface="Calibri" pitchFamily="34" charset="0"/>
                <a:ea typeface="Calibri" pitchFamily="34" charset="-122"/>
                <a:cs typeface="Calibri" pitchFamily="34" charset="-120"/>
              </a:rPr>
              <a:t>Sağ &amp; Sol Giriş Görseli</a:t>
            </a:r>
            <a:endParaRPr lang="en-US" sz="1100" dirty="0"/>
          </a:p>
        </p:txBody>
      </p:sp>
      <p:sp>
        <p:nvSpPr>
          <p:cNvPr id="54" name="Shape 52"/>
          <p:cNvSpPr/>
          <p:nvPr/>
        </p:nvSpPr>
        <p:spPr>
          <a:xfrm>
            <a:off x="6647688" y="2039112"/>
            <a:ext cx="0" cy="73152"/>
          </a:xfrm>
          <a:prstGeom prst="line">
            <a:avLst/>
          </a:prstGeom>
          <a:noFill/>
          <a:ln w="19050">
            <a:solidFill>
              <a:srgbClr val="34D399"/>
            </a:solidFill>
            <a:prstDash val="solid"/>
          </a:ln>
        </p:spPr>
      </p:sp>
      <p:sp>
        <p:nvSpPr>
          <p:cNvPr id="55" name="Shape 53"/>
          <p:cNvSpPr/>
          <p:nvPr/>
        </p:nvSpPr>
        <p:spPr>
          <a:xfrm>
            <a:off x="4663440" y="2112264"/>
            <a:ext cx="3977640" cy="438912"/>
          </a:xfrm>
          <a:prstGeom prst="rect">
            <a:avLst/>
          </a:prstGeom>
          <a:solidFill>
            <a:srgbClr val="0C1829"/>
          </a:solidFill>
          <a:ln w="12700">
            <a:solidFill>
              <a:srgbClr val="34D399"/>
            </a:solidFill>
            <a:prstDash val="solid"/>
          </a:ln>
        </p:spPr>
      </p:sp>
      <p:sp>
        <p:nvSpPr>
          <p:cNvPr id="56" name="Shape 54"/>
          <p:cNvSpPr/>
          <p:nvPr/>
        </p:nvSpPr>
        <p:spPr>
          <a:xfrm>
            <a:off x="4663440" y="2112264"/>
            <a:ext cx="64008" cy="438912"/>
          </a:xfrm>
          <a:prstGeom prst="rect">
            <a:avLst/>
          </a:prstGeom>
          <a:solidFill>
            <a:srgbClr val="34D399"/>
          </a:solidFill>
          <a:ln w="12700">
            <a:solidFill>
              <a:srgbClr val="34D399"/>
            </a:solidFill>
            <a:prstDash val="solid"/>
          </a:ln>
        </p:spPr>
      </p:sp>
      <p:sp>
        <p:nvSpPr>
          <p:cNvPr id="57" name="Shape 55"/>
          <p:cNvSpPr/>
          <p:nvPr/>
        </p:nvSpPr>
        <p:spPr>
          <a:xfrm>
            <a:off x="4800600" y="2203704"/>
            <a:ext cx="256032" cy="256032"/>
          </a:xfrm>
          <a:prstGeom prst="ellipse">
            <a:avLst/>
          </a:prstGeom>
          <a:solidFill>
            <a:srgbClr val="34D399"/>
          </a:solidFill>
          <a:ln w="12700">
            <a:solidFill>
              <a:srgbClr val="34D399"/>
            </a:solidFill>
            <a:prstDash val="solid"/>
          </a:ln>
        </p:spPr>
      </p:sp>
      <p:sp>
        <p:nvSpPr>
          <p:cNvPr id="58" name="Text 56"/>
          <p:cNvSpPr/>
          <p:nvPr/>
        </p:nvSpPr>
        <p:spPr>
          <a:xfrm>
            <a:off x="4800600" y="2203704"/>
            <a:ext cx="256032" cy="256032"/>
          </a:xfrm>
          <a:prstGeom prst="rect">
            <a:avLst/>
          </a:prstGeom>
          <a:noFill/>
          <a:ln/>
        </p:spPr>
        <p:txBody>
          <a:bodyPr wrap="square" rtlCol="0" anchor="ctr"/>
          <a:lstStyle/>
          <a:p>
            <a:pPr algn="ctr" indent="0" marL="0">
              <a:buNone/>
            </a:pPr>
            <a:r>
              <a:rPr lang="en-US" sz="800" b="1" dirty="0">
                <a:solidFill>
                  <a:srgbClr val="030810"/>
                </a:solidFill>
                <a:latin typeface="Calibri" pitchFamily="34" charset="0"/>
                <a:ea typeface="Calibri" pitchFamily="34" charset="-122"/>
                <a:cs typeface="Calibri" pitchFamily="34" charset="-120"/>
              </a:rPr>
              <a:t>2</a:t>
            </a:r>
            <a:endParaRPr lang="en-US" sz="800" dirty="0"/>
          </a:p>
        </p:txBody>
      </p:sp>
      <p:sp>
        <p:nvSpPr>
          <p:cNvPr id="59" name="Text 57"/>
          <p:cNvSpPr/>
          <p:nvPr/>
        </p:nvSpPr>
        <p:spPr>
          <a:xfrm>
            <a:off x="5148072" y="2112264"/>
            <a:ext cx="3401568" cy="438912"/>
          </a:xfrm>
          <a:prstGeom prst="rect">
            <a:avLst/>
          </a:prstGeom>
          <a:noFill/>
          <a:ln/>
        </p:spPr>
        <p:txBody>
          <a:bodyPr wrap="square" rtlCol="0" anchor="ctr"/>
          <a:lstStyle/>
          <a:p>
            <a:pPr indent="0" marL="0">
              <a:buNone/>
            </a:pPr>
            <a:r>
              <a:rPr lang="en-US" sz="1100" dirty="0">
                <a:solidFill>
                  <a:srgbClr val="F1F5F9"/>
                </a:solidFill>
                <a:latin typeface="Calibri" pitchFamily="34" charset="0"/>
                <a:ea typeface="Calibri" pitchFamily="34" charset="-122"/>
                <a:cs typeface="Calibri" pitchFamily="34" charset="-120"/>
              </a:rPr>
              <a:t>Kayıtlı Profil Getir</a:t>
            </a:r>
            <a:endParaRPr lang="en-US" sz="1100" dirty="0"/>
          </a:p>
        </p:txBody>
      </p:sp>
      <p:sp>
        <p:nvSpPr>
          <p:cNvPr id="60" name="Shape 58"/>
          <p:cNvSpPr/>
          <p:nvPr/>
        </p:nvSpPr>
        <p:spPr>
          <a:xfrm>
            <a:off x="6647688" y="2551176"/>
            <a:ext cx="0" cy="73152"/>
          </a:xfrm>
          <a:prstGeom prst="line">
            <a:avLst/>
          </a:prstGeom>
          <a:noFill/>
          <a:ln w="19050">
            <a:solidFill>
              <a:srgbClr val="34D399"/>
            </a:solidFill>
            <a:prstDash val="solid"/>
          </a:ln>
        </p:spPr>
      </p:sp>
      <p:sp>
        <p:nvSpPr>
          <p:cNvPr id="61" name="Shape 59"/>
          <p:cNvSpPr/>
          <p:nvPr/>
        </p:nvSpPr>
        <p:spPr>
          <a:xfrm>
            <a:off x="4663440" y="2624328"/>
            <a:ext cx="3977640" cy="438912"/>
          </a:xfrm>
          <a:prstGeom prst="rect">
            <a:avLst/>
          </a:prstGeom>
          <a:solidFill>
            <a:srgbClr val="0C1829"/>
          </a:solidFill>
          <a:ln w="12700">
            <a:solidFill>
              <a:srgbClr val="34D399"/>
            </a:solidFill>
            <a:prstDash val="solid"/>
          </a:ln>
        </p:spPr>
      </p:sp>
      <p:sp>
        <p:nvSpPr>
          <p:cNvPr id="62" name="Shape 60"/>
          <p:cNvSpPr/>
          <p:nvPr/>
        </p:nvSpPr>
        <p:spPr>
          <a:xfrm>
            <a:off x="4663440" y="2624328"/>
            <a:ext cx="64008" cy="438912"/>
          </a:xfrm>
          <a:prstGeom prst="rect">
            <a:avLst/>
          </a:prstGeom>
          <a:solidFill>
            <a:srgbClr val="34D399"/>
          </a:solidFill>
          <a:ln w="12700">
            <a:solidFill>
              <a:srgbClr val="34D399"/>
            </a:solidFill>
            <a:prstDash val="solid"/>
          </a:ln>
        </p:spPr>
      </p:sp>
      <p:sp>
        <p:nvSpPr>
          <p:cNvPr id="63" name="Shape 61"/>
          <p:cNvSpPr/>
          <p:nvPr/>
        </p:nvSpPr>
        <p:spPr>
          <a:xfrm>
            <a:off x="4800600" y="2715768"/>
            <a:ext cx="256032" cy="256032"/>
          </a:xfrm>
          <a:prstGeom prst="ellipse">
            <a:avLst/>
          </a:prstGeom>
          <a:solidFill>
            <a:srgbClr val="34D399"/>
          </a:solidFill>
          <a:ln w="12700">
            <a:solidFill>
              <a:srgbClr val="34D399"/>
            </a:solidFill>
            <a:prstDash val="solid"/>
          </a:ln>
        </p:spPr>
      </p:sp>
      <p:sp>
        <p:nvSpPr>
          <p:cNvPr id="64" name="Text 62"/>
          <p:cNvSpPr/>
          <p:nvPr/>
        </p:nvSpPr>
        <p:spPr>
          <a:xfrm>
            <a:off x="4800600" y="2715768"/>
            <a:ext cx="256032" cy="256032"/>
          </a:xfrm>
          <a:prstGeom prst="rect">
            <a:avLst/>
          </a:prstGeom>
          <a:noFill/>
          <a:ln/>
        </p:spPr>
        <p:txBody>
          <a:bodyPr wrap="square" rtlCol="0" anchor="ctr"/>
          <a:lstStyle/>
          <a:p>
            <a:pPr algn="ctr" indent="0" marL="0">
              <a:buNone/>
            </a:pPr>
            <a:r>
              <a:rPr lang="en-US" sz="800" b="1" dirty="0">
                <a:solidFill>
                  <a:srgbClr val="030810"/>
                </a:solidFill>
                <a:latin typeface="Calibri" pitchFamily="34" charset="0"/>
                <a:ea typeface="Calibri" pitchFamily="34" charset="-122"/>
                <a:cs typeface="Calibri" pitchFamily="34" charset="-120"/>
              </a:rPr>
              <a:t>3</a:t>
            </a:r>
            <a:endParaRPr lang="en-US" sz="800" dirty="0"/>
          </a:p>
        </p:txBody>
      </p:sp>
      <p:sp>
        <p:nvSpPr>
          <p:cNvPr id="65" name="Text 63"/>
          <p:cNvSpPr/>
          <p:nvPr/>
        </p:nvSpPr>
        <p:spPr>
          <a:xfrm>
            <a:off x="5148072" y="2624328"/>
            <a:ext cx="3401568" cy="438912"/>
          </a:xfrm>
          <a:prstGeom prst="rect">
            <a:avLst/>
          </a:prstGeom>
          <a:noFill/>
          <a:ln/>
        </p:spPr>
        <p:txBody>
          <a:bodyPr wrap="square" rtlCol="0" anchor="ctr"/>
          <a:lstStyle/>
          <a:p>
            <a:pPr indent="0" marL="0">
              <a:buNone/>
            </a:pPr>
            <a:r>
              <a:rPr lang="en-US" sz="1100" dirty="0">
                <a:solidFill>
                  <a:srgbClr val="F1F5F9"/>
                </a:solidFill>
                <a:latin typeface="Calibri" pitchFamily="34" charset="0"/>
                <a:ea typeface="Calibri" pitchFamily="34" charset="-122"/>
                <a:cs typeface="Calibri" pitchFamily="34" charset="-120"/>
              </a:rPr>
              <a:t>Her Göz Pipeline</a:t>
            </a:r>
            <a:endParaRPr lang="en-US" sz="1100" dirty="0"/>
          </a:p>
        </p:txBody>
      </p:sp>
      <p:sp>
        <p:nvSpPr>
          <p:cNvPr id="66" name="Shape 64"/>
          <p:cNvSpPr/>
          <p:nvPr/>
        </p:nvSpPr>
        <p:spPr>
          <a:xfrm>
            <a:off x="6647688" y="3063240"/>
            <a:ext cx="0" cy="73152"/>
          </a:xfrm>
          <a:prstGeom prst="line">
            <a:avLst/>
          </a:prstGeom>
          <a:noFill/>
          <a:ln w="19050">
            <a:solidFill>
              <a:srgbClr val="34D399"/>
            </a:solidFill>
            <a:prstDash val="solid"/>
          </a:ln>
        </p:spPr>
      </p:sp>
      <p:sp>
        <p:nvSpPr>
          <p:cNvPr id="67" name="Shape 65"/>
          <p:cNvSpPr/>
          <p:nvPr/>
        </p:nvSpPr>
        <p:spPr>
          <a:xfrm>
            <a:off x="4663440" y="3136392"/>
            <a:ext cx="3977640" cy="438912"/>
          </a:xfrm>
          <a:prstGeom prst="rect">
            <a:avLst/>
          </a:prstGeom>
          <a:solidFill>
            <a:srgbClr val="0C1829"/>
          </a:solidFill>
          <a:ln w="12700">
            <a:solidFill>
              <a:srgbClr val="34D399"/>
            </a:solidFill>
            <a:prstDash val="solid"/>
          </a:ln>
        </p:spPr>
      </p:sp>
      <p:sp>
        <p:nvSpPr>
          <p:cNvPr id="68" name="Shape 66"/>
          <p:cNvSpPr/>
          <p:nvPr/>
        </p:nvSpPr>
        <p:spPr>
          <a:xfrm>
            <a:off x="4663440" y="3136392"/>
            <a:ext cx="64008" cy="438912"/>
          </a:xfrm>
          <a:prstGeom prst="rect">
            <a:avLst/>
          </a:prstGeom>
          <a:solidFill>
            <a:srgbClr val="34D399"/>
          </a:solidFill>
          <a:ln w="12700">
            <a:solidFill>
              <a:srgbClr val="34D399"/>
            </a:solidFill>
            <a:prstDash val="solid"/>
          </a:ln>
        </p:spPr>
      </p:sp>
      <p:sp>
        <p:nvSpPr>
          <p:cNvPr id="69" name="Shape 67"/>
          <p:cNvSpPr/>
          <p:nvPr/>
        </p:nvSpPr>
        <p:spPr>
          <a:xfrm>
            <a:off x="4800600" y="3227832"/>
            <a:ext cx="256032" cy="256032"/>
          </a:xfrm>
          <a:prstGeom prst="ellipse">
            <a:avLst/>
          </a:prstGeom>
          <a:solidFill>
            <a:srgbClr val="34D399"/>
          </a:solidFill>
          <a:ln w="12700">
            <a:solidFill>
              <a:srgbClr val="34D399"/>
            </a:solidFill>
            <a:prstDash val="solid"/>
          </a:ln>
        </p:spPr>
      </p:sp>
      <p:sp>
        <p:nvSpPr>
          <p:cNvPr id="70" name="Text 68"/>
          <p:cNvSpPr/>
          <p:nvPr/>
        </p:nvSpPr>
        <p:spPr>
          <a:xfrm>
            <a:off x="4800600" y="3227832"/>
            <a:ext cx="256032" cy="256032"/>
          </a:xfrm>
          <a:prstGeom prst="rect">
            <a:avLst/>
          </a:prstGeom>
          <a:noFill/>
          <a:ln/>
        </p:spPr>
        <p:txBody>
          <a:bodyPr wrap="square" rtlCol="0" anchor="ctr"/>
          <a:lstStyle/>
          <a:p>
            <a:pPr algn="ctr" indent="0" marL="0">
              <a:buNone/>
            </a:pPr>
            <a:r>
              <a:rPr lang="en-US" sz="800" b="1" dirty="0">
                <a:solidFill>
                  <a:srgbClr val="030810"/>
                </a:solidFill>
                <a:latin typeface="Calibri" pitchFamily="34" charset="0"/>
                <a:ea typeface="Calibri" pitchFamily="34" charset="-122"/>
                <a:cs typeface="Calibri" pitchFamily="34" charset="-120"/>
              </a:rPr>
              <a:t>4</a:t>
            </a:r>
            <a:endParaRPr lang="en-US" sz="800" dirty="0"/>
          </a:p>
        </p:txBody>
      </p:sp>
      <p:sp>
        <p:nvSpPr>
          <p:cNvPr id="71" name="Text 69"/>
          <p:cNvSpPr/>
          <p:nvPr/>
        </p:nvSpPr>
        <p:spPr>
          <a:xfrm>
            <a:off x="5148072" y="3136392"/>
            <a:ext cx="3401568" cy="438912"/>
          </a:xfrm>
          <a:prstGeom prst="rect">
            <a:avLst/>
          </a:prstGeom>
          <a:noFill/>
          <a:ln/>
        </p:spPr>
        <p:txBody>
          <a:bodyPr wrap="square" rtlCol="0" anchor="ctr"/>
          <a:lstStyle/>
          <a:p>
            <a:pPr indent="0" marL="0">
              <a:buNone/>
            </a:pPr>
            <a:r>
              <a:rPr lang="en-US" sz="1100" dirty="0">
                <a:solidFill>
                  <a:srgbClr val="F1F5F9"/>
                </a:solidFill>
                <a:latin typeface="Calibri" pitchFamily="34" charset="0"/>
                <a:ea typeface="Calibri" pitchFamily="34" charset="-122"/>
                <a:cs typeface="Calibri" pitchFamily="34" charset="-120"/>
              </a:rPr>
              <a:t>Kaydırmalı Karşılaştırma</a:t>
            </a:r>
            <a:endParaRPr lang="en-US" sz="1100" dirty="0"/>
          </a:p>
        </p:txBody>
      </p:sp>
      <p:sp>
        <p:nvSpPr>
          <p:cNvPr id="72" name="Shape 70"/>
          <p:cNvSpPr/>
          <p:nvPr/>
        </p:nvSpPr>
        <p:spPr>
          <a:xfrm>
            <a:off x="6647688" y="3575304"/>
            <a:ext cx="0" cy="73152"/>
          </a:xfrm>
          <a:prstGeom prst="line">
            <a:avLst/>
          </a:prstGeom>
          <a:noFill/>
          <a:ln w="19050">
            <a:solidFill>
              <a:srgbClr val="34D399"/>
            </a:solidFill>
            <a:prstDash val="solid"/>
          </a:ln>
        </p:spPr>
      </p:sp>
      <p:sp>
        <p:nvSpPr>
          <p:cNvPr id="73" name="Shape 71"/>
          <p:cNvSpPr/>
          <p:nvPr/>
        </p:nvSpPr>
        <p:spPr>
          <a:xfrm>
            <a:off x="4663440" y="3648456"/>
            <a:ext cx="3977640" cy="438912"/>
          </a:xfrm>
          <a:prstGeom prst="rect">
            <a:avLst/>
          </a:prstGeom>
          <a:solidFill>
            <a:srgbClr val="0C1829"/>
          </a:solidFill>
          <a:ln w="12700">
            <a:solidFill>
              <a:srgbClr val="34D399"/>
            </a:solidFill>
            <a:prstDash val="solid"/>
          </a:ln>
        </p:spPr>
      </p:sp>
      <p:sp>
        <p:nvSpPr>
          <p:cNvPr id="74" name="Shape 72"/>
          <p:cNvSpPr/>
          <p:nvPr/>
        </p:nvSpPr>
        <p:spPr>
          <a:xfrm>
            <a:off x="4663440" y="3648456"/>
            <a:ext cx="64008" cy="438912"/>
          </a:xfrm>
          <a:prstGeom prst="rect">
            <a:avLst/>
          </a:prstGeom>
          <a:solidFill>
            <a:srgbClr val="34D399"/>
          </a:solidFill>
          <a:ln w="12700">
            <a:solidFill>
              <a:srgbClr val="34D399"/>
            </a:solidFill>
            <a:prstDash val="solid"/>
          </a:ln>
        </p:spPr>
      </p:sp>
      <p:sp>
        <p:nvSpPr>
          <p:cNvPr id="75" name="Shape 73"/>
          <p:cNvSpPr/>
          <p:nvPr/>
        </p:nvSpPr>
        <p:spPr>
          <a:xfrm>
            <a:off x="4800600" y="3739896"/>
            <a:ext cx="256032" cy="256032"/>
          </a:xfrm>
          <a:prstGeom prst="ellipse">
            <a:avLst/>
          </a:prstGeom>
          <a:solidFill>
            <a:srgbClr val="34D399"/>
          </a:solidFill>
          <a:ln w="12700">
            <a:solidFill>
              <a:srgbClr val="34D399"/>
            </a:solidFill>
            <a:prstDash val="solid"/>
          </a:ln>
        </p:spPr>
      </p:sp>
      <p:sp>
        <p:nvSpPr>
          <p:cNvPr id="76" name="Text 74"/>
          <p:cNvSpPr/>
          <p:nvPr/>
        </p:nvSpPr>
        <p:spPr>
          <a:xfrm>
            <a:off x="4800600" y="3739896"/>
            <a:ext cx="256032" cy="256032"/>
          </a:xfrm>
          <a:prstGeom prst="rect">
            <a:avLst/>
          </a:prstGeom>
          <a:noFill/>
          <a:ln/>
        </p:spPr>
        <p:txBody>
          <a:bodyPr wrap="square" rtlCol="0" anchor="ctr"/>
          <a:lstStyle/>
          <a:p>
            <a:pPr algn="ctr" indent="0" marL="0">
              <a:buNone/>
            </a:pPr>
            <a:r>
              <a:rPr lang="en-US" sz="800" b="1" dirty="0">
                <a:solidFill>
                  <a:srgbClr val="030810"/>
                </a:solidFill>
                <a:latin typeface="Calibri" pitchFamily="34" charset="0"/>
                <a:ea typeface="Calibri" pitchFamily="34" charset="-122"/>
                <a:cs typeface="Calibri" pitchFamily="34" charset="-120"/>
              </a:rPr>
              <a:t>5</a:t>
            </a:r>
            <a:endParaRPr lang="en-US" sz="800" dirty="0"/>
          </a:p>
        </p:txBody>
      </p:sp>
      <p:sp>
        <p:nvSpPr>
          <p:cNvPr id="77" name="Text 75"/>
          <p:cNvSpPr/>
          <p:nvPr/>
        </p:nvSpPr>
        <p:spPr>
          <a:xfrm>
            <a:off x="5148072" y="3648456"/>
            <a:ext cx="3401568" cy="438912"/>
          </a:xfrm>
          <a:prstGeom prst="rect">
            <a:avLst/>
          </a:prstGeom>
          <a:noFill/>
          <a:ln/>
        </p:spPr>
        <p:txBody>
          <a:bodyPr wrap="square" rtlCol="0" anchor="ctr"/>
          <a:lstStyle/>
          <a:p>
            <a:pPr indent="0" marL="0">
              <a:buNone/>
            </a:pPr>
            <a:r>
              <a:rPr lang="en-US" sz="1100" dirty="0">
                <a:solidFill>
                  <a:srgbClr val="F1F5F9"/>
                </a:solidFill>
                <a:latin typeface="Calibri" pitchFamily="34" charset="0"/>
                <a:ea typeface="Calibri" pitchFamily="34" charset="-122"/>
                <a:cs typeface="Calibri" pitchFamily="34" charset="-120"/>
              </a:rPr>
              <a:t>Çapraz Kontrol</a:t>
            </a:r>
            <a:endParaRPr lang="en-US" sz="1100" dirty="0"/>
          </a:p>
        </p:txBody>
      </p:sp>
      <p:sp>
        <p:nvSpPr>
          <p:cNvPr id="78" name="Shape 76"/>
          <p:cNvSpPr/>
          <p:nvPr/>
        </p:nvSpPr>
        <p:spPr>
          <a:xfrm>
            <a:off x="6647688" y="4087368"/>
            <a:ext cx="0" cy="73152"/>
          </a:xfrm>
          <a:prstGeom prst="line">
            <a:avLst/>
          </a:prstGeom>
          <a:noFill/>
          <a:ln w="19050">
            <a:solidFill>
              <a:srgbClr val="34D399"/>
            </a:solidFill>
            <a:prstDash val="solid"/>
          </a:ln>
        </p:spPr>
      </p:sp>
      <p:sp>
        <p:nvSpPr>
          <p:cNvPr id="79" name="Shape 77"/>
          <p:cNvSpPr/>
          <p:nvPr/>
        </p:nvSpPr>
        <p:spPr>
          <a:xfrm>
            <a:off x="4663440" y="4160520"/>
            <a:ext cx="3977640" cy="438912"/>
          </a:xfrm>
          <a:prstGeom prst="rect">
            <a:avLst/>
          </a:prstGeom>
          <a:solidFill>
            <a:srgbClr val="0C1829"/>
          </a:solidFill>
          <a:ln w="12700">
            <a:solidFill>
              <a:srgbClr val="34D399"/>
            </a:solidFill>
            <a:prstDash val="solid"/>
          </a:ln>
        </p:spPr>
      </p:sp>
      <p:sp>
        <p:nvSpPr>
          <p:cNvPr id="80" name="Shape 78"/>
          <p:cNvSpPr/>
          <p:nvPr/>
        </p:nvSpPr>
        <p:spPr>
          <a:xfrm>
            <a:off x="4663440" y="4160520"/>
            <a:ext cx="64008" cy="438912"/>
          </a:xfrm>
          <a:prstGeom prst="rect">
            <a:avLst/>
          </a:prstGeom>
          <a:solidFill>
            <a:srgbClr val="34D399"/>
          </a:solidFill>
          <a:ln w="12700">
            <a:solidFill>
              <a:srgbClr val="34D399"/>
            </a:solidFill>
            <a:prstDash val="solid"/>
          </a:ln>
        </p:spPr>
      </p:sp>
      <p:sp>
        <p:nvSpPr>
          <p:cNvPr id="81" name="Shape 79"/>
          <p:cNvSpPr/>
          <p:nvPr/>
        </p:nvSpPr>
        <p:spPr>
          <a:xfrm>
            <a:off x="4800600" y="4251960"/>
            <a:ext cx="256032" cy="256032"/>
          </a:xfrm>
          <a:prstGeom prst="ellipse">
            <a:avLst/>
          </a:prstGeom>
          <a:solidFill>
            <a:srgbClr val="34D399"/>
          </a:solidFill>
          <a:ln w="12700">
            <a:solidFill>
              <a:srgbClr val="34D399"/>
            </a:solidFill>
            <a:prstDash val="solid"/>
          </a:ln>
        </p:spPr>
      </p:sp>
      <p:sp>
        <p:nvSpPr>
          <p:cNvPr id="82" name="Text 80"/>
          <p:cNvSpPr/>
          <p:nvPr/>
        </p:nvSpPr>
        <p:spPr>
          <a:xfrm>
            <a:off x="4800600" y="4251960"/>
            <a:ext cx="256032" cy="256032"/>
          </a:xfrm>
          <a:prstGeom prst="rect">
            <a:avLst/>
          </a:prstGeom>
          <a:noFill/>
          <a:ln/>
        </p:spPr>
        <p:txBody>
          <a:bodyPr wrap="square" rtlCol="0" anchor="ctr"/>
          <a:lstStyle/>
          <a:p>
            <a:pPr algn="ctr" indent="0" marL="0">
              <a:buNone/>
            </a:pPr>
            <a:r>
              <a:rPr lang="en-US" sz="800" b="1" dirty="0">
                <a:solidFill>
                  <a:srgbClr val="030810"/>
                </a:solidFill>
                <a:latin typeface="Calibri" pitchFamily="34" charset="0"/>
                <a:ea typeface="Calibri" pitchFamily="34" charset="-122"/>
                <a:cs typeface="Calibri" pitchFamily="34" charset="-120"/>
              </a:rPr>
              <a:t>6</a:t>
            </a:r>
            <a:endParaRPr lang="en-US" sz="800" dirty="0"/>
          </a:p>
        </p:txBody>
      </p:sp>
      <p:sp>
        <p:nvSpPr>
          <p:cNvPr id="83" name="Text 81"/>
          <p:cNvSpPr/>
          <p:nvPr/>
        </p:nvSpPr>
        <p:spPr>
          <a:xfrm>
            <a:off x="5148072" y="4160520"/>
            <a:ext cx="3401568" cy="438912"/>
          </a:xfrm>
          <a:prstGeom prst="rect">
            <a:avLst/>
          </a:prstGeom>
          <a:noFill/>
          <a:ln/>
        </p:spPr>
        <p:txBody>
          <a:bodyPr wrap="square" rtlCol="0" anchor="ctr"/>
          <a:lstStyle/>
          <a:p>
            <a:pPr indent="0" marL="0">
              <a:buNone/>
            </a:pPr>
            <a:r>
              <a:rPr lang="en-US" sz="1100" dirty="0">
                <a:solidFill>
                  <a:srgbClr val="F1F5F9"/>
                </a:solidFill>
                <a:latin typeface="Calibri" pitchFamily="34" charset="0"/>
                <a:ea typeface="Calibri" pitchFamily="34" charset="-122"/>
                <a:cs typeface="Calibri" pitchFamily="34" charset="-120"/>
              </a:rPr>
              <a:t>Kalite Puanı &amp; Eşik</a:t>
            </a:r>
            <a:endParaRPr lang="en-US" sz="1100" dirty="0"/>
          </a:p>
        </p:txBody>
      </p:sp>
      <p:sp>
        <p:nvSpPr>
          <p:cNvPr id="84" name="Shape 82"/>
          <p:cNvSpPr/>
          <p:nvPr/>
        </p:nvSpPr>
        <p:spPr>
          <a:xfrm>
            <a:off x="6647688" y="4599432"/>
            <a:ext cx="0" cy="73152"/>
          </a:xfrm>
          <a:prstGeom prst="line">
            <a:avLst/>
          </a:prstGeom>
          <a:noFill/>
          <a:ln w="19050">
            <a:solidFill>
              <a:srgbClr val="34D399"/>
            </a:solidFill>
            <a:prstDash val="solid"/>
          </a:ln>
        </p:spPr>
      </p:sp>
      <p:sp>
        <p:nvSpPr>
          <p:cNvPr id="85" name="Shape 83"/>
          <p:cNvSpPr/>
          <p:nvPr/>
        </p:nvSpPr>
        <p:spPr>
          <a:xfrm>
            <a:off x="4663440" y="4672584"/>
            <a:ext cx="3977640" cy="438912"/>
          </a:xfrm>
          <a:prstGeom prst="rect">
            <a:avLst/>
          </a:prstGeom>
          <a:solidFill>
            <a:srgbClr val="0C1829"/>
          </a:solidFill>
          <a:ln w="12700">
            <a:solidFill>
              <a:srgbClr val="34D399"/>
            </a:solidFill>
            <a:prstDash val="solid"/>
          </a:ln>
        </p:spPr>
      </p:sp>
      <p:sp>
        <p:nvSpPr>
          <p:cNvPr id="86" name="Shape 84"/>
          <p:cNvSpPr/>
          <p:nvPr/>
        </p:nvSpPr>
        <p:spPr>
          <a:xfrm>
            <a:off x="4663440" y="4672584"/>
            <a:ext cx="64008" cy="438912"/>
          </a:xfrm>
          <a:prstGeom prst="rect">
            <a:avLst/>
          </a:prstGeom>
          <a:solidFill>
            <a:srgbClr val="34D399"/>
          </a:solidFill>
          <a:ln w="12700">
            <a:solidFill>
              <a:srgbClr val="34D399"/>
            </a:solidFill>
            <a:prstDash val="solid"/>
          </a:ln>
        </p:spPr>
      </p:sp>
      <p:sp>
        <p:nvSpPr>
          <p:cNvPr id="87" name="Shape 85"/>
          <p:cNvSpPr/>
          <p:nvPr/>
        </p:nvSpPr>
        <p:spPr>
          <a:xfrm>
            <a:off x="4800600" y="4764024"/>
            <a:ext cx="256032" cy="256032"/>
          </a:xfrm>
          <a:prstGeom prst="ellipse">
            <a:avLst/>
          </a:prstGeom>
          <a:solidFill>
            <a:srgbClr val="34D399"/>
          </a:solidFill>
          <a:ln w="12700">
            <a:solidFill>
              <a:srgbClr val="34D399"/>
            </a:solidFill>
            <a:prstDash val="solid"/>
          </a:ln>
        </p:spPr>
      </p:sp>
      <p:sp>
        <p:nvSpPr>
          <p:cNvPr id="88" name="Text 86"/>
          <p:cNvSpPr/>
          <p:nvPr/>
        </p:nvSpPr>
        <p:spPr>
          <a:xfrm>
            <a:off x="4800600" y="4764024"/>
            <a:ext cx="256032" cy="256032"/>
          </a:xfrm>
          <a:prstGeom prst="rect">
            <a:avLst/>
          </a:prstGeom>
          <a:noFill/>
          <a:ln/>
        </p:spPr>
        <p:txBody>
          <a:bodyPr wrap="square" rtlCol="0" anchor="ctr"/>
          <a:lstStyle/>
          <a:p>
            <a:pPr algn="ctr" indent="0" marL="0">
              <a:buNone/>
            </a:pPr>
            <a:r>
              <a:rPr lang="en-US" sz="800" b="1" dirty="0">
                <a:solidFill>
                  <a:srgbClr val="030810"/>
                </a:solidFill>
                <a:latin typeface="Calibri" pitchFamily="34" charset="0"/>
                <a:ea typeface="Calibri" pitchFamily="34" charset="-122"/>
                <a:cs typeface="Calibri" pitchFamily="34" charset="-120"/>
              </a:rPr>
              <a:t>7</a:t>
            </a:r>
            <a:endParaRPr lang="en-US" sz="800" dirty="0"/>
          </a:p>
        </p:txBody>
      </p:sp>
      <p:sp>
        <p:nvSpPr>
          <p:cNvPr id="89" name="Text 87"/>
          <p:cNvSpPr/>
          <p:nvPr/>
        </p:nvSpPr>
        <p:spPr>
          <a:xfrm>
            <a:off x="5148072" y="4672584"/>
            <a:ext cx="3401568" cy="438912"/>
          </a:xfrm>
          <a:prstGeom prst="rect">
            <a:avLst/>
          </a:prstGeom>
          <a:noFill/>
          <a:ln/>
        </p:spPr>
        <p:txBody>
          <a:bodyPr wrap="square" rtlCol="0" anchor="ctr"/>
          <a:lstStyle/>
          <a:p>
            <a:pPr indent="0" marL="0">
              <a:buNone/>
            </a:pPr>
            <a:r>
              <a:rPr lang="en-US" sz="1100" dirty="0">
                <a:solidFill>
                  <a:srgbClr val="F1F5F9"/>
                </a:solidFill>
                <a:latin typeface="Calibri" pitchFamily="34" charset="0"/>
                <a:ea typeface="Calibri" pitchFamily="34" charset="-122"/>
                <a:cs typeface="Calibri" pitchFamily="34" charset="-120"/>
              </a:rPr>
              <a:t>KABUL / RED Kararı</a:t>
            </a:r>
            <a:endParaRPr lang="en-US" sz="1100" dirty="0"/>
          </a:p>
        </p:txBody>
      </p:sp>
      <p:sp>
        <p:nvSpPr>
          <p:cNvPr id="90" name="Shape 88"/>
          <p:cNvSpPr/>
          <p:nvPr/>
        </p:nvSpPr>
        <p:spPr>
          <a:xfrm>
            <a:off x="4334256" y="1051560"/>
            <a:ext cx="0" cy="3566160"/>
          </a:xfrm>
          <a:prstGeom prst="line">
            <a:avLst/>
          </a:prstGeom>
          <a:noFill/>
          <a:ln w="12700">
            <a:solidFill>
              <a:srgbClr val="1E3A5F"/>
            </a:solidFill>
            <a:prstDash val="dash"/>
          </a:ln>
        </p:spPr>
      </p:sp>
      <p:sp>
        <p:nvSpPr>
          <p:cNvPr id="91" name="Text 89"/>
          <p:cNvSpPr/>
          <p:nvPr/>
        </p:nvSpPr>
        <p:spPr>
          <a:xfrm>
            <a:off x="4169664" y="2743200"/>
            <a:ext cx="347472" cy="347472"/>
          </a:xfrm>
          <a:prstGeom prst="rect">
            <a:avLst/>
          </a:prstGeom>
          <a:noFill/>
          <a:ln/>
        </p:spPr>
        <p:txBody>
          <a:bodyPr wrap="square" rtlCol="0" anchor="ctr"/>
          <a:lstStyle/>
          <a:p>
            <a:pPr algn="ctr" indent="0" marL="0">
              <a:buNone/>
            </a:pPr>
            <a:r>
              <a:rPr lang="en-US" sz="1200" dirty="0">
                <a:solidFill>
                  <a:srgbClr val="1E3A5F"/>
                </a:solidFill>
                <a:latin typeface="Calibri" pitchFamily="34" charset="0"/>
                <a:ea typeface="Calibri" pitchFamily="34" charset="-122"/>
                <a:cs typeface="Calibri" pitchFamily="34" charset="-120"/>
              </a:rPr>
              <a:t>vs</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70E1B"/>
        </a:solidFill>
      </p:bgPr>
    </p:bg>
    <p:spTree>
      <p:nvGrpSpPr>
        <p:cNvPr id="1" name=""/>
        <p:cNvGrpSpPr/>
        <p:nvPr/>
      </p:nvGrpSpPr>
      <p:grpSpPr>
        <a:xfrm>
          <a:off x="0" y="0"/>
          <a:ext cx="0" cy="0"/>
          <a:chOff x="0" y="0"/>
          <a:chExt cx="0" cy="0"/>
        </a:xfrm>
      </p:grpSpPr>
      <p:sp>
        <p:nvSpPr>
          <p:cNvPr id="2" name="Text 0"/>
          <p:cNvSpPr/>
          <p:nvPr/>
        </p:nvSpPr>
        <p:spPr>
          <a:xfrm>
            <a:off x="457200" y="182880"/>
            <a:ext cx="8229600" cy="594360"/>
          </a:xfrm>
          <a:prstGeom prst="rect">
            <a:avLst/>
          </a:prstGeom>
          <a:noFill/>
          <a:ln/>
        </p:spPr>
        <p:txBody>
          <a:bodyPr wrap="square" rtlCol="0" anchor="ctr"/>
          <a:lstStyle/>
          <a:p>
            <a:pPr indent="0" marL="0">
              <a:buNone/>
            </a:pPr>
            <a:r>
              <a:rPr lang="en-US" sz="3200" b="1" dirty="0">
                <a:solidFill>
                  <a:srgbClr val="F1F5F9"/>
                </a:solidFill>
                <a:latin typeface="Calibri" pitchFamily="34" charset="0"/>
                <a:ea typeface="Calibri" pitchFamily="34" charset="-122"/>
                <a:cs typeface="Calibri" pitchFamily="34" charset="-120"/>
              </a:rPr>
              <a:t>Projenin Özgün Katkıları</a:t>
            </a:r>
            <a:endParaRPr lang="en-US" sz="3200" dirty="0"/>
          </a:p>
        </p:txBody>
      </p:sp>
      <p:sp>
        <p:nvSpPr>
          <p:cNvPr id="3" name="Text 1"/>
          <p:cNvSpPr/>
          <p:nvPr/>
        </p:nvSpPr>
        <p:spPr>
          <a:xfrm>
            <a:off x="457200" y="749808"/>
            <a:ext cx="8229600" cy="292608"/>
          </a:xfrm>
          <a:prstGeom prst="rect">
            <a:avLst/>
          </a:prstGeom>
          <a:noFill/>
          <a:ln/>
        </p:spPr>
        <p:txBody>
          <a:bodyPr wrap="square" rtlCol="0" anchor="ctr"/>
          <a:lstStyle/>
          <a:p>
            <a:pPr indent="0" marL="0">
              <a:buNone/>
            </a:pPr>
            <a:r>
              <a:rPr lang="en-US" sz="1300" dirty="0">
                <a:solidFill>
                  <a:srgbClr val="64748B"/>
                </a:solidFill>
                <a:latin typeface="Calibri" pitchFamily="34" charset="0"/>
                <a:ea typeface="Calibri" pitchFamily="34" charset="-122"/>
                <a:cs typeface="Calibri" pitchFamily="34" charset="-120"/>
              </a:rPr>
              <a:t>Standart hazır kütüphanenin ötesinde yapılan tasarım kararları</a:t>
            </a:r>
            <a:endParaRPr lang="en-US" sz="1300" dirty="0"/>
          </a:p>
        </p:txBody>
      </p:sp>
      <p:sp>
        <p:nvSpPr>
          <p:cNvPr id="4" name="Shape 2"/>
          <p:cNvSpPr/>
          <p:nvPr/>
        </p:nvSpPr>
        <p:spPr>
          <a:xfrm>
            <a:off x="320040" y="1097280"/>
            <a:ext cx="2697480" cy="1920240"/>
          </a:xfrm>
          <a:prstGeom prst="rect">
            <a:avLst/>
          </a:prstGeom>
          <a:solidFill>
            <a:srgbClr val="0C1829"/>
          </a:solidFill>
          <a:ln w="19050">
            <a:solidFill>
              <a:srgbClr val="38BDF8"/>
            </a:solidFill>
            <a:prstDash val="solid"/>
          </a:ln>
        </p:spPr>
      </p:sp>
      <p:sp>
        <p:nvSpPr>
          <p:cNvPr id="5" name="Shape 3"/>
          <p:cNvSpPr/>
          <p:nvPr/>
        </p:nvSpPr>
        <p:spPr>
          <a:xfrm>
            <a:off x="320040" y="1097280"/>
            <a:ext cx="2697480" cy="475488"/>
          </a:xfrm>
          <a:prstGeom prst="rect">
            <a:avLst/>
          </a:prstGeom>
          <a:solidFill>
            <a:srgbClr val="0F2040"/>
          </a:solidFill>
          <a:ln w="12700">
            <a:solidFill>
              <a:srgbClr val="38BDF8"/>
            </a:solidFill>
            <a:prstDash val="solid"/>
          </a:ln>
        </p:spPr>
      </p:sp>
      <p:sp>
        <p:nvSpPr>
          <p:cNvPr id="6" name="Text 4"/>
          <p:cNvSpPr/>
          <p:nvPr/>
        </p:nvSpPr>
        <p:spPr>
          <a:xfrm>
            <a:off x="429768" y="1152144"/>
            <a:ext cx="2487168" cy="365760"/>
          </a:xfrm>
          <a:prstGeom prst="rect">
            <a:avLst/>
          </a:prstGeom>
          <a:noFill/>
          <a:ln/>
        </p:spPr>
        <p:txBody>
          <a:bodyPr wrap="square" rtlCol="0" anchor="ctr"/>
          <a:lstStyle/>
          <a:p>
            <a:pPr indent="0" marL="0">
              <a:buNone/>
            </a:pPr>
            <a:r>
              <a:rPr lang="en-US" sz="1100" b="1" dirty="0">
                <a:solidFill>
                  <a:srgbClr val="38BDF8"/>
                </a:solidFill>
                <a:latin typeface="Calibri" pitchFamily="34" charset="0"/>
                <a:ea typeface="Calibri" pitchFamily="34" charset="-122"/>
                <a:cs typeface="Calibri" pitchFamily="34" charset="-120"/>
              </a:rPr>
              <a:t>👁 Çift Göz Doğrulaması</a:t>
            </a:r>
            <a:endParaRPr lang="en-US" sz="1100" dirty="0"/>
          </a:p>
        </p:txBody>
      </p:sp>
      <p:sp>
        <p:nvSpPr>
          <p:cNvPr id="7" name="Text 5"/>
          <p:cNvSpPr/>
          <p:nvPr/>
        </p:nvSpPr>
        <p:spPr>
          <a:xfrm>
            <a:off x="429768" y="1664208"/>
            <a:ext cx="2487168" cy="124358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Tek göz sistemleri FAR (False Acceptance Rate) açısından savunmasızdır. Sağ VE sol iris birlikte doğrulanınca FAR teorik olarak karesel azalır.</a:t>
            </a:r>
            <a:endParaRPr lang="en-US" sz="1000" dirty="0"/>
          </a:p>
        </p:txBody>
      </p:sp>
      <p:sp>
        <p:nvSpPr>
          <p:cNvPr id="8" name="Shape 6"/>
          <p:cNvSpPr/>
          <p:nvPr/>
        </p:nvSpPr>
        <p:spPr>
          <a:xfrm>
            <a:off x="3227832" y="1097280"/>
            <a:ext cx="2697480" cy="1920240"/>
          </a:xfrm>
          <a:prstGeom prst="rect">
            <a:avLst/>
          </a:prstGeom>
          <a:solidFill>
            <a:srgbClr val="0C1829"/>
          </a:solidFill>
          <a:ln w="19050">
            <a:solidFill>
              <a:srgbClr val="F87171"/>
            </a:solidFill>
            <a:prstDash val="solid"/>
          </a:ln>
        </p:spPr>
      </p:sp>
      <p:sp>
        <p:nvSpPr>
          <p:cNvPr id="9" name="Shape 7"/>
          <p:cNvSpPr/>
          <p:nvPr/>
        </p:nvSpPr>
        <p:spPr>
          <a:xfrm>
            <a:off x="3227832" y="1097280"/>
            <a:ext cx="2697480" cy="475488"/>
          </a:xfrm>
          <a:prstGeom prst="rect">
            <a:avLst/>
          </a:prstGeom>
          <a:solidFill>
            <a:srgbClr val="0F2040"/>
          </a:solidFill>
          <a:ln w="12700">
            <a:solidFill>
              <a:srgbClr val="F87171"/>
            </a:solidFill>
            <a:prstDash val="solid"/>
          </a:ln>
        </p:spPr>
      </p:sp>
      <p:sp>
        <p:nvSpPr>
          <p:cNvPr id="10" name="Text 8"/>
          <p:cNvSpPr/>
          <p:nvPr/>
        </p:nvSpPr>
        <p:spPr>
          <a:xfrm>
            <a:off x="3337560" y="1152144"/>
            <a:ext cx="2487168" cy="365760"/>
          </a:xfrm>
          <a:prstGeom prst="rect">
            <a:avLst/>
          </a:prstGeom>
          <a:noFill/>
          <a:ln/>
        </p:spPr>
        <p:txBody>
          <a:bodyPr wrap="square" rtlCol="0" anchor="ctr"/>
          <a:lstStyle/>
          <a:p>
            <a:pPr indent="0" marL="0">
              <a:buNone/>
            </a:pPr>
            <a:r>
              <a:rPr lang="en-US" sz="1100" b="1" dirty="0">
                <a:solidFill>
                  <a:srgbClr val="F87171"/>
                </a:solidFill>
                <a:latin typeface="Calibri" pitchFamily="34" charset="0"/>
                <a:ea typeface="Calibri" pitchFamily="34" charset="-122"/>
                <a:cs typeface="Calibri" pitchFamily="34" charset="-120"/>
              </a:rPr>
              <a:t>🔀 Çapraz Kontrol Anti-Spoof</a:t>
            </a:r>
            <a:endParaRPr lang="en-US" sz="1100" dirty="0"/>
          </a:p>
        </p:txBody>
      </p:sp>
      <p:sp>
        <p:nvSpPr>
          <p:cNvPr id="11" name="Text 9"/>
          <p:cNvSpPr/>
          <p:nvPr/>
        </p:nvSpPr>
        <p:spPr>
          <a:xfrm>
            <a:off x="3337560" y="1664208"/>
            <a:ext cx="2487168" cy="124358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Sağ-sol göz giriş görüntüleri çapraz eşleştirilir. Göz karışıklığı ve tek fotoğrafla kandırma denemelerini tespit eder. Benim özgün eklentim.</a:t>
            </a:r>
            <a:endParaRPr lang="en-US" sz="1000" dirty="0"/>
          </a:p>
        </p:txBody>
      </p:sp>
      <p:sp>
        <p:nvSpPr>
          <p:cNvPr id="12" name="Shape 10"/>
          <p:cNvSpPr/>
          <p:nvPr/>
        </p:nvSpPr>
        <p:spPr>
          <a:xfrm>
            <a:off x="6135624" y="1097280"/>
            <a:ext cx="2697480" cy="1920240"/>
          </a:xfrm>
          <a:prstGeom prst="rect">
            <a:avLst/>
          </a:prstGeom>
          <a:solidFill>
            <a:srgbClr val="0C1829"/>
          </a:solidFill>
          <a:ln w="19050">
            <a:solidFill>
              <a:srgbClr val="34D399"/>
            </a:solidFill>
            <a:prstDash val="solid"/>
          </a:ln>
        </p:spPr>
      </p:sp>
      <p:sp>
        <p:nvSpPr>
          <p:cNvPr id="13" name="Shape 11"/>
          <p:cNvSpPr/>
          <p:nvPr/>
        </p:nvSpPr>
        <p:spPr>
          <a:xfrm>
            <a:off x="6135624" y="1097280"/>
            <a:ext cx="2697480" cy="475488"/>
          </a:xfrm>
          <a:prstGeom prst="rect">
            <a:avLst/>
          </a:prstGeom>
          <a:solidFill>
            <a:srgbClr val="0F2040"/>
          </a:solidFill>
          <a:ln w="12700">
            <a:solidFill>
              <a:srgbClr val="34D399"/>
            </a:solidFill>
            <a:prstDash val="solid"/>
          </a:ln>
        </p:spPr>
      </p:sp>
      <p:sp>
        <p:nvSpPr>
          <p:cNvPr id="14" name="Text 12"/>
          <p:cNvSpPr/>
          <p:nvPr/>
        </p:nvSpPr>
        <p:spPr>
          <a:xfrm>
            <a:off x="6245352" y="1152144"/>
            <a:ext cx="2487168" cy="365760"/>
          </a:xfrm>
          <a:prstGeom prst="rect">
            <a:avLst/>
          </a:prstGeom>
          <a:noFill/>
          <a:ln/>
        </p:spPr>
        <p:txBody>
          <a:bodyPr wrap="square" rtlCol="0" anchor="ctr"/>
          <a:lstStyle/>
          <a:p>
            <a:pPr indent="0" marL="0">
              <a:buNone/>
            </a:pPr>
            <a:r>
              <a:rPr lang="en-US" sz="1100" b="1" dirty="0">
                <a:solidFill>
                  <a:srgbClr val="34D399"/>
                </a:solidFill>
                <a:latin typeface="Calibri" pitchFamily="34" charset="0"/>
                <a:ea typeface="Calibri" pitchFamily="34" charset="-122"/>
                <a:cs typeface="Calibri" pitchFamily="34" charset="-120"/>
              </a:rPr>
              <a:t>📐 Adaptif Kalite Eşikleri</a:t>
            </a:r>
            <a:endParaRPr lang="en-US" sz="1100" dirty="0"/>
          </a:p>
        </p:txBody>
      </p:sp>
      <p:sp>
        <p:nvSpPr>
          <p:cNvPr id="15" name="Text 13"/>
          <p:cNvSpPr/>
          <p:nvPr/>
        </p:nvSpPr>
        <p:spPr>
          <a:xfrm>
            <a:off x="6245352" y="1664208"/>
            <a:ext cx="2487168" cy="124358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Görüntü kalitesi skoru hesaplanır, eşikler buna göre yumuşatılır/sıkılaştırılır. Gerçek dünya koşullarında çok daha adil ve pratik çalışır.</a:t>
            </a:r>
            <a:endParaRPr lang="en-US" sz="1000" dirty="0"/>
          </a:p>
        </p:txBody>
      </p:sp>
      <p:sp>
        <p:nvSpPr>
          <p:cNvPr id="16" name="Shape 14"/>
          <p:cNvSpPr/>
          <p:nvPr/>
        </p:nvSpPr>
        <p:spPr>
          <a:xfrm>
            <a:off x="320040" y="3108960"/>
            <a:ext cx="2697480" cy="1920240"/>
          </a:xfrm>
          <a:prstGeom prst="rect">
            <a:avLst/>
          </a:prstGeom>
          <a:solidFill>
            <a:srgbClr val="0C1829"/>
          </a:solidFill>
          <a:ln w="19050">
            <a:solidFill>
              <a:srgbClr val="FB923C"/>
            </a:solidFill>
            <a:prstDash val="solid"/>
          </a:ln>
        </p:spPr>
      </p:sp>
      <p:sp>
        <p:nvSpPr>
          <p:cNvPr id="17" name="Shape 15"/>
          <p:cNvSpPr/>
          <p:nvPr/>
        </p:nvSpPr>
        <p:spPr>
          <a:xfrm>
            <a:off x="320040" y="3108960"/>
            <a:ext cx="2697480" cy="475488"/>
          </a:xfrm>
          <a:prstGeom prst="rect">
            <a:avLst/>
          </a:prstGeom>
          <a:solidFill>
            <a:srgbClr val="0F2040"/>
          </a:solidFill>
          <a:ln w="12700">
            <a:solidFill>
              <a:srgbClr val="FB923C"/>
            </a:solidFill>
            <a:prstDash val="solid"/>
          </a:ln>
        </p:spPr>
      </p:sp>
      <p:sp>
        <p:nvSpPr>
          <p:cNvPr id="18" name="Text 16"/>
          <p:cNvSpPr/>
          <p:nvPr/>
        </p:nvSpPr>
        <p:spPr>
          <a:xfrm>
            <a:off x="429768" y="3163824"/>
            <a:ext cx="2487168" cy="365760"/>
          </a:xfrm>
          <a:prstGeom prst="rect">
            <a:avLst/>
          </a:prstGeom>
          <a:noFill/>
          <a:ln/>
        </p:spPr>
        <p:txBody>
          <a:bodyPr wrap="square" rtlCol="0" anchor="ctr"/>
          <a:lstStyle/>
          <a:p>
            <a:pPr indent="0" marL="0">
              <a:buNone/>
            </a:pPr>
            <a:r>
              <a:rPr lang="en-US" sz="1100" b="1" dirty="0">
                <a:solidFill>
                  <a:srgbClr val="FB923C"/>
                </a:solidFill>
                <a:latin typeface="Calibri" pitchFamily="34" charset="0"/>
                <a:ea typeface="Calibri" pitchFamily="34" charset="-122"/>
                <a:cs typeface="Calibri" pitchFamily="34" charset="-120"/>
              </a:rPr>
              <a:t>🔄 Rotasyon Toleransı</a:t>
            </a:r>
            <a:endParaRPr lang="en-US" sz="1100" dirty="0"/>
          </a:p>
        </p:txBody>
      </p:sp>
      <p:sp>
        <p:nvSpPr>
          <p:cNvPr id="19" name="Text 17"/>
          <p:cNvSpPr/>
          <p:nvPr/>
        </p:nvSpPr>
        <p:spPr>
          <a:xfrm>
            <a:off x="429768" y="3675888"/>
            <a:ext cx="2487168" cy="124358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Polar görüntü ±20 piksel kaydırılarak 41 pozisyonda test edilir. Gözün kamera açısına duyarsız eşleştirme. Standart sistemlerde genellikle yok.</a:t>
            </a:r>
            <a:endParaRPr lang="en-US" sz="1000" dirty="0"/>
          </a:p>
        </p:txBody>
      </p:sp>
      <p:sp>
        <p:nvSpPr>
          <p:cNvPr id="20" name="Shape 18"/>
          <p:cNvSpPr/>
          <p:nvPr/>
        </p:nvSpPr>
        <p:spPr>
          <a:xfrm>
            <a:off x="3227832" y="3108960"/>
            <a:ext cx="2697480" cy="1920240"/>
          </a:xfrm>
          <a:prstGeom prst="rect">
            <a:avLst/>
          </a:prstGeom>
          <a:solidFill>
            <a:srgbClr val="0C1829"/>
          </a:solidFill>
          <a:ln w="19050">
            <a:solidFill>
              <a:srgbClr val="818CF8"/>
            </a:solidFill>
            <a:prstDash val="solid"/>
          </a:ln>
        </p:spPr>
      </p:sp>
      <p:sp>
        <p:nvSpPr>
          <p:cNvPr id="21" name="Shape 19"/>
          <p:cNvSpPr/>
          <p:nvPr/>
        </p:nvSpPr>
        <p:spPr>
          <a:xfrm>
            <a:off x="3227832" y="3108960"/>
            <a:ext cx="2697480" cy="475488"/>
          </a:xfrm>
          <a:prstGeom prst="rect">
            <a:avLst/>
          </a:prstGeom>
          <a:solidFill>
            <a:srgbClr val="0F2040"/>
          </a:solidFill>
          <a:ln w="12700">
            <a:solidFill>
              <a:srgbClr val="818CF8"/>
            </a:solidFill>
            <a:prstDash val="solid"/>
          </a:ln>
        </p:spPr>
      </p:sp>
      <p:sp>
        <p:nvSpPr>
          <p:cNvPr id="22" name="Text 20"/>
          <p:cNvSpPr/>
          <p:nvPr/>
        </p:nvSpPr>
        <p:spPr>
          <a:xfrm>
            <a:off x="3337560" y="3163824"/>
            <a:ext cx="2487168" cy="365760"/>
          </a:xfrm>
          <a:prstGeom prst="rect">
            <a:avLst/>
          </a:prstGeom>
          <a:noFill/>
          <a:ln/>
        </p:spPr>
        <p:txBody>
          <a:bodyPr wrap="square" rtlCol="0" anchor="ctr"/>
          <a:lstStyle/>
          <a:p>
            <a:pPr indent="0" marL="0">
              <a:buNone/>
            </a:pPr>
            <a:r>
              <a:rPr lang="en-US" sz="1100" b="1" dirty="0">
                <a:solidFill>
                  <a:srgbClr val="818CF8"/>
                </a:solidFill>
                <a:latin typeface="Calibri" pitchFamily="34" charset="0"/>
                <a:ea typeface="Calibri" pitchFamily="34" charset="-122"/>
                <a:cs typeface="Calibri" pitchFamily="34" charset="-120"/>
              </a:rPr>
              <a:t>🛡 Graceful Fallback</a:t>
            </a:r>
            <a:endParaRPr lang="en-US" sz="1100" dirty="0"/>
          </a:p>
        </p:txBody>
      </p:sp>
      <p:sp>
        <p:nvSpPr>
          <p:cNvPr id="23" name="Text 21"/>
          <p:cNvSpPr/>
          <p:nvPr/>
        </p:nvSpPr>
        <p:spPr>
          <a:xfrm>
            <a:off x="3337560" y="3675888"/>
            <a:ext cx="2487168" cy="124358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PyTorch/ResNet18 yüklenemezse try/except bloğuyla otomatik Gabor+LBP sistemine geçer. Farklı donanım ortamlarında çalışabilirlik garanti altında.</a:t>
            </a:r>
            <a:endParaRPr lang="en-US" sz="1000" dirty="0"/>
          </a:p>
        </p:txBody>
      </p:sp>
      <p:sp>
        <p:nvSpPr>
          <p:cNvPr id="24" name="Shape 22"/>
          <p:cNvSpPr/>
          <p:nvPr/>
        </p:nvSpPr>
        <p:spPr>
          <a:xfrm>
            <a:off x="6135624" y="3108960"/>
            <a:ext cx="2697480" cy="1920240"/>
          </a:xfrm>
          <a:prstGeom prst="rect">
            <a:avLst/>
          </a:prstGeom>
          <a:solidFill>
            <a:srgbClr val="0C1829"/>
          </a:solidFill>
          <a:ln w="19050">
            <a:solidFill>
              <a:srgbClr val="64748B"/>
            </a:solidFill>
            <a:prstDash val="solid"/>
          </a:ln>
        </p:spPr>
      </p:sp>
      <p:sp>
        <p:nvSpPr>
          <p:cNvPr id="25" name="Shape 23"/>
          <p:cNvSpPr/>
          <p:nvPr/>
        </p:nvSpPr>
        <p:spPr>
          <a:xfrm>
            <a:off x="6135624" y="3108960"/>
            <a:ext cx="2697480" cy="475488"/>
          </a:xfrm>
          <a:prstGeom prst="rect">
            <a:avLst/>
          </a:prstGeom>
          <a:solidFill>
            <a:srgbClr val="0F2040"/>
          </a:solidFill>
          <a:ln w="12700">
            <a:solidFill>
              <a:srgbClr val="64748B"/>
            </a:solidFill>
            <a:prstDash val="solid"/>
          </a:ln>
        </p:spPr>
      </p:sp>
      <p:sp>
        <p:nvSpPr>
          <p:cNvPr id="26" name="Text 24"/>
          <p:cNvSpPr/>
          <p:nvPr/>
        </p:nvSpPr>
        <p:spPr>
          <a:xfrm>
            <a:off x="6245352" y="3163824"/>
            <a:ext cx="2487168" cy="365760"/>
          </a:xfrm>
          <a:prstGeom prst="rect">
            <a:avLst/>
          </a:prstGeom>
          <a:noFill/>
          <a:ln/>
        </p:spPr>
        <p:txBody>
          <a:bodyPr wrap="square" rtlCol="0" anchor="ctr"/>
          <a:lstStyle/>
          <a:p>
            <a:pPr indent="0" marL="0">
              <a:buNone/>
            </a:pPr>
            <a:r>
              <a:rPr lang="en-US" sz="1100" b="1" dirty="0">
                <a:solidFill>
                  <a:srgbClr val="64748B"/>
                </a:solidFill>
                <a:latin typeface="Calibri" pitchFamily="34" charset="0"/>
                <a:ea typeface="Calibri" pitchFamily="34" charset="-122"/>
                <a:cs typeface="Calibri" pitchFamily="34" charset="-120"/>
              </a:rPr>
              <a:t>📊 Detaylı Metrik Raporu</a:t>
            </a:r>
            <a:endParaRPr lang="en-US" sz="1100" dirty="0"/>
          </a:p>
        </p:txBody>
      </p:sp>
      <p:sp>
        <p:nvSpPr>
          <p:cNvPr id="27" name="Text 25"/>
          <p:cNvSpPr/>
          <p:nvPr/>
        </p:nvSpPr>
        <p:spPr>
          <a:xfrm>
            <a:off x="6245352" y="3675888"/>
            <a:ext cx="2487168" cy="1243584"/>
          </a:xfrm>
          <a:prstGeom prst="rect">
            <a:avLst/>
          </a:prstGeom>
          <a:noFill/>
          <a:ln/>
        </p:spPr>
        <p:txBody>
          <a:bodyPr wrap="square" rtlCol="0" anchor="t"/>
          <a:lstStyle/>
          <a:p>
            <a:pPr indent="0" marL="0">
              <a:buNone/>
            </a:pPr>
            <a:r>
              <a:rPr lang="en-US" sz="1000" dirty="0">
                <a:solidFill>
                  <a:srgbClr val="64748B"/>
                </a:solidFill>
                <a:latin typeface="Calibri" pitchFamily="34" charset="0"/>
                <a:ea typeface="Calibri" pitchFamily="34" charset="-122"/>
                <a:cs typeface="Calibri" pitchFamily="34" charset="-120"/>
              </a:rPr>
              <a:t>Her doğrulamada tam rapor: skor, L2 mesafesi, kosinüs, korelasyon, kalite, çapraz skor ve red nedeni. Gözlemlenebilir ve debug edilebilir sistem.</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70E1B"/>
        </a:solidFill>
      </p:bgPr>
    </p:bg>
    <p:spTree>
      <p:nvGrpSpPr>
        <p:cNvPr id="1" name=""/>
        <p:cNvGrpSpPr/>
        <p:nvPr/>
      </p:nvGrpSpPr>
      <p:grpSpPr>
        <a:xfrm>
          <a:off x="0" y="0"/>
          <a:ext cx="0" cy="0"/>
          <a:chOff x="0" y="0"/>
          <a:chExt cx="0" cy="0"/>
        </a:xfrm>
      </p:grpSpPr>
      <p:sp>
        <p:nvSpPr>
          <p:cNvPr id="2" name="Shape 0"/>
          <p:cNvSpPr/>
          <p:nvPr/>
        </p:nvSpPr>
        <p:spPr>
          <a:xfrm>
            <a:off x="0" y="0"/>
            <a:ext cx="64008" cy="5143500"/>
          </a:xfrm>
          <a:prstGeom prst="rect">
            <a:avLst/>
          </a:prstGeom>
          <a:solidFill>
            <a:srgbClr val="34D399"/>
          </a:solidFill>
          <a:ln w="12700">
            <a:solidFill>
              <a:srgbClr val="34D399"/>
            </a:solidFill>
            <a:prstDash val="solid"/>
          </a:ln>
        </p:spPr>
      </p:sp>
      <p:sp>
        <p:nvSpPr>
          <p:cNvPr id="3" name="Shape 1"/>
          <p:cNvSpPr/>
          <p:nvPr/>
        </p:nvSpPr>
        <p:spPr>
          <a:xfrm>
            <a:off x="100584" y="0"/>
            <a:ext cx="36576" cy="5143500"/>
          </a:xfrm>
          <a:prstGeom prst="rect">
            <a:avLst/>
          </a:prstGeom>
          <a:solidFill>
            <a:srgbClr val="38BDF8"/>
          </a:solidFill>
          <a:ln w="12700">
            <a:solidFill>
              <a:srgbClr val="38BDF8"/>
            </a:solidFill>
            <a:prstDash val="solid"/>
          </a:ln>
        </p:spPr>
      </p:sp>
      <p:sp>
        <p:nvSpPr>
          <p:cNvPr id="4" name="Text 2"/>
          <p:cNvSpPr/>
          <p:nvPr/>
        </p:nvSpPr>
        <p:spPr>
          <a:xfrm>
            <a:off x="457200" y="274320"/>
            <a:ext cx="8229600" cy="822960"/>
          </a:xfrm>
          <a:prstGeom prst="rect">
            <a:avLst/>
          </a:prstGeom>
          <a:noFill/>
          <a:ln/>
        </p:spPr>
        <p:txBody>
          <a:bodyPr wrap="square" rtlCol="0" anchor="ctr"/>
          <a:lstStyle/>
          <a:p>
            <a:pPr indent="0" marL="0">
              <a:buNone/>
            </a:pPr>
            <a:r>
              <a:rPr lang="en-US" sz="5000" b="1" dirty="0">
                <a:solidFill>
                  <a:srgbClr val="F1F5F9"/>
                </a:solidFill>
                <a:latin typeface="Calibri" pitchFamily="34" charset="0"/>
                <a:ea typeface="Calibri" pitchFamily="34" charset="-122"/>
                <a:cs typeface="Calibri" pitchFamily="34" charset="-120"/>
              </a:rPr>
              <a:t>Sonuç</a:t>
            </a:r>
            <a:endParaRPr lang="en-US" sz="5000" dirty="0"/>
          </a:p>
        </p:txBody>
      </p:sp>
      <p:sp>
        <p:nvSpPr>
          <p:cNvPr id="5" name="Text 3"/>
          <p:cNvSpPr/>
          <p:nvPr/>
        </p:nvSpPr>
        <p:spPr>
          <a:xfrm>
            <a:off x="457200" y="1078992"/>
            <a:ext cx="8229600" cy="320040"/>
          </a:xfrm>
          <a:prstGeom prst="rect">
            <a:avLst/>
          </a:prstGeom>
          <a:noFill/>
          <a:ln/>
        </p:spPr>
        <p:txBody>
          <a:bodyPr wrap="square" rtlCol="0" anchor="ctr"/>
          <a:lstStyle/>
          <a:p>
            <a:pPr indent="0" marL="0">
              <a:buNone/>
            </a:pPr>
            <a:r>
              <a:rPr lang="en-US" sz="1400" dirty="0">
                <a:solidFill>
                  <a:srgbClr val="64748B"/>
                </a:solidFill>
                <a:latin typeface="Calibri" pitchFamily="34" charset="0"/>
                <a:ea typeface="Calibri" pitchFamily="34" charset="-122"/>
                <a:cs typeface="Calibri" pitchFamily="34" charset="-120"/>
              </a:rPr>
              <a:t>8 adımlı pipeline — uçtan uca biyometrik kimlik doğrulama</a:t>
            </a:r>
            <a:endParaRPr lang="en-US" sz="1400" dirty="0"/>
          </a:p>
        </p:txBody>
      </p:sp>
      <p:sp>
        <p:nvSpPr>
          <p:cNvPr id="6" name="Shape 4"/>
          <p:cNvSpPr/>
          <p:nvPr/>
        </p:nvSpPr>
        <p:spPr>
          <a:xfrm>
            <a:off x="457200" y="1554480"/>
            <a:ext cx="73152" cy="438912"/>
          </a:xfrm>
          <a:prstGeom prst="rect">
            <a:avLst/>
          </a:prstGeom>
          <a:solidFill>
            <a:srgbClr val="38BDF8"/>
          </a:solidFill>
          <a:ln w="12700">
            <a:solidFill>
              <a:srgbClr val="38BDF8"/>
            </a:solidFill>
            <a:prstDash val="solid"/>
          </a:ln>
        </p:spPr>
      </p:sp>
      <p:sp>
        <p:nvSpPr>
          <p:cNvPr id="7" name="Text 5"/>
          <p:cNvSpPr/>
          <p:nvPr/>
        </p:nvSpPr>
        <p:spPr>
          <a:xfrm>
            <a:off x="658368" y="1554480"/>
            <a:ext cx="7955280" cy="219456"/>
          </a:xfrm>
          <a:prstGeom prst="rect">
            <a:avLst/>
          </a:prstGeom>
          <a:noFill/>
          <a:ln/>
        </p:spPr>
        <p:txBody>
          <a:bodyPr wrap="square" rtlCol="0" anchor="ctr"/>
          <a:lstStyle/>
          <a:p>
            <a:pPr indent="0" marL="0">
              <a:buNone/>
            </a:pPr>
            <a:r>
              <a:rPr lang="en-US" sz="1200" b="1" dirty="0">
                <a:solidFill>
                  <a:srgbClr val="38BDF8"/>
                </a:solidFill>
                <a:latin typeface="Calibri" pitchFamily="34" charset="0"/>
                <a:ea typeface="Calibri" pitchFamily="34" charset="-122"/>
                <a:cs typeface="Calibri" pitchFamily="34" charset="-120"/>
              </a:rPr>
              <a:t>Tam uçtan uca pipeline uygulandı</a:t>
            </a:r>
            <a:endParaRPr lang="en-US" sz="1200" dirty="0"/>
          </a:p>
        </p:txBody>
      </p:sp>
      <p:sp>
        <p:nvSpPr>
          <p:cNvPr id="8" name="Text 6"/>
          <p:cNvSpPr/>
          <p:nvPr/>
        </p:nvSpPr>
        <p:spPr>
          <a:xfrm>
            <a:off x="658368" y="1773936"/>
            <a:ext cx="7955280" cy="219456"/>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Ham görüntüden CLAHE, HoughCircles, Daugman polar, ResNet18 embedding, kosinüs karşılaştırma ve adaptif eşik kararına kadar her adım elle kodlandı.</a:t>
            </a:r>
            <a:endParaRPr lang="en-US" sz="1100" dirty="0"/>
          </a:p>
        </p:txBody>
      </p:sp>
      <p:sp>
        <p:nvSpPr>
          <p:cNvPr id="9" name="Shape 7"/>
          <p:cNvSpPr/>
          <p:nvPr/>
        </p:nvSpPr>
        <p:spPr>
          <a:xfrm>
            <a:off x="457200" y="2157984"/>
            <a:ext cx="73152" cy="438912"/>
          </a:xfrm>
          <a:prstGeom prst="rect">
            <a:avLst/>
          </a:prstGeom>
          <a:solidFill>
            <a:srgbClr val="818CF8"/>
          </a:solidFill>
          <a:ln w="12700">
            <a:solidFill>
              <a:srgbClr val="818CF8"/>
            </a:solidFill>
            <a:prstDash val="solid"/>
          </a:ln>
        </p:spPr>
      </p:sp>
      <p:sp>
        <p:nvSpPr>
          <p:cNvPr id="10" name="Text 8"/>
          <p:cNvSpPr/>
          <p:nvPr/>
        </p:nvSpPr>
        <p:spPr>
          <a:xfrm>
            <a:off x="658368" y="2157984"/>
            <a:ext cx="7955280" cy="219456"/>
          </a:xfrm>
          <a:prstGeom prst="rect">
            <a:avLst/>
          </a:prstGeom>
          <a:noFill/>
          <a:ln/>
        </p:spPr>
        <p:txBody>
          <a:bodyPr wrap="square" rtlCol="0" anchor="ctr"/>
          <a:lstStyle/>
          <a:p>
            <a:pPr indent="0" marL="0">
              <a:buNone/>
            </a:pPr>
            <a:r>
              <a:rPr lang="en-US" sz="1200" b="1" dirty="0">
                <a:solidFill>
                  <a:srgbClr val="818CF8"/>
                </a:solidFill>
                <a:latin typeface="Calibri" pitchFamily="34" charset="0"/>
                <a:ea typeface="Calibri" pitchFamily="34" charset="-122"/>
                <a:cs typeface="Calibri" pitchFamily="34" charset="-120"/>
              </a:rPr>
              <a:t>Modern + Klasik yöntemler bir arada</a:t>
            </a:r>
            <a:endParaRPr lang="en-US" sz="1200" dirty="0"/>
          </a:p>
        </p:txBody>
      </p:sp>
      <p:sp>
        <p:nvSpPr>
          <p:cNvPr id="11" name="Text 9"/>
          <p:cNvSpPr/>
          <p:nvPr/>
        </p:nvSpPr>
        <p:spPr>
          <a:xfrm>
            <a:off x="658368" y="2377440"/>
            <a:ext cx="7955280" cy="219456"/>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ResNet18 transfer learning birincil yöntem; Gabor, LBP, Gradyan yedek. İki dünya bir çatı altında.</a:t>
            </a:r>
            <a:endParaRPr lang="en-US" sz="1100" dirty="0"/>
          </a:p>
        </p:txBody>
      </p:sp>
      <p:sp>
        <p:nvSpPr>
          <p:cNvPr id="12" name="Shape 10"/>
          <p:cNvSpPr/>
          <p:nvPr/>
        </p:nvSpPr>
        <p:spPr>
          <a:xfrm>
            <a:off x="457200" y="2761488"/>
            <a:ext cx="73152" cy="438912"/>
          </a:xfrm>
          <a:prstGeom prst="rect">
            <a:avLst/>
          </a:prstGeom>
          <a:solidFill>
            <a:srgbClr val="34D399"/>
          </a:solidFill>
          <a:ln w="12700">
            <a:solidFill>
              <a:srgbClr val="34D399"/>
            </a:solidFill>
            <a:prstDash val="solid"/>
          </a:ln>
        </p:spPr>
      </p:sp>
      <p:sp>
        <p:nvSpPr>
          <p:cNvPr id="13" name="Text 11"/>
          <p:cNvSpPr/>
          <p:nvPr/>
        </p:nvSpPr>
        <p:spPr>
          <a:xfrm>
            <a:off x="658368" y="2761488"/>
            <a:ext cx="7955280" cy="219456"/>
          </a:xfrm>
          <a:prstGeom prst="rect">
            <a:avLst/>
          </a:prstGeom>
          <a:noFill/>
          <a:ln/>
        </p:spPr>
        <p:txBody>
          <a:bodyPr wrap="square" rtlCol="0" anchor="ctr"/>
          <a:lstStyle/>
          <a:p>
            <a:pPr indent="0" marL="0">
              <a:buNone/>
            </a:pPr>
            <a:r>
              <a:rPr lang="en-US" sz="1200" b="1" dirty="0">
                <a:solidFill>
                  <a:srgbClr val="34D399"/>
                </a:solidFill>
                <a:latin typeface="Calibri" pitchFamily="34" charset="0"/>
                <a:ea typeface="Calibri" pitchFamily="34" charset="-122"/>
                <a:cs typeface="Calibri" pitchFamily="34" charset="-120"/>
              </a:rPr>
              <a:t>Çift göz + çapraz kontrol güvenliği</a:t>
            </a:r>
            <a:endParaRPr lang="en-US" sz="1200" dirty="0"/>
          </a:p>
        </p:txBody>
      </p:sp>
      <p:sp>
        <p:nvSpPr>
          <p:cNvPr id="14" name="Text 12"/>
          <p:cNvSpPr/>
          <p:nvPr/>
        </p:nvSpPr>
        <p:spPr>
          <a:xfrm>
            <a:off x="658368" y="2980944"/>
            <a:ext cx="7955280" cy="219456"/>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Standart tek-iris sistemlerinden daha güvenli mimari. FAR'ı karesel azaltan çift göz, kandırmayı engelleyen çapraz kontrol.</a:t>
            </a:r>
            <a:endParaRPr lang="en-US" sz="1100" dirty="0"/>
          </a:p>
        </p:txBody>
      </p:sp>
      <p:sp>
        <p:nvSpPr>
          <p:cNvPr id="15" name="Shape 13"/>
          <p:cNvSpPr/>
          <p:nvPr/>
        </p:nvSpPr>
        <p:spPr>
          <a:xfrm>
            <a:off x="457200" y="3364992"/>
            <a:ext cx="73152" cy="438912"/>
          </a:xfrm>
          <a:prstGeom prst="rect">
            <a:avLst/>
          </a:prstGeom>
          <a:solidFill>
            <a:srgbClr val="FB923C"/>
          </a:solidFill>
          <a:ln w="12700">
            <a:solidFill>
              <a:srgbClr val="FB923C"/>
            </a:solidFill>
            <a:prstDash val="solid"/>
          </a:ln>
        </p:spPr>
      </p:sp>
      <p:sp>
        <p:nvSpPr>
          <p:cNvPr id="16" name="Text 14"/>
          <p:cNvSpPr/>
          <p:nvPr/>
        </p:nvSpPr>
        <p:spPr>
          <a:xfrm>
            <a:off x="658368" y="3364992"/>
            <a:ext cx="7955280" cy="219456"/>
          </a:xfrm>
          <a:prstGeom prst="rect">
            <a:avLst/>
          </a:prstGeom>
          <a:noFill/>
          <a:ln/>
        </p:spPr>
        <p:txBody>
          <a:bodyPr wrap="square" rtlCol="0" anchor="ctr"/>
          <a:lstStyle/>
          <a:p>
            <a:pPr indent="0" marL="0">
              <a:buNone/>
            </a:pPr>
            <a:r>
              <a:rPr lang="en-US" sz="1200" b="1" dirty="0">
                <a:solidFill>
                  <a:srgbClr val="FB923C"/>
                </a:solidFill>
                <a:latin typeface="Calibri" pitchFamily="34" charset="0"/>
                <a:ea typeface="Calibri" pitchFamily="34" charset="-122"/>
                <a:cs typeface="Calibri" pitchFamily="34" charset="-120"/>
              </a:rPr>
              <a:t>Graceful fallback &amp; adaptif eşik</a:t>
            </a:r>
            <a:endParaRPr lang="en-US" sz="1200" dirty="0"/>
          </a:p>
        </p:txBody>
      </p:sp>
      <p:sp>
        <p:nvSpPr>
          <p:cNvPr id="17" name="Text 15"/>
          <p:cNvSpPr/>
          <p:nvPr/>
        </p:nvSpPr>
        <p:spPr>
          <a:xfrm>
            <a:off x="658368" y="3584448"/>
            <a:ext cx="7955280" cy="219456"/>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Farklı donanım ve görüntü kalitesinde çalışmaya devam eder. Sabit eşik yerine kalite tabanlı dinamik karar.</a:t>
            </a:r>
            <a:endParaRPr lang="en-US" sz="1100" dirty="0"/>
          </a:p>
        </p:txBody>
      </p:sp>
      <p:sp>
        <p:nvSpPr>
          <p:cNvPr id="18" name="Shape 16"/>
          <p:cNvSpPr/>
          <p:nvPr/>
        </p:nvSpPr>
        <p:spPr>
          <a:xfrm>
            <a:off x="457200" y="3968496"/>
            <a:ext cx="73152" cy="438912"/>
          </a:xfrm>
          <a:prstGeom prst="rect">
            <a:avLst/>
          </a:prstGeom>
          <a:solidFill>
            <a:srgbClr val="818CF8"/>
          </a:solidFill>
          <a:ln w="12700">
            <a:solidFill>
              <a:srgbClr val="818CF8"/>
            </a:solidFill>
            <a:prstDash val="solid"/>
          </a:ln>
        </p:spPr>
      </p:sp>
      <p:sp>
        <p:nvSpPr>
          <p:cNvPr id="19" name="Text 17"/>
          <p:cNvSpPr/>
          <p:nvPr/>
        </p:nvSpPr>
        <p:spPr>
          <a:xfrm>
            <a:off x="658368" y="3968496"/>
            <a:ext cx="7955280" cy="219456"/>
          </a:xfrm>
          <a:prstGeom prst="rect">
            <a:avLst/>
          </a:prstGeom>
          <a:noFill/>
          <a:ln/>
        </p:spPr>
        <p:txBody>
          <a:bodyPr wrap="square" rtlCol="0" anchor="ctr"/>
          <a:lstStyle/>
          <a:p>
            <a:pPr indent="0" marL="0">
              <a:buNone/>
            </a:pPr>
            <a:r>
              <a:rPr lang="en-US" sz="1200" b="1" dirty="0">
                <a:solidFill>
                  <a:srgbClr val="818CF8"/>
                </a:solidFill>
                <a:latin typeface="Calibri" pitchFamily="34" charset="0"/>
                <a:ea typeface="Calibri" pitchFamily="34" charset="-122"/>
                <a:cs typeface="Calibri" pitchFamily="34" charset="-120"/>
              </a:rPr>
              <a:t>Kullanılabilir arayüz</a:t>
            </a:r>
            <a:endParaRPr lang="en-US" sz="1200" dirty="0"/>
          </a:p>
        </p:txBody>
      </p:sp>
      <p:sp>
        <p:nvSpPr>
          <p:cNvPr id="20" name="Text 18"/>
          <p:cNvSpPr/>
          <p:nvPr/>
        </p:nvSpPr>
        <p:spPr>
          <a:xfrm>
            <a:off x="658368" y="4187952"/>
            <a:ext cx="7955280" cy="219456"/>
          </a:xfrm>
          <a:prstGeom prst="rect">
            <a:avLst/>
          </a:prstGeom>
          <a:noFill/>
          <a:ln/>
        </p:spPr>
        <p:txBody>
          <a:bodyPr wrap="square" rtlCol="0" anchor="ctr"/>
          <a:lstStyle/>
          <a:p>
            <a:pPr indent="0" marL="0">
              <a:buNone/>
            </a:pPr>
            <a:r>
              <a:rPr lang="en-US" sz="1100" dirty="0">
                <a:solidFill>
                  <a:srgbClr val="64748B"/>
                </a:solidFill>
                <a:latin typeface="Calibri" pitchFamily="34" charset="0"/>
                <a:ea typeface="Calibri" pitchFamily="34" charset="-122"/>
                <a:cs typeface="Calibri" pitchFamily="34" charset="-120"/>
              </a:rPr>
              <a:t>PyQt5 ile sezgisel masaüstü uygulaması. Teknik olmayan kullanıcılar da sistemi rahatlıkla kullanabilir.</a:t>
            </a:r>
            <a:endParaRPr lang="en-US" sz="1100" dirty="0"/>
          </a:p>
        </p:txBody>
      </p:sp>
      <p:sp>
        <p:nvSpPr>
          <p:cNvPr id="21" name="Shape 19"/>
          <p:cNvSpPr/>
          <p:nvPr/>
        </p:nvSpPr>
        <p:spPr>
          <a:xfrm>
            <a:off x="457200" y="4709160"/>
            <a:ext cx="8229600" cy="0"/>
          </a:xfrm>
          <a:prstGeom prst="line">
            <a:avLst/>
          </a:prstGeom>
          <a:noFill/>
          <a:ln w="10160">
            <a:solidFill>
              <a:srgbClr val="1E3A5F"/>
            </a:solidFill>
            <a:prstDash val="solid"/>
          </a:ln>
        </p:spPr>
      </p:sp>
      <p:sp>
        <p:nvSpPr>
          <p:cNvPr id="22" name="Text 20"/>
          <p:cNvSpPr/>
          <p:nvPr/>
        </p:nvSpPr>
        <p:spPr>
          <a:xfrm>
            <a:off x="457200" y="4773168"/>
            <a:ext cx="8229600" cy="274320"/>
          </a:xfrm>
          <a:prstGeom prst="rect">
            <a:avLst/>
          </a:prstGeom>
          <a:noFill/>
          <a:ln/>
        </p:spPr>
        <p:txBody>
          <a:bodyPr wrap="square" rtlCol="0" anchor="ctr"/>
          <a:lstStyle/>
          <a:p>
            <a:pPr algn="ctr" indent="0" marL="0">
              <a:buNone/>
            </a:pPr>
            <a:r>
              <a:rPr lang="en-US" sz="1600" b="1" dirty="0">
                <a:solidFill>
                  <a:srgbClr val="38BDF8"/>
                </a:solidFill>
                <a:latin typeface="Calibri" pitchFamily="34" charset="0"/>
                <a:ea typeface="Calibri" pitchFamily="34" charset="-122"/>
                <a:cs typeface="Calibri" pitchFamily="34" charset="-120"/>
              </a:rPr>
              <a:t>Teşekkürler — Sorularınız?</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2026-05-23T07:53:34Z</dcterms:created>
  <dcterms:modified xsi:type="dcterms:W3CDTF">2026-05-23T07:53:34Z</dcterms:modified>
</cp:coreProperties>
</file>